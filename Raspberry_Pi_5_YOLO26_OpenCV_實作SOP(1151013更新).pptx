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7"/>
  </p:notesMasterIdLst>
  <p:sldIdLst>
    <p:sldId id="256" r:id="rId2"/>
    <p:sldId id="257" r:id="rId3"/>
    <p:sldId id="258" r:id="rId4"/>
    <p:sldId id="259" r:id="rId5"/>
    <p:sldId id="280" r:id="rId6"/>
    <p:sldId id="260" r:id="rId7"/>
    <p:sldId id="279" r:id="rId8"/>
    <p:sldId id="278" r:id="rId9"/>
    <p:sldId id="281" r:id="rId10"/>
    <p:sldId id="282" r:id="rId11"/>
    <p:sldId id="261" r:id="rId12"/>
    <p:sldId id="262" r:id="rId13"/>
    <p:sldId id="263" r:id="rId14"/>
    <p:sldId id="284" r:id="rId15"/>
    <p:sldId id="286" r:id="rId16"/>
    <p:sldId id="289" r:id="rId17"/>
    <p:sldId id="290" r:id="rId18"/>
    <p:sldId id="359" r:id="rId19"/>
    <p:sldId id="291" r:id="rId20"/>
    <p:sldId id="360" r:id="rId21"/>
    <p:sldId id="292" r:id="rId22"/>
    <p:sldId id="283" r:id="rId23"/>
    <p:sldId id="293" r:id="rId24"/>
    <p:sldId id="285" r:id="rId25"/>
    <p:sldId id="294" r:id="rId26"/>
    <p:sldId id="287" r:id="rId27"/>
    <p:sldId id="288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43" r:id="rId77"/>
    <p:sldId id="344" r:id="rId78"/>
    <p:sldId id="345" r:id="rId79"/>
    <p:sldId id="346" r:id="rId80"/>
    <p:sldId id="347" r:id="rId81"/>
    <p:sldId id="348" r:id="rId82"/>
    <p:sldId id="349" r:id="rId83"/>
    <p:sldId id="350" r:id="rId84"/>
    <p:sldId id="351" r:id="rId85"/>
    <p:sldId id="352" r:id="rId86"/>
    <p:sldId id="353" r:id="rId87"/>
    <p:sldId id="354" r:id="rId88"/>
    <p:sldId id="355" r:id="rId89"/>
    <p:sldId id="356" r:id="rId90"/>
    <p:sldId id="357" r:id="rId91"/>
    <p:sldId id="358" r:id="rId92"/>
    <p:sldId id="366" r:id="rId93"/>
    <p:sldId id="361" r:id="rId94"/>
    <p:sldId id="362" r:id="rId95"/>
    <p:sldId id="363" r:id="rId96"/>
    <p:sldId id="364" r:id="rId97"/>
    <p:sldId id="365" r:id="rId98"/>
    <p:sldId id="367" r:id="rId99"/>
    <p:sldId id="368" r:id="rId100"/>
    <p:sldId id="369" r:id="rId101"/>
    <p:sldId id="370" r:id="rId102"/>
    <p:sldId id="371" r:id="rId103"/>
    <p:sldId id="372" r:id="rId104"/>
    <p:sldId id="373" r:id="rId105"/>
    <p:sldId id="374" r:id="rId10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整合原教案的 Local Script 到 Web 操作順序，以及 RPI5 AutoCAR YOLO26 程式包與部署教材。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8482-F433-9B5D-59C8-3BD324DC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8E4DC-2806-BB6C-6CA1-BB2A4C472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40E25-7AC1-7447-ABB3-3858794E6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E9BCC-E958-380D-EDA5-893A9F20D0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8268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8BD56-5C98-ADC2-F581-12D5EB0F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4B50F-3F4B-C268-4A6F-805DA22E7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36D98-8B22-6159-BFBE-621293D16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31CC2-8E40-2A33-BAAB-D7C6DD930E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52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DEC93-1A49-99C1-4B66-F483E1E8A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CC07C-CA47-4ADC-3DA1-0A0B7ED74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BD3E8-3475-7753-0717-2E174D4D3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183ED-D806-61AC-3667-6EBD67D8EF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0849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67B7-B37B-6E37-15B4-97EB2FC5E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96BD0-B18C-D696-D530-2F91E6C5C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39E80-B45C-C8FA-28DA-13E8291AE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EFDA4-500F-FF1A-752B-EB3718FCAC9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917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0FBA4-251D-5E5C-BB51-5FB86FA89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A2C2D-CEBA-256A-1C6E-766708A17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2167A-4E9B-7B19-5B56-02017399A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6A7E0-BF75-035C-264D-91F202C7F49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7865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F3B7F-8B15-6D4C-3717-A03D9E1B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7A8C7-CA6D-DF56-A42B-FA4C3B06C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7D505-8C48-E7A0-67D6-91C1F1D53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435FC-3435-5335-BA21-933ADE36CB1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5233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22D3-3CEA-9093-456D-00D2879A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744E0-059C-7F5B-E372-F8C977FBB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33543-0FE0-C5EB-BD12-33C773AE1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E09B4-7119-9CA6-95E2-B79FAD2C00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0109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7B78-A0F7-9F1E-BF81-221130293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BF16C-695F-641D-56F0-DAF7B5646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28E4D-777B-C112-0F37-9A30B14DC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B2C59-30BB-F75C-D41B-9E030288E8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4680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EC53-FC26-103B-BDEF-E88A5896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DE19F-C9FE-5039-69A1-71C5DFB86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5E499-25C9-7F2E-F95C-D8D67FBEA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E123D-34ED-1DC4-3C2B-AA10E2AEA68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335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64178-FE80-A9BD-C265-7604D5B0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EE575-9DD1-CFF0-86F9-C572DC19A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8B825-8793-001B-E7F5-BF841F4B8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EEEFC-4CF8-0AF8-B76E-F71C52C272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05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62128-CDB2-EBE8-C932-8023104B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B2F16-FF30-4B84-727D-C4B884539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44FFA-1F17-F04C-B0FC-515DAA93F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73274-F8B6-6747-9DBE-77ADC9FA15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220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99CC-6BB2-A9F1-097E-80A22879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DF7A3-F7BC-23AC-D183-B016481BF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DECA0-32EA-DEA8-3EDA-9653A23EE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85D30-6B71-E369-92E5-DD52097E0C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3459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0B33E-BA49-5B2A-0DFD-4205A6292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703EC-2D21-5D06-27A4-A3089ECB1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C73F0-7FE2-AE6D-978E-6CA2D5CC7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DAB90-4BE4-6077-D13B-1100BC2845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52574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10 章</a:t>
            </a:r>
          </a:p>
          <a:p>
            <a:endParaRPr/>
          </a:p>
          <a:p>
            <a:r>
              <a:t>圖中相機場景用來引導觀察對焦，不是我們的道路資料集。自製道路標誌仍需在實際相機位置收集。連續影片相鄰幀不可隨機散落在訓練與驗證兩邊。</a:t>
            </a:r>
          </a:p>
          <a:p>
            <a:endParaRPr/>
          </a:p>
          <a:p>
            <a:r>
              <a:t>圖片來源：</a:t>
            </a:r>
          </a:p>
          <a:p>
            <a:r>
              <a:t>https://assets.raspberrypi.com/static/focus-8a5df07755ade2bc1dd5eb1ef8160124.png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10 章</a:t>
            </a:r>
          </a:p>
          <a:p>
            <a:endParaRPr/>
          </a:p>
          <a:p>
            <a:r>
              <a:t>本圖是官方人物與領帶標註示例，顯示同圖可有多個類別，不是我們的四類 road_dataset。課堂統一 stop_sign、left_sign、right_sign、obstacle 的標註範圍。</a:t>
            </a:r>
          </a:p>
          <a:p>
            <a:endParaRPr/>
          </a:p>
          <a:p>
            <a:r>
              <a:t>技術來源：</a:t>
            </a:r>
          </a:p>
          <a:p>
            <a:r>
              <a:t>https://docs.ultralytics.com/datasets/detect/</a:t>
            </a:r>
          </a:p>
          <a:p>
            <a:endParaRPr/>
          </a:p>
          <a:p>
            <a:r>
              <a:t>圖片來源：</a:t>
            </a:r>
          </a:p>
          <a:p>
            <a:r>
              <a:t>https://cdn.ul.run/i/19e1e6d0c5d85a19d97d5f3f731cdf83.avif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10 章</a:t>
            </a:r>
          </a:p>
          <a:p>
            <a:endParaRPr/>
          </a:p>
          <a:p>
            <a:r>
              <a:t>這是教材的算術例題，不是實際圖片標註。橫向除以寬，縱向除以高，類別 ID 不正規化。四個欄位不是左上角與右下角。請學生自行把框還原成像素座標。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11 章</a:t>
            </a:r>
          </a:p>
          <a:p>
            <a:endParaRPr/>
          </a:p>
          <a:p>
            <a:r>
              <a:t>教材採 images/train、images/val、labels/train、labels/val。圖片與 txt 主檔名相同。負樣本可無標註檔，但本課程用人工確認後的空白檔方便稽核。</a:t>
            </a:r>
          </a:p>
          <a:p>
            <a:endParaRPr/>
          </a:p>
          <a:p>
            <a:r>
              <a:t>技術來源：</a:t>
            </a:r>
          </a:p>
          <a:p>
            <a:r>
              <a:t>https://docs.ultralytics.com/datasets/detect/</a:t>
            </a:r>
          </a:p>
          <a:p>
            <a:endParaRPr/>
          </a:p>
          <a:p>
            <a:r>
              <a:t>圖片來源：</a:t>
            </a:r>
          </a:p>
          <a:p>
            <a:r>
              <a:t>https://cdn.ul.run/i/c83b6ccea4400a053c9e0a86d98e3517.avif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11 章</a:t>
            </a:r>
          </a:p>
          <a:p>
            <a:endParaRPr/>
          </a:p>
          <a:p>
            <a:r>
              <a:t>names ID 從零開始且連續。Windows 建議正斜線。修改 names 順序會改變類別意義。先執行 check_dataset.py，再抽查影像與標註疊圖。</a:t>
            </a:r>
          </a:p>
          <a:p>
            <a:endParaRPr/>
          </a:p>
          <a:p>
            <a:r>
              <a:t>完整程式（請依逐字稿檔名儲存）：</a:t>
            </a:r>
          </a:p>
          <a:p>
            <a:r>
              <a:t>from pathlib import Path</a:t>
            </a:r>
          </a:p>
          <a:p>
            <a:r>
              <a:t>import yaml</a:t>
            </a:r>
          </a:p>
          <a:p>
            <a:endParaRPr/>
          </a:p>
          <a:p>
            <a:endParaRPr/>
          </a:p>
          <a:p>
            <a:r>
              <a:t>def main():</a:t>
            </a:r>
          </a:p>
          <a:p>
            <a:r>
              <a:t>    cfg = yaml.safe_load(Path("dataset.yaml").read_text(encoding="utf-8"))</a:t>
            </a:r>
          </a:p>
          <a:p>
            <a:r>
              <a:t>    root = Path(cfg["path"])</a:t>
            </a:r>
          </a:p>
          <a:p>
            <a:r>
              <a:t>    if not root.is_absolute():</a:t>
            </a:r>
          </a:p>
          <a:p>
            <a:r>
              <a:t>        raise ValueError("Use an absolute dataset path in this lesson")</a:t>
            </a:r>
          </a:p>
          <a:p>
            <a:r>
              <a:t>    names = cfg["names"]</a:t>
            </a:r>
          </a:p>
          <a:p>
            <a:r>
              <a:t>    if not isinstance(names, dict) or sorted(names) != list(range(len(names))):</a:t>
            </a:r>
          </a:p>
          <a:p>
            <a:r>
              <a:t>        raise ValueError("names must use consecutive integer IDs")</a:t>
            </a:r>
          </a:p>
          <a:p>
            <a:r>
              <a:t>    errors = []</a:t>
            </a:r>
          </a:p>
          <a:p>
            <a:r>
              <a:t>    for split in ("train", "val"):</a:t>
            </a:r>
          </a:p>
          <a:p>
            <a:r>
              <a:t>        image_dir = root / cfg[split]</a:t>
            </a:r>
          </a:p>
          <a:p>
            <a:r>
              <a:t>        images = sorted(p for p in image_dir.glob("*")</a:t>
            </a:r>
          </a:p>
          <a:p>
            <a:r>
              <a:t>                        if p.suffix.lower() in {".jpg", ".jpeg", ".png"})</a:t>
            </a:r>
          </a:p>
          <a:p>
            <a:r>
              <a:t>        if not images:</a:t>
            </a:r>
          </a:p>
          <a:p>
            <a:r>
              <a:t>            errors.append(f"No images: {image_dir}")</a:t>
            </a:r>
          </a:p>
          <a:p>
            <a:r>
              <a:t>        print(split, "images:", len(images))</a:t>
            </a:r>
          </a:p>
          <a:p>
            <a:r>
              <a:t>        for image in images:</a:t>
            </a:r>
          </a:p>
          <a:p>
            <a:r>
              <a:t>            label = root / "labels" / split / (image.stem + ".txt")</a:t>
            </a:r>
          </a:p>
          <a:p>
            <a:r>
              <a:t>            if not label.exists():</a:t>
            </a:r>
          </a:p>
          <a:p>
            <a:r>
              <a:t>                errors.append(f"Missing label or unconfirmed negative: {image}")</a:t>
            </a:r>
          </a:p>
          <a:p>
            <a:r>
              <a:t>                continue</a:t>
            </a:r>
          </a:p>
          <a:p>
            <a:r>
              <a:t>            for line_no, line in enumerate(label.read_text().splitlines(), 1):</a:t>
            </a:r>
          </a:p>
          <a:p>
            <a:r>
              <a:t>                if not line.strip():</a:t>
            </a:r>
          </a:p>
          <a:p>
            <a:r>
              <a:t>                    continue</a:t>
            </a:r>
          </a:p>
          <a:p>
            <a:r>
              <a:t>                try:</a:t>
            </a:r>
          </a:p>
          <a:p>
            <a:r>
              <a:t>                    fields = line.split()</a:t>
            </a:r>
          </a:p>
          <a:p>
            <a:r>
              <a:t>                    if len(fields) != 5:</a:t>
            </a:r>
          </a:p>
          <a:p>
            <a:r>
              <a:t>                        raise ValueError("Need 5 fields")</a:t>
            </a:r>
          </a:p>
          <a:p>
            <a:r>
              <a:t>                    cls = int(fields[0])</a:t>
            </a:r>
          </a:p>
          <a:p>
            <a:r>
              <a:t>                    x, y, w, h = map(float, fields[1:])</a:t>
            </a:r>
          </a:p>
          <a:p>
            <a:r>
              <a:t>                    valid = (</a:t>
            </a:r>
          </a:p>
          <a:p>
            <a:r>
              <a:t>                        cls in names and 0 &lt; w &lt;= 1 and 0 &lt; h &lt;= 1</a:t>
            </a:r>
          </a:p>
          <a:p>
            <a:r>
              <a:t>                        and 0 &lt;= x - w / 2 &lt;= x + w / 2 &lt;= 1</a:t>
            </a:r>
          </a:p>
          <a:p>
            <a:r>
              <a:t>                        and 0 &lt;= y - h / 2 &lt;= y + h / 2 &lt;= 1</a:t>
            </a:r>
          </a:p>
          <a:p>
            <a:r>
              <a:t>                    )</a:t>
            </a:r>
          </a:p>
          <a:p>
            <a:r>
              <a:t>                    if not valid:</a:t>
            </a:r>
          </a:p>
          <a:p>
            <a:r>
              <a:t>                        raise ValueError("Invalid ID or box geometry")</a:t>
            </a:r>
          </a:p>
          <a:p>
            <a:r>
              <a:t>                except ValueError as exc:</a:t>
            </a:r>
          </a:p>
          <a:p>
            <a:r>
              <a:t>                    errors.append(f"{label}:{line_no}: {exc}")</a:t>
            </a:r>
          </a:p>
          <a:p>
            <a:r>
              <a:t>    if errors:</a:t>
            </a:r>
          </a:p>
          <a:p>
            <a:r>
              <a:t>        raise SystemExit("\n".join(errors))</a:t>
            </a:r>
          </a:p>
          <a:p>
            <a:r>
              <a:t>    print("Format checks passed; still inspect labels visually.")</a:t>
            </a:r>
          </a:p>
          <a:p>
            <a:endParaRPr/>
          </a:p>
          <a:p>
            <a:endParaRPr/>
          </a:p>
          <a:p>
            <a:r>
              <a:t>if __name__ == "__main__":</a:t>
            </a:r>
          </a:p>
          <a:p>
            <a:r>
              <a:t>    main()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12 章</a:t>
            </a:r>
          </a:p>
          <a:p>
            <a:endParaRPr/>
          </a:p>
          <a:p>
            <a:r>
              <a:t>COCO8 共八張圖，四張訓練與四張驗證。它用於流程測試，不代表足夠訓練道路模型。mosaic 是把不同影像組合的資料增強示例。</a:t>
            </a:r>
          </a:p>
          <a:p>
            <a:endParaRPr/>
          </a:p>
          <a:p>
            <a:r>
              <a:t>技術來源：</a:t>
            </a:r>
          </a:p>
          <a:p>
            <a:r>
              <a:t>https://docs.ultralytics.com/datasets/detect/coco8/</a:t>
            </a:r>
          </a:p>
          <a:p>
            <a:endParaRPr/>
          </a:p>
          <a:p>
            <a:r>
              <a:t>圖片來源：</a:t>
            </a:r>
          </a:p>
          <a:p>
            <a:r>
              <a:t>https://cdn.ul.run/i/0ad1322ce67942909904ccc1e57afd4e.avif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12 章增補</a:t>
            </a:r>
          </a:p>
          <a:p>
            <a:endParaRPr/>
          </a:p>
          <a:p>
            <a:r>
              <a:t>講解逐字稿</a:t>
            </a:r>
          </a:p>
          <a:p>
            <a:r>
              <a:t>官方 COCO 有 traffic light，但沒有把 red、yellow、green 當成這三個偵測類別。要讓模型輸出燈色，需要自己的訓練資料，或第二階段分析裁切影像。課堂建議先做三類自訂偵測。UNKNOWN 是決策狀態，可由低分數、衝突與缺少結果產生。多個路口燈號同時出現時，還需判定哪一組與本車車道相關，不能看到任何綠燈就前進。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https://docs.ultralytics.com/datasets/detect/coco/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12 章增補</a:t>
            </a:r>
          </a:p>
          <a:p>
            <a:endParaRPr/>
          </a:p>
          <a:p>
            <a:r>
              <a:t>講解逐字稿</a:t>
            </a:r>
          </a:p>
          <a:p>
            <a:r>
              <a:t>這是純幾何算例，不是模型實測。原圖中只有十二像素寬的燈號，縮到三百二十輸入可能僅剩兩像素。模型無法穩定辨識已經消失的燈色細節。Ultralytics 通常會處理 letterbox，請勿先把長方形影像強行拉成正方形。若先裁切 ROI 再推論，要把座標加回原圖位置，並檢查裁切是否漏掉路口燈號。比較不同尺寸時，記錄遠距燈號的 Recall，而非只看 FPS。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12 章增補</a:t>
            </a:r>
          </a:p>
          <a:p>
            <a:endParaRPr/>
          </a:p>
          <a:p>
            <a:r>
              <a:t>講解逐字稿</a:t>
            </a:r>
          </a:p>
          <a:p>
            <a:r>
              <a:t>上半段存為 traffic.yaml，下半段是終端機指令，請不要全部存入 YAML。目錄結構與第十、十一章相同。紅黃綠都要包含不同距離與曝光，並保留無燈號的背景。與顏色相關的增強要特別審慎，過大的色相改變可能讓紅燈圖片仍保留 red 標籤而造成錯誤。訓練指令可加 epochs=100 imgsz=640 batch=8 name=traffic_yolo26。取得新 best.pt 後，先印出 model.names 再接入決策器。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https://docs.ultralytics.com/datasets/detect/coco/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12 章</a:t>
            </a:r>
          </a:p>
          <a:p>
            <a:endParaRPr/>
          </a:p>
          <a:p>
            <a:r>
              <a:t>CLI 和 Python 選一種做即可。每輪先看資料掃描與訓練訊息。workers=0 方便排錯，並非所有電腦最快的設定。完整 train.py 含明確裝置與輸出位置。</a:t>
            </a:r>
          </a:p>
          <a:p>
            <a:endParaRPr/>
          </a:p>
          <a:p>
            <a:r>
              <a:t>完整程式（請依逐字稿檔名儲存）：</a:t>
            </a:r>
          </a:p>
          <a:p>
            <a:r>
              <a:t>from pathlib import Path</a:t>
            </a:r>
          </a:p>
          <a:p>
            <a:r>
              <a:t>from ultralytics import YOLO</a:t>
            </a:r>
          </a:p>
          <a:p>
            <a:r>
              <a:t>from check_device import choose_device</a:t>
            </a:r>
          </a:p>
          <a:p>
            <a:endParaRPr/>
          </a:p>
          <a:p>
            <a:endParaRPr/>
          </a:p>
          <a:p>
            <a:r>
              <a:t>def main():</a:t>
            </a:r>
          </a:p>
          <a:p>
            <a:r>
              <a:t>    base = Path(__file__).resolve().parent</a:t>
            </a:r>
          </a:p>
          <a:p>
            <a:r>
              <a:t>    model = YOLO("yolo26n.pt")</a:t>
            </a:r>
          </a:p>
          <a:p>
            <a:r>
              <a:t>    model.train(</a:t>
            </a:r>
          </a:p>
          <a:p>
            <a:r>
              <a:t>        data=str(base / "dataset.yaml"),</a:t>
            </a:r>
          </a:p>
          <a:p>
            <a:r>
              <a:t>        epochs=100,</a:t>
            </a:r>
          </a:p>
          <a:p>
            <a:r>
              <a:t>        imgsz=640,</a:t>
            </a:r>
          </a:p>
          <a:p>
            <a:r>
              <a:t>        batch=16,</a:t>
            </a:r>
          </a:p>
          <a:p>
            <a:r>
              <a:t>        device=choose_device(),</a:t>
            </a:r>
          </a:p>
          <a:p>
            <a:r>
              <a:t>        workers=0,</a:t>
            </a:r>
          </a:p>
          <a:p>
            <a:r>
              <a:t>        patience=30,</a:t>
            </a:r>
          </a:p>
          <a:p>
            <a:r>
              <a:t>        project=str(base / "runs" / "detect"),</a:t>
            </a:r>
          </a:p>
          <a:p>
            <a:r>
              <a:t>        name="road_yolo26",</a:t>
            </a:r>
          </a:p>
          <a:p>
            <a:r>
              <a:t>    )</a:t>
            </a:r>
          </a:p>
          <a:p>
            <a:endParaRPr/>
          </a:p>
          <a:p>
            <a:endParaRPr/>
          </a:p>
          <a:p>
            <a:r>
              <a:t>if __name__ == "__main__":</a:t>
            </a:r>
          </a:p>
          <a:p>
            <a:r>
              <a:t>    main()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12 章</a:t>
            </a:r>
          </a:p>
          <a:p>
            <a:endParaRPr/>
          </a:p>
          <a:p>
            <a:r>
              <a:t>resume=True 需檢查點具有所需狀態。輸出目錄可能自動加序號，以實際訊息為準。完成的權重不是把原 COCO 八十類與四類相加。</a:t>
            </a:r>
          </a:p>
          <a:p>
            <a:endParaRPr/>
          </a:p>
          <a:p>
            <a:r>
              <a:t>完整程式（請依逐字稿檔名儲存）：</a:t>
            </a:r>
          </a:p>
          <a:p>
            <a:r>
              <a:t>from ultralytics import YOLO</a:t>
            </a:r>
          </a:p>
          <a:p>
            <a:endParaRPr/>
          </a:p>
          <a:p>
            <a:endParaRPr/>
          </a:p>
          <a:p>
            <a:r>
              <a:t>if __name__ == "__main__":</a:t>
            </a:r>
          </a:p>
          <a:p>
            <a:r>
              <a:t>    model = YOLO("runs/detect/road_yolo26/weights/last.pt")</a:t>
            </a:r>
          </a:p>
          <a:p>
            <a:r>
              <a:t>    model.train(resume=True)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13 章</a:t>
            </a:r>
          </a:p>
          <a:p>
            <a:endParaRPr/>
          </a:p>
          <a:p>
            <a:r>
              <a:t>可將 runs/detect/road_yolo26/weights/best.pt 複製到專案或改成完整路徑。測試集不要反覆拿來調門檻。挑一張成功圖片不足以宣稱模型可部署。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13 章</a:t>
            </a:r>
          </a:p>
          <a:p>
            <a:endParaRPr/>
          </a:p>
          <a:p>
            <a:r>
              <a:t>Precision 分母是所有預測正例，Recall 分母是所有真實物件。本例數字碰巧相等，定義仍不同。用停止標誌漏檢與背景誤報舉例。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13 章</a:t>
            </a:r>
          </a:p>
          <a:p>
            <a:endParaRPr/>
          </a:p>
          <a:p>
            <a:r>
              <a:t>AP 與精確率召回率曲線有關。混淆矩陣先看軸標籤。門檻調高通常會減少一些誤報，也可能增加漏檢，必須以驗證資料選擇。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14 章</a:t>
            </a:r>
          </a:p>
          <a:p>
            <a:endParaRPr/>
          </a:p>
          <a:p>
            <a:r>
              <a:t>傳輸前先把實際 best.pt 放在目前 PC 工作目錄，或使用完整路徑。Pi 帳號不必然叫 pi。第一次 SSH 連線核對主機指紋。匯出可能需要下載工具。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14 章</a:t>
            </a:r>
          </a:p>
          <a:p>
            <a:endParaRPr/>
          </a:p>
          <a:p>
            <a:r>
              <a:t>這頁是 predict_ncnn.py 核心。和 .pt 使用相同圖片比較框與類別，再執行 pi_camera_detect.py --model best_ncnn_model --imgsz 640 --show。</a:t>
            </a:r>
          </a:p>
          <a:p>
            <a:endParaRPr/>
          </a:p>
          <a:p>
            <a:r>
              <a:t>完整程式（請依逐字稿檔名儲存）：</a:t>
            </a:r>
          </a:p>
          <a:p>
            <a:r>
              <a:t>from ultralytics import YOLO</a:t>
            </a:r>
          </a:p>
          <a:p>
            <a:endParaRPr/>
          </a:p>
          <a:p>
            <a:endParaRPr/>
          </a:p>
          <a:p>
            <a:r>
              <a:t>if __name__ == "__main__":</a:t>
            </a:r>
          </a:p>
          <a:p>
            <a:r>
              <a:t>    model = YOLO("best_ncnn_model", task="detect")</a:t>
            </a:r>
          </a:p>
          <a:p>
            <a:r>
              <a:t>    result = model.predict(</a:t>
            </a:r>
          </a:p>
          <a:p>
            <a:r>
              <a:t>        source="test.jpg", imgsz=640, rect=False,</a:t>
            </a:r>
          </a:p>
          <a:p>
            <a:r>
              <a:t>        conf=0.35, device="cpu", verbose=False,</a:t>
            </a:r>
          </a:p>
          <a:p>
            <a:r>
              <a:t>    )[0]</a:t>
            </a:r>
          </a:p>
          <a:p>
            <a:r>
              <a:t>    result.save(filename="ncnn_result.jpg")</a:t>
            </a:r>
          </a:p>
          <a:p>
            <a:r>
              <a:t>    print(result.names)</a:t>
            </a:r>
          </a:p>
          <a:p>
            <a:endParaRPr/>
          </a:p>
          <a:p>
            <a:r>
              <a:t>技術來源：</a:t>
            </a:r>
          </a:p>
          <a:p>
            <a:r>
              <a:t>https://docs.ultralytics.com/integrations/ncnn/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14 章</a:t>
            </a:r>
          </a:p>
          <a:p>
            <a:endParaRPr/>
          </a:p>
          <a:p>
            <a:r>
              <a:t>另存權重讓輸出目录不混淆。量測時固定顯示、寫檔、溫度及相機解析度。不以官方其他設備測得的 FPS 當成本機結果。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14 章增補</a:t>
            </a:r>
          </a:p>
          <a:p>
            <a:endParaRPr/>
          </a:p>
          <a:p>
            <a:r>
              <a:t>講解逐字稿</a:t>
            </a:r>
          </a:p>
          <a:p>
            <a:r>
              <a:t>上傳文件用 PyTorch、ONNX、NCNN 排成一條線，容易讓學生以為每次都要手動經過 ONNX。Ultralytics 的 NCNN 匯出指令已封裝轉換流程，照第十四章直接執行即可。ONNX 是可選的其他部署路徑。HEF 則屬於 Hailo，無法交給純 NCNN 執行。任何格式都要保留輸入尺寸與類別中繼資料，並做同圖與驗證集比較。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https://docs.ultralytics.com/integrations/ncnn/</a:t>
            </a:r>
          </a:p>
          <a:p>
            <a:r>
              <a:t>https://docs.ultralytics.com/integrations/hailo/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14 章增補</a:t>
            </a:r>
          </a:p>
          <a:p>
            <a:endParaRPr/>
          </a:p>
          <a:p>
            <a:r>
              <a:t>講解逐字稿</a:t>
            </a:r>
          </a:p>
          <a:p>
            <a:r>
              <a:t>最佳化先從可重現的基準開始。每次只改一個變因，才知道改善來自哪裡。端到端延遲包含相機、前處理、模型、後處理及決策。量化需代表性校正資料，不能假定任意格式都支援同一個 int8 參數。現行文件指出 NCNN 在不支援端到端算子時會使用 one-to-many 路徑，因此 YOLO26 架構支援免 NMS，不等於本次 NCNN 一定免 NMS。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https://docs.ultralytics.com/guides/end2end-detection/</a:t>
            </a:r>
          </a:p>
          <a:p>
            <a:r>
              <a:t>https://docs.ultralytics.com/guides/raspberry-pi/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14 章增補</a:t>
            </a:r>
          </a:p>
          <a:p>
            <a:endParaRPr/>
          </a:p>
          <a:p>
            <a:r>
              <a:t>講解逐字稿</a:t>
            </a:r>
          </a:p>
          <a:p>
            <a:r>
              <a:t>這是選配進階操作，不影響原本純 CPU 的教案。先確認實體是 Hailo-8、8L 或其他型號，name 必須對應硬體。Hailo-8 與 8L 使用 DFC 3.x，編譯端是 Linux x86_64；推論端只需相符執行環境。查核時 YOLO26-seg、pose 與 OBB 不能沿用這個直接匯出流程。量化後用相同驗證條件比較品質，再測整個系統。TOPS 或模型 benchmark 不能保證相機系統達到三十 FPS。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https://docs.ultralytics.com/integrations/hailo/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14 章增補</a:t>
            </a:r>
          </a:p>
          <a:p>
            <a:endParaRPr/>
          </a:p>
          <a:p>
            <a:r>
              <a:t>講解逐字稿</a:t>
            </a:r>
          </a:p>
          <a:p>
            <a:r>
              <a:t>先固定一段有標註的影片，涵蓋遠近燈號與車道。每組至少保留一百幀的時間樣本，使用 perf_counter 計時，平均值描述一般負擔，p95 描述較慢的尾端。時間範圍從取像前到決策完成後，顯示與寫檔是否包含要明確記錄。Recall 用有標註的影像另做評估。選擇模型時先確認漏檢符合課程目標，再比較延遲。輸入尺寸改變後須使用相符匯出模型。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15 章</a:t>
            </a:r>
          </a:p>
          <a:p>
            <a:endParaRPr/>
          </a:p>
          <a:p>
            <a:r>
              <a:t>先獨立整理 detect_events，再交給決策器。大物件遠處可能與小物件近處具有相同面積比例，因此不能直接把面積當作煞車距離。</a:t>
            </a:r>
          </a:p>
          <a:p>
            <a:endParaRPr/>
          </a:p>
          <a:p>
            <a:r>
              <a:t>完整程式（請依逐字稿檔名儲存）：</a:t>
            </a:r>
          </a:p>
          <a:p>
            <a:r>
              <a:t>from ultralytics import YOLO</a:t>
            </a:r>
          </a:p>
          <a:p>
            <a:endParaRPr/>
          </a:p>
          <a:p>
            <a:endParaRPr/>
          </a:p>
          <a:p>
            <a:r>
              <a:t>def detect_events(model, frame):</a:t>
            </a:r>
          </a:p>
          <a:p>
            <a:r>
              <a:t>    height, width = frame.shape[:2]</a:t>
            </a:r>
          </a:p>
          <a:p>
            <a:r>
              <a:t>    if height &lt;= 0 or width &lt;= 0:</a:t>
            </a:r>
          </a:p>
          <a:p>
            <a:r>
              <a:t>        raise ValueError("Empty frame")</a:t>
            </a:r>
          </a:p>
          <a:p>
            <a:r>
              <a:t>    result = model.predict(</a:t>
            </a:r>
          </a:p>
          <a:p>
            <a:r>
              <a:t>        frame, imgsz=640, rect=False, conf=0.50,</a:t>
            </a:r>
          </a:p>
          <a:p>
            <a:r>
              <a:t>        device="cpu", verbose=False,</a:t>
            </a:r>
          </a:p>
          <a:p>
            <a:r>
              <a:t>    )[0]</a:t>
            </a:r>
          </a:p>
          <a:p>
            <a:r>
              <a:t>    events = []</a:t>
            </a:r>
          </a:p>
          <a:p>
            <a:r>
              <a:t>    if result.boxes is None:</a:t>
            </a:r>
          </a:p>
          <a:p>
            <a:r>
              <a:t>        return events</a:t>
            </a:r>
          </a:p>
          <a:p>
            <a:r>
              <a:t>    for box in result.boxes:</a:t>
            </a:r>
          </a:p>
          <a:p>
            <a:r>
              <a:t>        cls = int(box.cls.item())</a:t>
            </a:r>
          </a:p>
          <a:p>
            <a:r>
              <a:t>        x1, y1, x2, y2 = box.xyxy[0].tolist()</a:t>
            </a:r>
          </a:p>
          <a:p>
            <a:r>
              <a:t>        x1, x2 = max(0, x1), min(width, x2)</a:t>
            </a:r>
          </a:p>
          <a:p>
            <a:r>
              <a:t>        y1, y2 = max(0, y1), min(height, y2)</a:t>
            </a:r>
          </a:p>
          <a:p>
            <a:r>
              <a:t>        area = max(0, x2 - x1) * max(0, y2 - y1)</a:t>
            </a:r>
          </a:p>
          <a:p>
            <a:r>
              <a:t>        events.append({</a:t>
            </a:r>
          </a:p>
          <a:p>
            <a:r>
              <a:t>            "name": result.names[cls],</a:t>
            </a:r>
          </a:p>
          <a:p>
            <a:r>
              <a:t>            "confidence": float(box.conf.item()),</a:t>
            </a:r>
          </a:p>
          <a:p>
            <a:r>
              <a:t>            "box": (x1, y1, x2, y2),</a:t>
            </a:r>
          </a:p>
          <a:p>
            <a:r>
              <a:t>            "area_ratio": area / (width * height),</a:t>
            </a:r>
          </a:p>
          <a:p>
            <a:r>
              <a:t>        })</a:t>
            </a:r>
          </a:p>
          <a:p>
            <a:r>
              <a:t>    return events</a:t>
            </a:r>
          </a:p>
          <a:p>
            <a:endParaRPr/>
          </a:p>
          <a:p>
            <a:endParaRPr/>
          </a:p>
          <a:p>
            <a:r>
              <a:t>class EventGate:</a:t>
            </a:r>
          </a:p>
          <a:p>
            <a:r>
              <a:t>    def __init__(self, required=3, max_age=0.5):</a:t>
            </a:r>
          </a:p>
          <a:p>
            <a:r>
              <a:t>        self.required = required</a:t>
            </a:r>
          </a:p>
          <a:p>
            <a:r>
              <a:t>        self.max_age = max_age</a:t>
            </a:r>
          </a:p>
          <a:p>
            <a:r>
              <a:t>        self.previous = None</a:t>
            </a:r>
          </a:p>
          <a:p>
            <a:r>
              <a:t>        self.count = 0</a:t>
            </a:r>
          </a:p>
          <a:p>
            <a:r>
              <a:t>        self.last_capture = None</a:t>
            </a:r>
          </a:p>
          <a:p>
            <a:r>
              <a:t>        self.stop_latched = False</a:t>
            </a:r>
          </a:p>
          <a:p>
            <a:endParaRPr/>
          </a:p>
          <a:p>
            <a:r>
              <a:t>    def update(self, events, captured_at, now, camera_ok=True):</a:t>
            </a:r>
          </a:p>
          <a:p>
            <a:r>
              <a:t>        stale = now &lt; captured_at or now - captured_at &gt; self.max_age</a:t>
            </a:r>
          </a:p>
          <a:p>
            <a:r>
              <a:t>        if not camera_ok or stale:</a:t>
            </a:r>
          </a:p>
          <a:p>
            <a:r>
              <a:t>            self.stop_latched = True</a:t>
            </a:r>
          </a:p>
          <a:p>
            <a:r>
              <a:t>        if self.stop_latched:</a:t>
            </a:r>
          </a:p>
          <a:p>
            <a:r>
              <a:t>            return "STOP_LATCHED"</a:t>
            </a:r>
          </a:p>
          <a:p>
            <a:r>
              <a:t>        if (self.last_capture is not None</a:t>
            </a:r>
          </a:p>
          <a:p>
            <a:r>
              <a:t>                and captured_at &lt;= self.last_capture):</a:t>
            </a:r>
          </a:p>
          <a:p>
            <a:r>
              <a:t>            self.stop_latched = True</a:t>
            </a:r>
          </a:p>
          <a:p>
            <a:r>
              <a:t>            return "STOP_LATCHED"</a:t>
            </a:r>
          </a:p>
          <a:p>
            <a:r>
              <a:t>        if (self.last_capture is not None</a:t>
            </a:r>
          </a:p>
          <a:p>
            <a:r>
              <a:t>                and captured_at - self.last_capture &gt; self.max_age):</a:t>
            </a:r>
          </a:p>
          <a:p>
            <a:r>
              <a:t>            self.count = 0</a:t>
            </a:r>
          </a:p>
          <a:p>
            <a:r>
              <a:t>            self.previous = None</a:t>
            </a:r>
          </a:p>
          <a:p>
            <a:r>
              <a:t>        self.last_capture = captured_at</a:t>
            </a:r>
          </a:p>
          <a:p>
            <a:r>
              <a:t>        valid = [e for e in events if e["confidence"] &gt;= 0.5]</a:t>
            </a:r>
          </a:p>
          <a:p>
            <a:r>
              <a:t>        if any(e["name"] in {"stop_sign", "obstacle"}</a:t>
            </a:r>
          </a:p>
          <a:p>
            <a:r>
              <a:t>               and e["area_ratio"] &gt;= 0.05 for e in valid):</a:t>
            </a:r>
          </a:p>
          <a:p>
            <a:r>
              <a:t>            self.stop_latched = True</a:t>
            </a:r>
          </a:p>
          <a:p>
            <a:r>
              <a:t>            return "STOP_LATCHED"</a:t>
            </a:r>
          </a:p>
          <a:p>
            <a:r>
              <a:t>        turns = {e["name"] for e in valid</a:t>
            </a:r>
          </a:p>
          <a:p>
            <a:r>
              <a:t>                 if e["name"] in {"left_sign", "right_sign"}</a:t>
            </a:r>
          </a:p>
          <a:p>
            <a:r>
              <a:t>                 and e["area_ratio"] &gt;= 0.02}</a:t>
            </a:r>
          </a:p>
          <a:p>
            <a:r>
              <a:t>        if len(turns) != 1:</a:t>
            </a:r>
          </a:p>
          <a:p>
            <a:r>
              <a:t>            self.previous = None</a:t>
            </a:r>
          </a:p>
          <a:p>
            <a:r>
              <a:t>            self.count = 0</a:t>
            </a:r>
          </a:p>
          <a:p>
            <a:r>
              <a:t>            return "HOLD"</a:t>
            </a:r>
          </a:p>
          <a:p>
            <a:r>
              <a:t>        candidate = next(iter(turns))</a:t>
            </a:r>
          </a:p>
          <a:p>
            <a:r>
              <a:t>        self.count = self.count + 1 if candidate == self.previous else 1</a:t>
            </a:r>
          </a:p>
          <a:p>
            <a:r>
              <a:t>        self.previous = candidate</a:t>
            </a:r>
          </a:p>
          <a:p>
            <a:r>
              <a:t>        if self.count &lt; self.required:</a:t>
            </a:r>
          </a:p>
          <a:p>
            <a:r>
              <a:t>            return "HOLD"</a:t>
            </a:r>
          </a:p>
          <a:p>
            <a:r>
              <a:t>        return "LEFT_EVENT" if candidate == "left_sign" else "RIGHT_EVENT"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15 章</a:t>
            </a:r>
          </a:p>
          <a:p>
            <a:endParaRPr/>
          </a:p>
          <a:p>
            <a:r>
              <a:t>連續同類不代表同一個實體目標，必要時加入追蹤 ID 或空間關聯。轉向事件不能每幀直接重複觸發馬達動作。真正控制器還需要動作狀態與回饋。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15 章</a:t>
            </a:r>
          </a:p>
          <a:p>
            <a:endParaRPr/>
          </a:p>
          <a:p>
            <a:r>
              <a:t>left 是包含 left_sign 名稱、分數與面積比例的事件列表。時間戳來自同一單調時鐘。測試只證明所列邏輯，不驗證相機或煞車安全。</a:t>
            </a:r>
          </a:p>
          <a:p>
            <a:endParaRPr/>
          </a:p>
          <a:p>
            <a:r>
              <a:t>完整程式（請依逐字稿檔名儲存）：</a:t>
            </a:r>
          </a:p>
          <a:p>
            <a:r>
              <a:t>from events import EventGate</a:t>
            </a:r>
          </a:p>
          <a:p>
            <a:endParaRPr/>
          </a:p>
          <a:p>
            <a:endParaRPr/>
          </a:p>
          <a:p>
            <a:r>
              <a:t>def event(name, area=0.1):</a:t>
            </a:r>
          </a:p>
          <a:p>
            <a:r>
              <a:t>    return {"name": name, "confidence": 0.9, "area_ratio": area}</a:t>
            </a:r>
          </a:p>
          <a:p>
            <a:endParaRPr/>
          </a:p>
          <a:p>
            <a:endParaRPr/>
          </a:p>
          <a:p>
            <a:r>
              <a:t>gate = EventGate()</a:t>
            </a:r>
          </a:p>
          <a:p>
            <a:r>
              <a:t>left = [event("left_sign")]</a:t>
            </a:r>
          </a:p>
          <a:p>
            <a:r>
              <a:t>assert gate.update(left, 0.0, 0.1) == "HOLD"</a:t>
            </a:r>
          </a:p>
          <a:p>
            <a:r>
              <a:t>assert gate.update(left, 0.2, 0.3) == "HOLD"</a:t>
            </a:r>
          </a:p>
          <a:p>
            <a:r>
              <a:t>assert gate.update(left, 0.4, 0.5) == "LEFT_EVENT"</a:t>
            </a:r>
          </a:p>
          <a:p>
            <a:r>
              <a:t>assert gate.update([event("stop_sign")], 0.6, 0.7) == "STOP_LATCHED"</a:t>
            </a:r>
          </a:p>
          <a:p>
            <a:r>
              <a:t>assert gate.update([], 0.8, 0.9) == "STOP_LATCHED"</a:t>
            </a:r>
          </a:p>
          <a:p>
            <a:r>
              <a:t>assert EventGate().update([], 0.0, 1.0) == "STOP_LATCHED"</a:t>
            </a:r>
          </a:p>
          <a:p>
            <a:r>
              <a:t>both = [event("left_sign"), event("right_sign")]</a:t>
            </a:r>
          </a:p>
          <a:p>
            <a:r>
              <a:t>assert EventGate().update(both, 0.0, 0.1) == "HOLD"</a:t>
            </a:r>
          </a:p>
          <a:p>
            <a:r>
              <a:t>assert EventGate().update([], 0.0, 0.1, False) == "STOP_LATCHED"</a:t>
            </a:r>
          </a:p>
          <a:p>
            <a:r>
              <a:t>print("Event logic tests passed")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15 章</a:t>
            </a:r>
          </a:p>
          <a:p>
            <a:endParaRPr/>
          </a:p>
          <a:p>
            <a:r>
              <a:t>教材的 max_age=0.5 是示例。若推論超時，不應只放寬到很大讓車動。讀取前的時間戳仍不能完全代表曝光時間，還要處理相機緩衝。</a:t>
            </a:r>
          </a:p>
          <a:p>
            <a:endParaRPr/>
          </a:p>
          <a:p>
            <a:r>
              <a:t>完整程式（請依逐字稿檔名儲存）：</a:t>
            </a:r>
          </a:p>
          <a:p>
            <a:r>
              <a:t>import time</a:t>
            </a:r>
          </a:p>
          <a:p>
            <a:r>
              <a:t>import cv2</a:t>
            </a:r>
          </a:p>
          <a:p>
            <a:r>
              <a:t>from ultralytics import YOLO</a:t>
            </a:r>
          </a:p>
          <a:p>
            <a:r>
              <a:t>from events import detect_events, EventGate</a:t>
            </a:r>
          </a:p>
          <a:p>
            <a:endParaRPr/>
          </a:p>
          <a:p>
            <a:endParaRPr/>
          </a:p>
          <a:p>
            <a:r>
              <a:t>def main():</a:t>
            </a:r>
          </a:p>
          <a:p>
            <a:r>
              <a:t>    model = YOLO("best_ncnn_model", task="detect")</a:t>
            </a:r>
          </a:p>
          <a:p>
            <a:r>
              <a:t>    gate = EventGate()</a:t>
            </a:r>
          </a:p>
          <a:p>
            <a:r>
              <a:t>    camera = cv2.VideoCapture(0)</a:t>
            </a:r>
          </a:p>
          <a:p>
            <a:r>
              <a:t>    try:</a:t>
            </a:r>
          </a:p>
          <a:p>
            <a:r>
              <a:t>        if not camera.isOpened():</a:t>
            </a:r>
          </a:p>
          <a:p>
            <a:r>
              <a:t>            raise RuntimeError("Camera unavailable")</a:t>
            </a:r>
          </a:p>
          <a:p>
            <a:r>
              <a:t>        for _ in range(100):</a:t>
            </a:r>
          </a:p>
          <a:p>
            <a:r>
              <a:t>            captured_at = time.monotonic()</a:t>
            </a:r>
          </a:p>
          <a:p>
            <a:r>
              <a:t>            ok, frame = camera.read()</a:t>
            </a:r>
          </a:p>
          <a:p>
            <a:r>
              <a:t>            if not ok or frame is None:</a:t>
            </a:r>
          </a:p>
          <a:p>
            <a:r>
              <a:t>                print(gate.update([], captured_at, time.monotonic(), False))</a:t>
            </a:r>
          </a:p>
          <a:p>
            <a:r>
              <a:t>                break</a:t>
            </a:r>
          </a:p>
          <a:p>
            <a:r>
              <a:t>            events = detect_events(model, frame)</a:t>
            </a:r>
          </a:p>
          <a:p>
            <a:r>
              <a:t>            action = gate.update(events, captured_at, time.monotonic())</a:t>
            </a:r>
          </a:p>
          <a:p>
            <a:r>
              <a:t>            print(action, events)</a:t>
            </a:r>
          </a:p>
          <a:p>
            <a:r>
              <a:t>            if action == "STOP_LATCHED":</a:t>
            </a:r>
          </a:p>
          <a:p>
            <a:r>
              <a:t>                break</a:t>
            </a:r>
          </a:p>
          <a:p>
            <a:r>
              <a:t>    except Exception:</a:t>
            </a:r>
          </a:p>
          <a:p>
            <a:r>
              <a:t>        print("STOP_LATCHED: processing failure")</a:t>
            </a:r>
          </a:p>
          <a:p>
            <a:r>
              <a:t>        raise</a:t>
            </a:r>
          </a:p>
          <a:p>
            <a:r>
              <a:t>    finally:</a:t>
            </a:r>
          </a:p>
          <a:p>
            <a:r>
              <a:t>        print("STOP: dry run ended")</a:t>
            </a:r>
          </a:p>
          <a:p>
            <a:r>
              <a:t>        camera.release()</a:t>
            </a:r>
          </a:p>
          <a:p>
            <a:endParaRPr/>
          </a:p>
          <a:p>
            <a:endParaRPr/>
          </a:p>
          <a:p>
            <a:r>
              <a:t>if __name__ == "__main__":</a:t>
            </a:r>
          </a:p>
          <a:p>
            <a:r>
              <a:t>    main()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先用最容易理解的單一迴圈取得一幀，分別呼叫燈號與車道函式，再合併結果。兩條路徑要帶來源時間戳，否則新燈號可能配到舊車道。若日後分執行緒，不要建立無限佇列累積過期影像，應考慮只保留最新資料。CSI 相機沿用 Picamera2，USB 則用 OpenCV。課堂初版只印出決策，保留相機失敗與超時停止機制。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原文件把原始影像也列成一步，所以圖面看起來有六階段。這裡將原圖當輸入，處理步驟是灰階、平滑、邊緣、ROI 與 Hough。Canny 只知道亮暗變化，不知道那是車道、陰影還是護欄。Hough 只產生線段，也不自動提供左車道或道路中心。因此最後還需要幾何篩選、擬合與失效判斷。傳統方法仍消耗 CPU，只是不需要神經網路推論。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https://docs.opencv.org/4.x/d9/db0/tutorial_hough_lines.html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frame 是已取得的 BGR 影像。先取得高寬，ROI 用比例定義梯形，避免只適用於單一解析度。mask 與 edges 都是單通道 uint8，fillPoly 把梯形區域填為 255，bitwise_and 保留其中邊緣。請先存出 edges.png 和 road_edges.png，確認真的保留道路，再調 Hough。不要一開始就把所有門檻一起改，否則不知道問題發生在哪一層。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https://docs.opencv.org/4.x/d9/db0/tutorial_hough_lines.html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這張官方圖刻意使用數獨格線，說明 Hough 是通用直線方法。相同演算法也可能把道路陰影、護欄或地磚當成候選。因此我們需要道路 ROI、線段方向、線段位置與連續幀合理性。先在簡單直線跑道驗證，再逐步加入陰影與斷線。過大的 maxLineGap 可能把不相關邊緣接在一起。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https://docs.opencv.org/4.x/d9/db0/tutorial_hough_lines.html</a:t>
            </a:r>
          </a:p>
          <a:p>
            <a:r>
              <a:t>圖片來源：https://docs.opencv.org/4.13.0/hough_lines_result2.png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請先確認座標系：影像向右為正 x。我們定義 e 是車體參考點減去車道中心，所以負值代表車體在中心左側，修正方向向右。不同程式可能採用相反定義，一定要先測再接控制器。左右線必須在同一個 y 評估，否則透視影響會讓計算不一致。本課程先用 y=0.8h 做示例。真實距離需要相機標定及地面幾何，不能直接把 e 當轉向角度。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請從本頁備註複製完整程式，將道路影像存為 road.jpg，再執行命令。程式篩選 ROI 中的非水平線段，以斜率與位置分成兩組，再擬合 x=a*y+b。這只是課堂直線基線，左右線都成立且間距合理才回傳 e。找不到其中一側時輸出未知，不能把一條護欄誤當兩側車道。先保留錯誤圖片，以人工方式檢查篩選規則。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https://docs.opencv.org/4.x/d9/db0/tutorial_hough_lines.html</a:t>
            </a:r>
          </a:p>
          <a:p>
            <a:endParaRPr/>
          </a:p>
          <a:p>
            <a:r>
              <a:t>完整 lane_demo.py</a:t>
            </a:r>
          </a:p>
          <a:p>
            <a:r>
              <a:t>"""Teaching baseline: straight lane markings, fixed forward-facing camera."""</a:t>
            </a:r>
          </a:p>
          <a:p>
            <a:r>
              <a:t>import sys</a:t>
            </a:r>
          </a:p>
          <a:p>
            <a:r>
              <a:t>from pathlib import Path</a:t>
            </a:r>
          </a:p>
          <a:p>
            <a:r>
              <a:t>import cv2</a:t>
            </a:r>
          </a:p>
          <a:p>
            <a:r>
              <a:t>import numpy as np</a:t>
            </a:r>
          </a:p>
          <a:p>
            <a:endParaRPr/>
          </a:p>
          <a:p>
            <a:endParaRPr/>
          </a:p>
          <a:p>
            <a:r>
              <a:t>def lane_offset(frame):</a:t>
            </a:r>
          </a:p>
          <a:p>
            <a:r>
              <a:t>    h, w = frame.shape[:2]</a:t>
            </a:r>
          </a:p>
          <a:p>
            <a:r>
              <a:t>    gray = cv2.cvtColor(frame, cv2.COLOR_BGR2GRAY)</a:t>
            </a:r>
          </a:p>
          <a:p>
            <a:r>
              <a:t>    blur = cv2.GaussianBlur(gray, (5, 5), 0)</a:t>
            </a:r>
          </a:p>
          <a:p>
            <a:r>
              <a:t>    edges = cv2.Canny(blur, 60, 150)</a:t>
            </a:r>
          </a:p>
          <a:p>
            <a:r>
              <a:t>    mask = np.zeros_like(edges)</a:t>
            </a:r>
          </a:p>
          <a:p>
            <a:r>
              <a:t>    roi = np.array([[(0, h-1), (int(.4*w), int(.6*h)),</a:t>
            </a:r>
          </a:p>
          <a:p>
            <a:r>
              <a:t>                     (int(.6*w), int(.6*h)), (w-1, h-1)]], np.int32)</a:t>
            </a:r>
          </a:p>
          <a:p>
            <a:r>
              <a:t>    cv2.fillPoly(mask, roi, 255)</a:t>
            </a:r>
          </a:p>
          <a:p>
            <a:r>
              <a:t>    road = cv2.bitwise_and(edges, mask)</a:t>
            </a:r>
          </a:p>
          <a:p>
            <a:r>
              <a:t>    lines = cv2.HoughLinesP(road, 1, np.pi/180, 35,</a:t>
            </a:r>
          </a:p>
          <a:p>
            <a:r>
              <a:t>                           minLineLength=max(20, int(.05*w)),</a:t>
            </a:r>
          </a:p>
          <a:p>
            <a:r>
              <a:t>                           maxLineGap=max(10, int(.03*w)))</a:t>
            </a:r>
          </a:p>
          <a:p>
            <a:r>
              <a:t>    out = frame.copy()</a:t>
            </a:r>
          </a:p>
          <a:p>
            <a:r>
              <a:t>    if lines is None:</a:t>
            </a:r>
          </a:p>
          <a:p>
            <a:r>
              <a:t>        return None, out</a:t>
            </a:r>
          </a:p>
          <a:p>
            <a:r>
              <a:t>    left, right = [], []</a:t>
            </a:r>
          </a:p>
          <a:p>
            <a:r>
              <a:t>    for x1, y1, x2, y2 in lines[:, 0]:</a:t>
            </a:r>
          </a:p>
          <a:p>
            <a:r>
              <a:t>        dx, dy = float(x2-x1), float(y2-y1)</a:t>
            </a:r>
          </a:p>
          <a:p>
            <a:r>
              <a:t>        if abs(dy) &lt; 10:</a:t>
            </a:r>
          </a:p>
          <a:p>
            <a:r>
              <a:t>            continue</a:t>
            </a:r>
          </a:p>
          <a:p>
            <a:r>
              <a:t>        a = dx/dy  # fit x=a*y+b, including near-vertical lines</a:t>
            </a:r>
          </a:p>
          <a:p>
            <a:r>
              <a:t>        mid_x = (x1+x2)/2</a:t>
            </a:r>
          </a:p>
          <a:p>
            <a:r>
              <a:t>        if not .05 &lt; abs(a) &lt; 2:</a:t>
            </a:r>
          </a:p>
          <a:p>
            <a:r>
              <a:t>            continue</a:t>
            </a:r>
          </a:p>
          <a:p>
            <a:r>
              <a:t>        if a &lt; 0 and mid_x &lt; .55*w:</a:t>
            </a:r>
          </a:p>
          <a:p>
            <a:r>
              <a:t>            left.extend([(y1, x1), (y2, x2)])</a:t>
            </a:r>
          </a:p>
          <a:p>
            <a:r>
              <a:t>        elif a &gt; 0 and mid_x &gt; .45*w:</a:t>
            </a:r>
          </a:p>
          <a:p>
            <a:r>
              <a:t>            right.extend([(y1, x1), (y2, x2)])</a:t>
            </a:r>
          </a:p>
          <a:p>
            <a:r>
              <a:t>    if len(left) &lt; 4 or len(right) &lt; 4:</a:t>
            </a:r>
          </a:p>
          <a:p>
            <a:r>
              <a:t>        return None, out</a:t>
            </a:r>
          </a:p>
          <a:p>
            <a:r>
              <a:t>    lp, rp = np.array(left), np.array(right)</a:t>
            </a:r>
          </a:p>
          <a:p>
            <a:r>
              <a:t>    if np.ptp(lp[:, 0]) &lt; .08*h or np.ptp(rp[:, 0]) &lt; .08*h:</a:t>
            </a:r>
          </a:p>
          <a:p>
            <a:r>
              <a:t>        return None, out</a:t>
            </a:r>
          </a:p>
          <a:p>
            <a:r>
              <a:t>    fit_l = np.polyfit(lp[:, 0], lp[:, 1], 1)</a:t>
            </a:r>
          </a:p>
          <a:p>
            <a:r>
              <a:t>    fit_r = np.polyfit(rp[:, 0], rp[:, 1], 1)</a:t>
            </a:r>
          </a:p>
          <a:p>
            <a:r>
              <a:t>    y = .8*h</a:t>
            </a:r>
          </a:p>
          <a:p>
            <a:r>
              <a:t>    xl, xr = float(np.polyval(fit_l, y)), float(np.polyval(fit_r, y))</a:t>
            </a:r>
          </a:p>
          <a:p>
            <a:r>
              <a:t>    if not (np.isfinite(xl) and np.isfinite(xr)):</a:t>
            </a:r>
          </a:p>
          <a:p>
            <a:r>
              <a:t>        return None, out</a:t>
            </a:r>
          </a:p>
          <a:p>
            <a:r>
              <a:t>    if not (0 &lt;= xl &lt; xr &lt; w and .15*w &lt;= xr-xl &lt;= .9*w):</a:t>
            </a:r>
          </a:p>
          <a:p>
            <a:r>
              <a:t>        return None, out</a:t>
            </a:r>
          </a:p>
          <a:p>
            <a:r>
              <a:t>    center = (xl+xr)/2</a:t>
            </a:r>
          </a:p>
          <a:p>
            <a:r>
              <a:t>    e = (w/2-center)/(w/2)</a:t>
            </a:r>
          </a:p>
          <a:p>
            <a:r>
              <a:t>    for fit in (fit_l, fit_r):</a:t>
            </a:r>
          </a:p>
          <a:p>
            <a:r>
              <a:t>        ya, yb = int(.65*h), h-1</a:t>
            </a:r>
          </a:p>
          <a:p>
            <a:r>
              <a:t>        xa = int(np.clip(np.polyval(fit, ya), 0, w-1))</a:t>
            </a:r>
          </a:p>
          <a:p>
            <a:r>
              <a:t>        xb = int(np.clip(np.polyval(fit, yb), 0, w-1))</a:t>
            </a:r>
          </a:p>
          <a:p>
            <a:r>
              <a:t>        cv2.line(out, (xa, ya), (xb, yb), (0, 255, 0), 3)</a:t>
            </a:r>
          </a:p>
          <a:p>
            <a:r>
              <a:t>    cv2.putText(out, f'e={e:+.3f}', (20, 40),</a:t>
            </a:r>
          </a:p>
          <a:p>
            <a:r>
              <a:t>                cv2.FONT_HERSHEY_SIMPLEX, 1, (0, 255, 255), 2)</a:t>
            </a:r>
          </a:p>
          <a:p>
            <a:r>
              <a:t>    return e, out</a:t>
            </a:r>
          </a:p>
          <a:p>
            <a:endParaRPr/>
          </a:p>
          <a:p>
            <a:endParaRPr/>
          </a:p>
          <a:p>
            <a:r>
              <a:t>def main():</a:t>
            </a:r>
          </a:p>
          <a:p>
            <a:r>
              <a:t>    if len(sys.argv) != 2:</a:t>
            </a:r>
          </a:p>
          <a:p>
            <a:r>
              <a:t>        raise SystemExit('Usage: python lane_demo.py road.jpg')</a:t>
            </a:r>
          </a:p>
          <a:p>
            <a:r>
              <a:t>    path = Path(sys.argv[1])</a:t>
            </a:r>
          </a:p>
          <a:p>
            <a:r>
              <a:t>    frame = cv2.imread(str(path))</a:t>
            </a:r>
          </a:p>
          <a:p>
            <a:r>
              <a:t>    if frame is None:</a:t>
            </a:r>
          </a:p>
          <a:p>
            <a:r>
              <a:t>        raise SystemExit(f'Cannot read image: {path}')</a:t>
            </a:r>
          </a:p>
          <a:p>
            <a:r>
              <a:t>    e, out = lane_offset(frame)</a:t>
            </a:r>
          </a:p>
          <a:p>
            <a:r>
              <a:t>    print('LANE_UNKNOWN' if e is None else f'e={e:+.4f}')</a:t>
            </a:r>
          </a:p>
          <a:p>
            <a:r>
              <a:t>    if not cv2.imwrite('lane_result.jpg', out):</a:t>
            </a:r>
          </a:p>
          <a:p>
            <a:r>
              <a:t>        raise RuntimeError('Failed to save lane_result.jpg')</a:t>
            </a:r>
          </a:p>
          <a:p>
            <a:endParaRPr/>
          </a:p>
          <a:p>
            <a:endParaRPr/>
          </a:p>
          <a:p>
            <a:r>
              <a:t>if __name__ == '__main__':</a:t>
            </a:r>
          </a:p>
          <a:p>
            <a:r>
              <a:t>    main()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OpenCV 的好處是每一步看得到，也不需要訓練資料，但場景一變，固定規則可能失效。AI 分割可以學習較複雜外觀，但需要代表性資料，仍會受域偏移與遮擋影響。若標的是每條車道線，可設計實例分割；若標整片可行駛道路，語意分割可能更自然。不要把可行駛區的中心與左右標線中心混為一談。先在同一批白天、陰影與彎道圖片上比較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https://docs.ultralytics.com/tasks/segment/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官方分割示例的用途是說明遮罩與框的差別，不是宣稱預訓練模型已會車道辨識。學生應先畫出幾張標註規範範例，再大規模標註。訓練可用 yolo segment train model=yolo26n-seg.pt data=lane.yaml epochs=100 imgsz=640。Results 的 masks.xy 是像素多邊形，masks.data 是遮罩張量；如果沒有偵測結果，masks 可能是 None。取得 mask 後仍要計算道路中心或曲線，不能直接把 mask 當舵機命令。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  <a:p>
            <a:endParaRPr/>
          </a:p>
          <a:p>
            <a:r>
              <a:t>官方來源</a:t>
            </a:r>
          </a:p>
          <a:p>
            <a:r>
              <a:t>https://docs.ultralytics.com/tasks/segment/</a:t>
            </a:r>
          </a:p>
          <a:p>
            <a:r>
              <a:t>https://docs.ultralytics.com/datasets/segment/</a:t>
            </a:r>
          </a:p>
          <a:p>
            <a:r>
              <a:t>圖片來源：https://cdn.ul.run/i/4f347873b4473e2ccab72d0df4350e7e.avif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先檢查資料是否新鮮，再看障礙物與燈號，最後才看方向。課堂簡化為黃燈停止，不延伸成真實道路交通規則。UNKNOWN 包含無燈號、低信心、多個相關燈號衝突。這张表輸出的是建議事件，尚未給出速度與轉向角。原本 STOP_LATCHED 不因下一幀看見綠燈而自動解除，必須由上層狀態機按人工復歸條件處理。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這個函式不需要相機或 GPIO，可以先用 assert 測試。e 的有效性由車道函式把關，輸入應為有限數值。左右門檻留出死區，避免中心附近小幅抖動一直切換事件。實際還要加連續幀確認與不同啟停門檻。測試案例：decide("red",0) 應是 STOP；decide("green",None) 應是 STOP；decide("green",-0.1) 應是 STEER_RIGHT。新函式只提供候選建議，不改寫既有停止鎖定。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對應第 15 章增補</a:t>
            </a:r>
          </a:p>
          <a:p>
            <a:endParaRPr/>
          </a:p>
          <a:p>
            <a:r>
              <a:t>講解逐字稿</a:t>
            </a:r>
          </a:p>
          <a:p>
            <a:r>
              <a:t>系統不是印出一次 GO 就算完成，車輛動作會改變下一次觀測，這才是閉迴路。視覺到馬達之間還有控制器、回饋與時效保障。每組固定同一段影片與環境，先暖機，再比較三種尺寸，記錄樣本數、模型分支、版本與溫度。不要把一千除以模型時間直接寫成整台車 FPS。若使用多執行緒，還要觀察資料年齡與丟幀，最終用失效案例驗證停止優先。</a:t>
            </a:r>
          </a:p>
          <a:p>
            <a:endParaRPr/>
          </a:p>
          <a:p>
            <a:r>
              <a:t>補充依據：使用者上傳〈YOLO26 是 YOLOv5 推出六年後的重大革新版本〉。技術條件依 2026-09-28 查核文件修正。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16 章</a:t>
            </a:r>
          </a:p>
          <a:p>
            <a:endParaRPr/>
          </a:p>
          <a:p>
            <a:r>
              <a:t>此圖展示桌面環境，不是 SSH 本身。cv2.imshow 失敗可能是沒有顯示環境，也可能是 headless OpenCV。不要同时堆疊多個 cv2 wheel。</a:t>
            </a:r>
          </a:p>
          <a:p>
            <a:endParaRPr/>
          </a:p>
          <a:p>
            <a:r>
              <a:t>圖片來源：</a:t>
            </a:r>
          </a:p>
          <a:p>
            <a:r>
              <a:t>https://assets.raspberrypi.com/static/45eb3aa28d8f3d57842e8cd5e80c2969/3b00d/raspberry-pi-os.png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16 章</a:t>
            </a:r>
          </a:p>
          <a:p>
            <a:endParaRPr/>
          </a:p>
          <a:p>
            <a:r>
              <a:t>也要檢查檔名是否叫 ultralytics.py、torch.py、cv2.py，這些可能遮蔽套件。資料錯誤與模型錯誤分開處理。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對應逐字稿：第 16 章</a:t>
            </a:r>
          </a:p>
          <a:p>
            <a:endParaRPr/>
          </a:p>
          <a:p>
            <a:r>
              <a:t>請各組交出 YAML、標註規範、版本紀錄、訓練輸出路徑與誤差分析。硬體穩定性與實車安全要另外驗證。可用本頁做口頭成果報告評量。</a:t>
            </a:r>
          </a:p>
          <a:p>
            <a:endParaRPr/>
          </a:p>
          <a:p>
            <a:r>
              <a:t>主要教材：YOLO26_Windows_Linux_Pi5_AutoCAR_16章實作逐字稿.docx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17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各位先確認今天要學的是三個不同任務。車道線需要知道線的形狀，所以採用分割模型；燈號與路標需要位置和種類，所以採用偵測模型。同一張現場照片可以提供三個任務使用，但每個任務必須建立自己的標註目錄。原始壓縮檔的交通燈設定包含 stop_sign，我們保留其四類順序，不能把舊模型的第零類拿去當新道路模型的第零類。這裡的四類道路物件沿用前面教案，並不是直路、彎路、十字路口等場景分類。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17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請開啟 autocar/motor.py 與 config.py，對照實際車子。這台車使用 PCA9685，而不是兩顆馬達直接接四根 GPIO 的通用範例。左側是 A 和 C，右側是 B 和 D。新程式呼叫既有 drive_tank，因此保留原本的方向與 PWM 通道。先架空車輪，使用低速短按確認左右輪方向；若實際接線不同，先修正原控制層。雲台通道不在本次採集控制範圍，請先固定到部署時的視角，否則拍攝資料與推論視角會不一致。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17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先將程式包解壓，切換到包含 collect_drive.py 的目錄。如果原自駕服務正在執行，先停止它；沒有安裝這個服務就略過第一行。接著安裝系統提供的相機與 GPIO 套件，再建立能讀取系統套件的虛擬環境。預設不加 real 參數，馬達只走模擬模式；按 C 啟動相機仍然會使用真實 Pi Camera，不是攝影機模擬。這個終端機介面可在 SSH 使用，不需要圖形桌面。錄影使用 ffmpeg 封裝成 MP4，所以 ffmpeg 也必須可執行。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18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這個採集介面的控制語意與原網頁模式不同。原程式啟用後可能直接以預設速度前進；新採集模式使用 start_manual=False，因此按 E 不會讓車子移動。按住 W 前進，A 讓左輪較慢，D 讓右輪較慢。終端機沒有按鍵放開事件，所以使用三百毫秒租期；最後一個移動按鍵超時就停車。電腦鍵盤的初始重複延遲可能讓車子先走一下再停一下，這是保守行為。要立刻停車請按空白鍵，不要等待租期；實驗範圍應能直接切斷車體電源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18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這段程式是手動駕駛的核心，完整按鍵迴圈已放在附件。速度是零到一的 PWM 命令比例，不是公尺每秒。左彎時左側輪速降到右側的百分之三十五，形成前進差速轉彎，這也不是固定轉向角度。程式每次收到移動鍵就送出 drive_tank 並更新租期；不能直接改成 heartbeat，因為原控制器在 auto 方向狀態不以 heartbeat 續期。除了主迴圈的三百毫秒停止，既有控制器另有零點六秒 watchdog，處理主迴圈卡住的情況。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18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按 C 後才建立 Picamera2 物件並啟動攝影機，按 R 才開始錄影。錄影設定請求每秒三十張，但這不是效能實測保證，最後仍要用 ffprobe 檢查影片。主串流採用 YUV420，直接交給 H264 編碼器；FfmpegOutput 將編碼影像封裝成 MP4，方便電腦播放與抽幀。檔名使用 UTC 時間加微秒避免快速開關錄影覆寫。原專案預設鏡頭旋轉一百八十度，新程式保留這個設定；若畫面方向不合，啟動時加 no-rotate。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18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錄影停止與相機關閉是兩件不同的事。按 R 停止錄影時，相機仍開著，可以繼續錄下一段。按 C 關閉時，會先停止錄影，再停止及關閉相機。上傳專案原相機程式使用串流名稱停止編碼器；新增程式改為保留 encoder 物件並傳入 stop_encoder，避免把串流名稱誤當編碼器。正常離開或例外都進入 finally，先關閉馬達再釋放相機。直接斷電可能使 MP4 尾端索引未完成，因此應先按 R 或 Q，確認錄影結束後才關電。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19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不要只繞同一條路錄很長一段影片。我們需要的是不同場景，而不是大量近乎相同的影格。拍攝前先列出每一類在遠中近與不同光線下的組合，特別記錄紅燈、黃燈及綠燈。若車道線有遮擋，只標看得見的部分，不憑想像補上。太模糊而無法判斷燈色的畫面應移到排除清單，不能把它當成沒有號誌的負樣本。每次變更路段、時段或鏡頭安裝都記錄下來，後續才能分析模型在哪種條件失敗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19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先在架空車輪狀態測試，再到封閉場地執行。按 C 開相機，按 R 錄影，這兩個操作都會解除馬達啟用，所以接著按 E，再按方向鍵行駛。拍攝完成先按空白鍵停車，再按 R 結束錄影。資料夾會有 MP4 與同名 JSON，後者紀錄場次及相機設定。用播放器檢查曝光、模糊和鏡頭角度，再使用 ffprobe 查看解析度與平均幀率。示例中的 capture.mp4 是佔位檔名，請替換成實際影片。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19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如果每秒抽一張，同一段影片中第十秒和第十一秒通常非常相似。把兩張隨機分進訓練與測試集，會讓測試結果看起來很好，卻不能代表換路段的表現。我們先替每個拍攝場次指定 group_id，再指定 train、val 或 test。即使相機中途停止後重錄，只要仍是同一路段的連續拍攝，就保持同一組。七比一點五比一點五只是規劃參考，應優先確保各集合都有必要類別與獨立場景；示例 CSV 的三段影片只是格式示範，不是足夠的訓練資料量。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將範例 CSV 複製成 clips.csv，把影片路徑換成實際檔案。相對路徑以 CSV 所在目錄為基準，Windows 也可使用正斜線。抽幀工具先檢查同一組是否跨越不同集合，再呼叫 ffmpeg。照片命名包含影片索引與影格編號，避免多段影片都叫 frame0001 而相互覆蓋。輸出目錄必須不存在，重做時改成 frames_v2。manifest 是後續重建資料集的依據，不要手動改名照片或單獨丟掉這個檔案。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抽幀不等於每張都拿去訓練。先從每秒一張開始，檢查是否有大量近似照片。如果黃燈只出現很短時間，可以針對對應影片加密抽幀；同一場次仍要維持相同集合。舊專案錄的是原始 H264，使用 raw-fps 時必須填當時已知的錄影幀率，不要一律猜三十。新程式輸出的 MP4 有時間資訊，不用這個參數。如果要排除影格，建立新的清理版本並同步刪除 manifest 中對應條目，保留排除紀錄；不能只刪照片而保留索引。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現在進入手動標註。先依附錄的類別順序建立任務，再匯入抽出的圖片。號誌的標註規則採整個燈具外框，類別則以當下亮燈狀態決定；不要有人框燈泡、有人框整座燈具。道路物件按照停止標誌、左轉、右轉、障礙物四類處理。一張照片有多個物件就逐一畫框。看不清狀態的影格移出這個任務的可用資料，不要猜。完成後選 Ultralytics YOLO Detection 匯出，保留 data.yaml，因為我們將用它檢查類別順序。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車道線分割使用多邊形工具。請沿著白線或黃線兩側描出具有寬度的區域，最後閉合成面積；只畫一條中心折線是不夠的。若是虛線，每段可見漆線分開標註。若有車子遮住，只標兩側看得見的部分，不跨越遮擋連成巨大多邊形。這個設定會得到車道漆線遮罩，後續還要用幾何方式求車道中心與偏移，不能把 mask 直接當轉向角度。匯出選分割格式，人工打開幾個標註檔，確認 class 後面是多組正規化頂點。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20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偵測標註每列有五個數字，第一個是類別，後面依序是中心點與寬高，全部相對圖片大小正規化。分割標註則是類別加上頂點座標，所以列長不固定。數字都在零到一還不夠，偵測框的左右上下邊界也不能超出圖片。工具會檢查這些格式，但不能知道你把紅燈錯標成綠燈，因此人工覆核不可省略。沒有任何目標的照片需要人工確認，把完整照片檔名一行一個寫進 negatives.txt；空標註若沒經確認，工具會拒絕建立資料集。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21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把 CVAT 匯出的 ZIP 解壓後，找到 labels 目錄與 data.yaml，實際路徑可能依版本略有不同。build 指令依 manifest 的分組，把圖片和標註放入對應的 train、val、test 目錄。它會拒絕類別順序不一致、缺少標註、沒有人工確認的空標註，以及跨集合完全相同的圖片。這只能攔截完全重複的內容，相似但不同的照片仍須靠場次分組避免洩漏。每個任務分別執行，不能把三套 labels 混在一起。輸出目錄必須是新目錄，以保留資料版本。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21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訓練安排在 Windows 或 Linux 電腦執行，Pi 主要負責採集和部署。先建立前面教案說明的虛擬環境，再安裝訓練依賴。道路與號誌由 yolo26n.pt 開始遷移學習，車道則由 yolo26n-seg.pt 開始；程式依 task 自動選擇，避免把分割標註丟進偵測模型。指令中的 device 0 表示第一張 CUDA GPU，沒有 GPU 就改成 cpu。Windows PowerShell 請把多行接成單行，不要照貼 Linux 的反斜線續行。遇到記憶體不足先減少 batch，並記錄所有實驗設定。程式關閉水平翻轉 fliplr=0，避免左轉標誌翻轉後變成右轉外觀卻仍保留原標籤。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21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best.pt 是驗證表現最佳的權重，不代表已通過獨立測試。我們先在 val 選模型、信心門檻與輸入尺寸，設定固定後才對 test 報告結果。偵測要看各類 precision、recall、混淆矩陣與 mAP；分割還要看 mask 指標和實際遮罩。接著使用未參與資料集的新影片觀察連續性。部署匯出四百一十六時，推論也用四百一十六；不能照前面範例匯出六百四十卻任意改成另一尺寸。NCNN 對每個任務都要實際驗證，匯出成功不等於效能或準確率必然相同。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21 章｜實景採集與訓練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最後請每一組提交能追溯的完整成果。不是只交一個 best.pt，而是保留影片、抽幀清單、標註版本、訓練設定與測試報告。若模型在逆光下漏掉紅燈，就新增同類困難場景到下一版訓練資料，而不是把原測試影像搬回訓練後繼續稱它為獨立測試。Pi 上分別量測相機讀取、推論及整體迴圈耗時，記錄散熱與解析度。這份新增程式已做模擬控制與資料流程檢查，但未在這台實車上執行，硬體輪向、相機編碼與整車停止仍需現場驗收。</a:t>
            </a:r>
          </a:p>
          <a:p>
            <a:endParaRPr/>
          </a:p>
          <a:p>
            <a:r>
              <a:t>程式來源：使用者上傳 RPI5_AutoCAR.rar；新增完整程式見隨附程式包。查核日期：2026-09-28。</a:t>
            </a:r>
          </a:p>
          <a:p>
            <a:endParaRPr/>
          </a:p>
          <a:p>
            <a:r>
              <a:t>參考來源</a:t>
            </a:r>
          </a:p>
          <a:p>
            <a:r>
              <a:t>https://datasheets.raspberrypi.com/camera/picamera2-manual.pdf</a:t>
            </a:r>
          </a:p>
          <a:p>
            <a:r>
              <a:t>https://docs.cvat.ai/docs/dataset_management/formats/format-yolo-ultralytics/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各位先把影像來源與模型訓練分開理解。同一張照片可以同時看到車道、紅燈及路標，所以沒有必要為每個任務重新拍三次。但是車道標註是多邊形，物件標註是矩形，模型的輸出需求不同。共用照片不代表把兩種標註直接放進同一個文字檔。所有實驗沿用同一份拍攝場次切分，避免某張照片在一個模型用來訓練，卻在另一模型用來測試。本補充的四類道路指停止、左轉、右轉及障礙物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方案 A 保留三個模型，適合教學建立基準及找出哪個任務有問題。方案 B 把同樣需要矩形框的燈號與道路物件合成一個模型，車道仍保留分割。方案 C 在標準分割流程中將所有目標都標成多邊形，用一個分割模型完成。單模型不保證最快，因為它可能需要更大的模型或更高解析度，還有遮罩處理成本。若要使用共享主幹加不同任務頭的客製多任務模型，需另外設計訓練流程，不屬於直接合併 YAML 的範圍。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分開訓練的優點是調整容易。例如紅燈很小，可以只把燈號模型提高解析度或加入裁切策略，不必同時增加車道運算。合併偵測可能從多種道路目標學到共同特徵，減少重複運算，但資料分布要重新檢查。如果障礙物很多而黃燈極少，總體 mAP 上升也可能掩蓋黃燈辨識退步。我們應分別查看每一類及遠中近距離的結果。模型規模、樣本量和訓練預算也會影響比較，不能只根據模型數量預測準確率。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車道控制通常需要知道道路的幾何形狀。矩形框只能指出一片範圍，不足以精確還原彎曲或斷續漆線。所以本案保留車道分割，再根據遮罩估計偏移。全部使用一個分割模型在技術上可行，但必須把燈號、路標與障礙物也準備成一致的分割標註，不能直接混入只有矩形框的舊標註。YOLO26 的雙偵測頭與一對多、一對一訓練推論設計有關，不能理解成內建了車道與燈號兩個獨立任務。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原專案交通模型有紅燈、黃燈、綠燈及停止標誌四類，道路模型也有停止標誌，因此合併後是七類而不是八類。交通資料的零、一、二維持燈色，三是停止標誌。舊道路資料的零要改成三，一改成四，二改成五，三改成六。若同張照片在兩套標註中都框了停止標誌，合併時去除重複框。這裡 YAML 的絕對路徑必須換成實際資料目錄，Windows 可以使用正斜線。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假設照片同時有紅燈與左轉標誌，原本交通模型只需要紅燈標註，道路模型只需要左轉標註。但合併成七類後，每張圖都必須標出所有屬於這七類的可見目標。只把資料夾接起來，會讓模型在部分圖片學習左轉標誌，在其他圖片又把未標註的左轉標誌當成背景。補標時也要統一框選規則，例如燈號都是框整個燈具。第 20 章附件工具目前支援三套獨立 schema，七類實驗請另外建立並驗證標註，不要直接套用原 road 四類檢查。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如果三個模型循序處理同一影格，總耗時大致是各階段相加。合併後少執行一個模型，但七類模型的耗時仍需量測。模型載入放在迴圈外，暖機後再記錄相機、預處理、推論與決策時間。不要只比較 Ultralytics 顯示的推論毫秒數，因為整車反應還包含等待新影格與排程。若讓車道較頻繁更新、燈號較低頻率更新，應確認紅燈出現到 STOP 的延遲，並讓過期辨識結果觸發保守處理。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先把車道模型固定，只比較兩個獨立偵測器與一個七類偵測器的差異。資料來源及測試場次完全一致，合併資料的標註必須完整。使用相同 Nano 規模不表示總參數量或總訓練成本相等，所以也要報告成本。固定同樣 epochs 可以作為第一輪實驗，但較大資料集每一輪的步數更多，不能宣稱已控制總計算量。設定在驗證集選定後再測試，若反覆使用測試結果改設計，應另保留最終未見場次。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這個指令直接使用 Ultralytics CLI 訓練七類偵測器，不需要把原 train_task.py 假裝改成已支援新 schema。先準備完整的 objects7.yaml 與標註，再執行訓練。水平翻轉設成零，避免左右路標翻轉造成類別語意錯誤。這裡保留一百輪作為示例，實際依驗證結果與成本調整。BEST.pt 是說明用代稱，請換成實際執行目錄的 weights/best.pt。同名執行可能自動加編號，以終端機輸出為準。比較 NCNN 時匯出與推論尺寸必須一致。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補充說明：分開與合併訓練</a:t>
            </a:r>
          </a:p>
          <a:p>
            <a:endParaRPr/>
          </a:p>
          <a:p>
            <a:r>
              <a:t>教師講解逐字稿</a:t>
            </a:r>
          </a:p>
          <a:p>
            <a:r>
              <a:t>最後用結果決定架構。紅燈漏檢和紅綠誤判的影響不同，不能只看總平均。小型燈號應按距離或像素大小分組分析；道路物件逐類比較。P95 表示百分之九十五的量測延遲不超過該值，但還應觀察極端卡頓與連續失效。可接受的退步幅度要在看測試結果之前依場地與控制需求訂定。如果七類模型通過品質門檻且整體延遲降低，就優先採用兩模型；若遠距燈號明顯變差，可補資料或保留專用燈號模型。這些是判斷流程，不是預先宣稱的實測結論。</a:t>
            </a:r>
          </a:p>
          <a:p>
            <a:endParaRPr/>
          </a:p>
          <a:p>
            <a:r>
              <a:t>說明：架構比較為工程推論，尚無本車實測數據。依前文討論編寫，官方文件查核日期 2026-09-28。</a:t>
            </a:r>
          </a:p>
          <a:p>
            <a:endParaRPr/>
          </a:p>
          <a:p>
            <a:r>
              <a:t>來源</a:t>
            </a:r>
          </a:p>
          <a:p>
            <a:r>
              <a:t>https://docs.ultralytics.com/tasks/segment/</a:t>
            </a:r>
          </a:p>
          <a:p>
            <a:r>
              <a:t>https://docs.ultralytics.com/tasks/detect/</a:t>
            </a:r>
          </a:p>
          <a:p>
            <a:r>
              <a:t>https://docs.ultralytics.com/reference/data/dataset/</a:t>
            </a:r>
          </a:p>
          <a:p>
            <a:r>
              <a:t>https://docs.ultralytics.com/modes/train/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對應逐字稿：課程導入或收束</a:t>
            </a:r>
          </a:p>
          <a:p>
            <a:endParaRPr/>
          </a:p>
          <a:p>
            <a:r>
              <a:t>請學生選一題回答，再用自己實作遇到的錯誤舉例。教師可依回答確認學生是否真的理解每個階段的責任。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對應逐字稿：課程導入或收束</a:t>
            </a:r>
          </a:p>
          <a:p>
            <a:r>
              <a:t>所有外部圖片出處與技術依據放在相關頁講者備註。套件介面以教材查核時版本為基準，開課前請在相同硬體上預演。</a:t>
            </a:r>
          </a:p>
          <a:p>
            <a:r>
              <a:t>技術來源：</a:t>
            </a:r>
          </a:p>
          <a:p>
            <a:r>
              <a:t>https://docs.ultralytics.com/models/yolo26/</a:t>
            </a:r>
          </a:p>
          <a:p>
            <a:r>
              <a:t>https://docs.ultralytics.com/modes/predict/</a:t>
            </a:r>
          </a:p>
          <a:p>
            <a:r>
              <a:t>https://docs.ultralytics.com/modes/train/</a:t>
            </a:r>
          </a:p>
          <a:p>
            <a:r>
              <a:t>https://docs.ultralytics.com/integrations/ncnn/</a:t>
            </a:r>
          </a:p>
          <a:p>
            <a:r>
              <a:t>https://www.raspberrypi.com/products/raspberry-pi-5/</a:t>
            </a:r>
          </a:p>
          <a:p>
            <a:r>
              <a:t>https://www.raspberrypi.com/news/new-autofocus-camera-modules/</a:t>
            </a:r>
          </a:p>
          <a:p>
            <a:r>
              <a:t>https://datasheets.raspberrypi.com/camera/picamera2-manual.pdf</a:t>
            </a:r>
          </a:p>
          <a:p>
            <a:endParaRPr/>
          </a:p>
          <a:p>
            <a:r>
              <a:t>新增來源：</a:t>
            </a:r>
          </a:p>
          <a:p>
            <a:r>
              <a:t>https://docs.ultralytics.com/guides/end2end-detection/</a:t>
            </a:r>
          </a:p>
          <a:p>
            <a:r>
              <a:t>https://docs.ultralytics.com/guides/yolo26-training-recipe/</a:t>
            </a:r>
          </a:p>
          <a:p>
            <a:r>
              <a:t>https://docs.ultralytics.com/integrations/hailo/</a:t>
            </a:r>
          </a:p>
          <a:p>
            <a:r>
              <a:t>https://docs.opencv.org/4.x/d9/db0/tutorial_hough_lines.html</a:t>
            </a:r>
          </a:p>
          <a:p>
            <a:r>
              <a:t>使用者補充文件含 10 組圖說，已分配至架構、交通燈、部署與車道融合的延伸頁。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63C450-E0BB-4905-90A5-F74C5B2922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8175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F10C17-98DC-4B4C-B09C-576547E96D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3D0A99-5349-4087-A0CF-E44950D9F937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51435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Raspberry Pi 5</a:t>
            </a:r>
          </a:p>
          <a:p>
            <a:pPr>
              <a:def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OpenCV</a:t>
            </a:r>
          </a:p>
          <a:p>
            <a:pPr>
              <a:defRPr sz="36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自走車實作</a:t>
            </a:r>
            <a:r>
              <a:rPr sz="36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SOP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42C564-7973-474F-8937-5B3B386AC428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476250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從環境建置與單張偵測，完成 USB 攝影機、車道線、NCNN、Flask 與板端驗收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5F594C-E67C-4926-8191-771FC3E33C2A}"/>
              </a:ext>
            </a:extLst>
          </p:cNvPr>
          <p:cNvSpPr>
            <a:spLocks noGrp="1"/>
          </p:cNvSpPr>
          <p:nvPr/>
        </p:nvSpPr>
        <p:spPr>
          <a:xfrm>
            <a:off x="723900" y="5924550"/>
            <a:ext cx="3619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教材整合版  2026 09 28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A1964C8-EC44-F784-5FF6-743896D3D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1129168"/>
            <a:ext cx="5619750" cy="459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951CB64-8A98-4BE1-B14E-D4D47FC935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456E32-477A-4024-BD74-E5A024593D9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課程導覽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49957A-2DBA-4FD2-ACBB-29B90BE09C5E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完整實作路線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B40FAD-8107-4E7F-82F7-6C4D15F4EC91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E3A2D8-CA93-45D2-A90F-141FF2CD8CF1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63468B-E35D-43AC-9B13-20510C5F6DD3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8795DA-F3D0-42FD-8DEC-132C149883B6}"/>
              </a:ext>
            </a:extLst>
          </p:cNvPr>
          <p:cNvSpPr>
            <a:spLocks noGrp="1"/>
          </p:cNvSpPr>
          <p:nvPr/>
        </p:nvSpPr>
        <p:spPr>
          <a:xfrm>
            <a:off x="1447800" y="158115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前置檢查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260D09-12EB-4E01-B320-57252A729908}"/>
              </a:ext>
            </a:extLst>
          </p:cNvPr>
          <p:cNvSpPr>
            <a:spLocks noGrp="1"/>
          </p:cNvSpPr>
          <p:nvPr/>
        </p:nvSpPr>
        <p:spPr>
          <a:xfrm>
            <a:off x="3524250" y="160020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供電、散熱、相機、I2C 與網路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81FFEE-3BAB-424D-81B7-7008CB055C91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BED545-F67A-4C6D-9D3B-815E15D9204E}"/>
              </a:ext>
            </a:extLst>
          </p:cNvPr>
          <p:cNvSpPr>
            <a:spLocks noGrp="1"/>
          </p:cNvSpPr>
          <p:nvPr/>
        </p:nvSpPr>
        <p:spPr>
          <a:xfrm>
            <a:off x="1447800" y="232410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模型驗證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3C4DF3-2B63-494A-82C9-FE70623252B9}"/>
              </a:ext>
            </a:extLst>
          </p:cNvPr>
          <p:cNvSpPr>
            <a:spLocks noGrp="1"/>
          </p:cNvSpPr>
          <p:nvPr/>
        </p:nvSpPr>
        <p:spPr>
          <a:xfrm>
            <a:off x="3524250" y="23431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虛擬環境、YOLO26n 與單張圖片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419A6C-6A02-4DBE-80AD-27A693401077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435EBA-45ED-4724-8D74-A82E572ED71A}"/>
              </a:ext>
            </a:extLst>
          </p:cNvPr>
          <p:cNvSpPr>
            <a:spLocks noGrp="1"/>
          </p:cNvSpPr>
          <p:nvPr/>
        </p:nvSpPr>
        <p:spPr>
          <a:xfrm>
            <a:off x="1447800" y="306705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即時影像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9D9A03-DA03-4C2B-9E49-BEE329805710}"/>
              </a:ext>
            </a:extLst>
          </p:cNvPr>
          <p:cNvSpPr>
            <a:spLocks noGrp="1"/>
          </p:cNvSpPr>
          <p:nvPr/>
        </p:nvSpPr>
        <p:spPr>
          <a:xfrm>
            <a:off x="3524250" y="308610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USB Webcam 與安全釋放裝置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023EC5-74DD-4114-9397-2A9B96EC940A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E11463-BF9F-4894-98BA-173F926FF3D7}"/>
              </a:ext>
            </a:extLst>
          </p:cNvPr>
          <p:cNvSpPr>
            <a:spLocks noGrp="1"/>
          </p:cNvSpPr>
          <p:nvPr/>
        </p:nvSpPr>
        <p:spPr>
          <a:xfrm>
            <a:off x="1447800" y="381000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車道線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6C627A-DB03-4836-9709-B4607A50C9A9}"/>
              </a:ext>
            </a:extLst>
          </p:cNvPr>
          <p:cNvSpPr>
            <a:spLocks noGrp="1"/>
          </p:cNvSpPr>
          <p:nvPr/>
        </p:nvSpPr>
        <p:spPr>
          <a:xfrm>
            <a:off x="3524250" y="38290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OpenCV a1 到 a9 與中心誤差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870E5F-9081-4615-BBD9-D0399323EA6A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84262E-138B-439C-8E29-38E401609722}"/>
              </a:ext>
            </a:extLst>
          </p:cNvPr>
          <p:cNvSpPr>
            <a:spLocks noGrp="1"/>
          </p:cNvSpPr>
          <p:nvPr/>
        </p:nvSpPr>
        <p:spPr>
          <a:xfrm>
            <a:off x="1447800" y="455295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邊緣部署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BD4D75-FDC0-4414-9AC3-3414168AA083}"/>
              </a:ext>
            </a:extLst>
          </p:cNvPr>
          <p:cNvSpPr>
            <a:spLocks noGrp="1"/>
          </p:cNvSpPr>
          <p:nvPr/>
        </p:nvSpPr>
        <p:spPr>
          <a:xfrm>
            <a:off x="3524250" y="457200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NCNN、Flask、WinSCP 與 systemd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7FBCDA-02B8-4C0E-88C1-0B0BDC835A9B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79A34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467DD7-84FD-4F5D-8986-410A5656278D}"/>
              </a:ext>
            </a:extLst>
          </p:cNvPr>
          <p:cNvSpPr>
            <a:spLocks noGrp="1"/>
          </p:cNvSpPr>
          <p:nvPr/>
        </p:nvSpPr>
        <p:spPr>
          <a:xfrm>
            <a:off x="1447800" y="529590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板端驗收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6695A7D-86D3-40CD-B66E-53E4EB572D1A}"/>
              </a:ext>
            </a:extLst>
          </p:cNvPr>
          <p:cNvSpPr>
            <a:spLocks noGrp="1"/>
          </p:cNvSpPr>
          <p:nvPr/>
        </p:nvSpPr>
        <p:spPr>
          <a:xfrm>
            <a:off x="3524250" y="53149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日誌、效能、溫度與低速落地測試</a:t>
            </a:r>
          </a:p>
        </p:txBody>
      </p:sp>
    </p:spTree>
    <p:extLst>
      <p:ext uri="{BB962C8B-B14F-4D97-AF65-F5344CB8AC3E}">
        <p14:creationId xmlns:p14="http://schemas.microsoft.com/office/powerpoint/2010/main" val="120294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67ABEEC-C153-4560-B5C4-E2AD20834A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701189-1ABF-434B-9C1E-56D757AC4EA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系統架構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2230A2-D4B5-49D5-B5BE-6BCAC850040B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影像與控制資料流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19FD17-7AA3-4341-B1F2-AD43AABE6269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739C0D-5E55-4943-9561-839E582C1022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7989" y="1295400"/>
            <a:ext cx="6978711" cy="327030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9ACD42F-00F3-43A4-87E2-4C65CDB67FC0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4762500" cy="3714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OpenCV 從攝影機取得同一張 frame</a:t>
            </a:r>
          </a:p>
          <a:p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產生物件框與類別結果</a:t>
            </a:r>
          </a:p>
          <a:p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車道演算法輸出 lane_error</a:t>
            </a:r>
          </a:p>
          <a:p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Flask 將 JPEG 連續封裝成 MJPEG</a:t>
            </a:r>
          </a:p>
          <a:p>
            <a:pPr marL="266700" indent="-127000">
              <a:spcAft>
                <a:spcPts val="14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控制指令與影像串流採獨立通道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65EF62-1F8B-41AD-A065-029255EF6733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安全原則：影像逾時、車道信心不足或辨識到停止條件時，控制程式必須停止輸出。</a:t>
            </a:r>
          </a:p>
        </p:txBody>
      </p:sp>
    </p:spTree>
    <p:extLst>
      <p:ext uri="{BB962C8B-B14F-4D97-AF65-F5344CB8AC3E}">
        <p14:creationId xmlns:p14="http://schemas.microsoft.com/office/powerpoint/2010/main" val="150771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A037B8A-FFE4-4CC7-A31C-E39A5FA014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C6D6E5-4475-472B-81D6-64E146B659D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AAB09C-C3F6-4913-A715-687DAAC8889F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安全與硬體前置檢查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0E7543-C8D3-498B-BEBB-893CAA3B4134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5ED0DE-A10E-4F90-9F19-A11C0FE8483D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9D2297-3C85-4FC1-8F94-1E1E211DC9AA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先完成靜態檢查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34DE0B-DD45-4171-BC96-CE11A514A608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5095875" cy="3333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官方 27 W 或同等穩定供電</a:t>
            </a:r>
          </a:p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主動散熱並監看溫度與熱節流</a:t>
            </a:r>
          </a:p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馬達使用獨立電源，與 Pi 共地</a:t>
            </a:r>
          </a:p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第一次測試必須架空車輪</a:t>
            </a:r>
          </a:p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STOP、watchdog 與手控方向先通過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5A49D1-3E97-4B82-87D9-B34CA186C68A}"/>
              </a:ext>
            </a:extLst>
          </p:cNvPr>
          <p:cNvSpPr>
            <a:spLocks noGrp="1"/>
          </p:cNvSpPr>
          <p:nvPr/>
        </p:nvSpPr>
        <p:spPr>
          <a:xfrm>
            <a:off x="6419850" y="15240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硬體與網路檢查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909FC08-6F62-4ED7-8945-D034A2CC889E}"/>
              </a:ext>
            </a:extLst>
          </p:cNvPr>
          <p:cNvSpPr>
            <a:spLocks noGrp="1"/>
          </p:cNvSpPr>
          <p:nvPr/>
        </p:nvSpPr>
        <p:spPr>
          <a:xfrm>
            <a:off x="6381750" y="1943100"/>
            <a:ext cx="4953000" cy="2590800"/>
          </a:xfrm>
          <a:prstGeom prst="roundRect">
            <a:avLst>
              <a:gd name="adj" fmla="val 2941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706301-A001-4B7D-A0E6-23C45D306E14}"/>
              </a:ext>
            </a:extLst>
          </p:cNvPr>
          <p:cNvSpPr>
            <a:spLocks noGrp="1"/>
          </p:cNvSpPr>
          <p:nvPr/>
        </p:nvSpPr>
        <p:spPr>
          <a:xfrm>
            <a:off x="6553200" y="2076450"/>
            <a:ext cx="4610100" cy="2324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raspi-config</a:t>
            </a:r>
          </a:p>
          <a:p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apt install -y i2c-tools v4l-utils</a:t>
            </a:r>
          </a:p>
          <a:p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 i2cdetect -y 1</a:t>
            </a:r>
          </a:p>
          <a:p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v4l2-ctl --list-devices</a:t>
            </a:r>
          </a:p>
          <a:p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ls -l /dev/video*</a:t>
            </a:r>
          </a:p>
          <a:p>
            <a:pPr>
              <a:defRPr sz="150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hostname -I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AD1AC7-2F43-4E25-B94B-8BA5A14B5F96}"/>
              </a:ext>
            </a:extLst>
          </p:cNvPr>
          <p:cNvSpPr>
            <a:spLocks noGrp="1"/>
          </p:cNvSpPr>
          <p:nvPr/>
        </p:nvSpPr>
        <p:spPr>
          <a:xfrm>
            <a:off x="6419850" y="4857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通過條件：I2C 表格可看到 0x40，相機可列出並取像，Windows 可用 SSH 登入。</a:t>
            </a:r>
          </a:p>
        </p:txBody>
      </p:sp>
    </p:spTree>
    <p:extLst>
      <p:ext uri="{BB962C8B-B14F-4D97-AF65-F5344CB8AC3E}">
        <p14:creationId xmlns:p14="http://schemas.microsoft.com/office/powerpoint/2010/main" val="212877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50E56-1152-05E3-DEDC-082107B8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C77D283-AFA8-3600-7928-2541D237858C}"/>
              </a:ext>
            </a:extLst>
          </p:cNvPr>
          <p:cNvSpPr>
            <a:spLocks noGrp="1"/>
          </p:cNvSpPr>
          <p:nvPr/>
        </p:nvSpPr>
        <p:spPr>
          <a:xfrm>
            <a:off x="6492977" y="4107885"/>
            <a:ext cx="5032273" cy="331374"/>
          </a:xfrm>
          <a:prstGeom prst="roundRect">
            <a:avLst>
              <a:gd name="adj" fmla="val 2941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DE237DC-7BDC-F47F-DF88-73B66A65C3C9}"/>
              </a:ext>
            </a:extLst>
          </p:cNvPr>
          <p:cNvSpPr>
            <a:spLocks noGrp="1"/>
          </p:cNvSpPr>
          <p:nvPr/>
        </p:nvSpPr>
        <p:spPr>
          <a:xfrm>
            <a:off x="6515099" y="3363857"/>
            <a:ext cx="5032273" cy="369020"/>
          </a:xfrm>
          <a:prstGeom prst="roundRect">
            <a:avLst>
              <a:gd name="adj" fmla="val 2941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ACB201E-6A56-B38D-30AF-0601B44C36BF}"/>
              </a:ext>
            </a:extLst>
          </p:cNvPr>
          <p:cNvSpPr>
            <a:spLocks noGrp="1"/>
          </p:cNvSpPr>
          <p:nvPr/>
        </p:nvSpPr>
        <p:spPr>
          <a:xfrm>
            <a:off x="6492977" y="2347450"/>
            <a:ext cx="5032273" cy="671052"/>
          </a:xfrm>
          <a:prstGeom prst="roundRect">
            <a:avLst>
              <a:gd name="adj" fmla="val 2941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8AE17D3-E259-B53B-A351-4801DA289711}"/>
              </a:ext>
            </a:extLst>
          </p:cNvPr>
          <p:cNvSpPr>
            <a:spLocks noGrp="1"/>
          </p:cNvSpPr>
          <p:nvPr/>
        </p:nvSpPr>
        <p:spPr>
          <a:xfrm>
            <a:off x="855713" y="4463844"/>
            <a:ext cx="3637629" cy="1081550"/>
          </a:xfrm>
          <a:prstGeom prst="roundRect">
            <a:avLst>
              <a:gd name="adj" fmla="val 2941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59FF605-3766-F277-5D49-C4F7274683A0}"/>
              </a:ext>
            </a:extLst>
          </p:cNvPr>
          <p:cNvSpPr>
            <a:spLocks noGrp="1"/>
          </p:cNvSpPr>
          <p:nvPr/>
        </p:nvSpPr>
        <p:spPr>
          <a:xfrm>
            <a:off x="855713" y="3329448"/>
            <a:ext cx="3637629" cy="403429"/>
          </a:xfrm>
          <a:prstGeom prst="roundRect">
            <a:avLst>
              <a:gd name="adj" fmla="val 2941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8492894-256A-E7D8-A924-47A5EF2AFCF4}"/>
              </a:ext>
            </a:extLst>
          </p:cNvPr>
          <p:cNvSpPr>
            <a:spLocks noGrp="1"/>
          </p:cNvSpPr>
          <p:nvPr/>
        </p:nvSpPr>
        <p:spPr>
          <a:xfrm>
            <a:off x="855713" y="2686049"/>
            <a:ext cx="3637629" cy="332453"/>
          </a:xfrm>
          <a:prstGeom prst="roundRect">
            <a:avLst>
              <a:gd name="adj" fmla="val 2941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>
              <a:solidFill>
                <a:schemeClr val="bg2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EA9C0B-480F-34FA-E25E-D7DF955531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5C053F-5922-3185-4F4A-A3D4C0E2C50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1E746F-6C5C-D223-FBA3-226423EDCA9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安全與硬體前置檢查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F2EBD5-F8F2-4E4B-0ABB-491FBA4EECC4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065B67-A031-58F3-76CA-9483C4A5EF85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38D30B-967A-3089-CCBD-1C42EBC2C7C8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Windows </a:t>
            </a:r>
            <a:r>
              <a:rPr lang="zh-TW" altLang="en-US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從零安裝</a:t>
            </a:r>
            <a:endParaRPr sz="1500" b="1" dirty="0">
              <a:solidFill>
                <a:srgbClr val="4D6F2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AAE4CB-DFE0-40A1-5A59-62B80D85F3AA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5330927" cy="455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1.</a:t>
            </a:r>
            <a:r>
              <a:rPr lang="zh-TW" altLang="en-US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 安裝 </a:t>
            </a:r>
            <a:r>
              <a:rPr lang="en-US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Python 3.11</a:t>
            </a: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400" dirty="0">
                <a:latin typeface="Microsoft JhengHei"/>
                <a:ea typeface="Microsoft JhengHei"/>
                <a:cs typeface="Microsoft JhengHei"/>
              </a:rPr>
              <a:t>在</a:t>
            </a:r>
            <a:r>
              <a:rPr lang="en-US" sz="1400" dirty="0">
                <a:latin typeface="Microsoft JhengHei"/>
                <a:ea typeface="Microsoft JhengHei"/>
                <a:cs typeface="Microsoft JhengHei"/>
              </a:rPr>
              <a:t>PowerShell </a:t>
            </a:r>
            <a:r>
              <a:rPr lang="zh-TW" altLang="en-US" sz="1400" dirty="0">
                <a:latin typeface="Microsoft JhengHei"/>
                <a:ea typeface="Microsoft JhengHei"/>
                <a:cs typeface="Microsoft JhengHei"/>
              </a:rPr>
              <a:t>執⾏：</a:t>
            </a:r>
            <a:endParaRPr lang="en-US" altLang="zh-TW" sz="1400" dirty="0">
              <a:latin typeface="Microsoft JhengHei"/>
              <a:ea typeface="Microsoft JhengHei"/>
              <a:cs typeface="Microsoft JhengHei"/>
            </a:endParaRP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400" dirty="0" err="1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</a:rPr>
              <a:t>winget</a:t>
            </a:r>
            <a:r>
              <a:rPr lang="en-US" sz="1400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</a:rPr>
              <a:t> install -e --id Python.Python.3.11</a:t>
            </a: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4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安裝完成後關閉並重新開啟 </a:t>
            </a:r>
            <a:r>
              <a:rPr lang="en-US" sz="14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PowerShell，</a:t>
            </a:r>
            <a:r>
              <a:rPr lang="zh-TW" altLang="en-US" sz="14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再確認：</a:t>
            </a:r>
            <a:endParaRPr lang="en-US" altLang="zh-TW" sz="1400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400" dirty="0" err="1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</a:rPr>
              <a:t>py</a:t>
            </a:r>
            <a:r>
              <a:rPr lang="en-US" sz="1400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</a:rPr>
              <a:t> -3.11 –version</a:t>
            </a: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4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預期類似：</a:t>
            </a:r>
            <a:r>
              <a:rPr lang="en-US" sz="1400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Python 3.11.x</a:t>
            </a:r>
          </a:p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2.</a:t>
            </a:r>
            <a:r>
              <a:rPr lang="zh-TW" altLang="en-US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 建⽴專案及虛擬環境</a:t>
            </a:r>
            <a:endParaRPr lang="en-US" altLang="zh-TW" sz="1725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400" dirty="0" err="1">
                <a:solidFill>
                  <a:schemeClr val="bg2"/>
                </a:solidFill>
                <a:latin typeface="Microsoft JhengHei"/>
                <a:ea typeface="Microsoft JhengHei"/>
              </a:rPr>
              <a:t>mkdir</a:t>
            </a:r>
            <a:r>
              <a:rPr lang="en-US" altLang="zh-TW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 yolo26-start </a:t>
            </a: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cd yolo26-start </a:t>
            </a: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400" dirty="0" err="1">
                <a:solidFill>
                  <a:schemeClr val="bg2"/>
                </a:solidFill>
                <a:latin typeface="Microsoft JhengHei"/>
                <a:ea typeface="Microsoft JhengHei"/>
              </a:rPr>
              <a:t>py</a:t>
            </a:r>
            <a:r>
              <a:rPr lang="en-US" altLang="zh-TW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 -3.11 -m </a:t>
            </a:r>
            <a:r>
              <a:rPr lang="en-US" altLang="zh-TW" sz="1400" dirty="0" err="1">
                <a:solidFill>
                  <a:schemeClr val="bg2"/>
                </a:solidFill>
                <a:latin typeface="Microsoft JhengHei"/>
                <a:ea typeface="Microsoft JhengHei"/>
              </a:rPr>
              <a:t>venv</a:t>
            </a:r>
            <a:r>
              <a:rPr lang="en-US" altLang="zh-TW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 .</a:t>
            </a:r>
            <a:r>
              <a:rPr lang="en-US" altLang="zh-TW" sz="1400" dirty="0" err="1">
                <a:solidFill>
                  <a:schemeClr val="bg2"/>
                </a:solidFill>
                <a:latin typeface="Microsoft JhengHei"/>
                <a:ea typeface="Microsoft JhengHei"/>
              </a:rPr>
              <a:t>venv</a:t>
            </a:r>
            <a:endParaRPr lang="en-US" altLang="zh-TW" sz="1400" dirty="0">
              <a:solidFill>
                <a:schemeClr val="bg2"/>
              </a:solidFill>
              <a:latin typeface="Microsoft JhengHei"/>
              <a:ea typeface="Microsoft Jheng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85BC00-7046-875A-1988-B9D862B0C70E}"/>
              </a:ext>
            </a:extLst>
          </p:cNvPr>
          <p:cNvSpPr>
            <a:spLocks noGrp="1"/>
          </p:cNvSpPr>
          <p:nvPr/>
        </p:nvSpPr>
        <p:spPr>
          <a:xfrm>
            <a:off x="6365773" y="1943100"/>
            <a:ext cx="5330927" cy="455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3.</a:t>
            </a:r>
            <a:r>
              <a:rPr lang="zh-TW" altLang="en-US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altLang="zh-TW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zh-TW" altLang="en-US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安裝 </a:t>
            </a:r>
            <a:r>
              <a:rPr lang="en-US" sz="1725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</a:t>
            </a: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python -m pip install --upgrade pip wheel </a:t>
            </a: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python -m pip install --upgrade </a:t>
            </a:r>
            <a:r>
              <a:rPr lang="en-US" sz="1400" dirty="0" err="1">
                <a:solidFill>
                  <a:schemeClr val="bg2"/>
                </a:solidFill>
                <a:latin typeface="Microsoft JhengHei"/>
                <a:ea typeface="Microsoft JhengHei"/>
              </a:rPr>
              <a:t>ultralytics</a:t>
            </a:r>
            <a:endParaRPr lang="en-US" sz="1400" dirty="0">
              <a:solidFill>
                <a:schemeClr val="bg2"/>
              </a:solidFill>
              <a:latin typeface="Microsoft JhengHei"/>
              <a:ea typeface="Microsoft JhengHei"/>
            </a:endParaRP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400" dirty="0">
                <a:latin typeface="Microsoft JhengHei"/>
                <a:ea typeface="Microsoft JhengHei"/>
              </a:rPr>
              <a:t>確認安裝：</a:t>
            </a:r>
            <a:endParaRPr lang="en-US" altLang="zh-TW" sz="1400" dirty="0">
              <a:latin typeface="Microsoft JhengHei"/>
              <a:ea typeface="Microsoft JhengHei"/>
            </a:endParaRP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yolo checks</a:t>
            </a: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400" dirty="0">
                <a:latin typeface="Microsoft JhengHei"/>
                <a:ea typeface="Microsoft JhengHei"/>
              </a:rPr>
              <a:t>或：</a:t>
            </a:r>
            <a:endParaRPr lang="en-US" altLang="zh-TW" sz="1400" dirty="0">
              <a:latin typeface="Microsoft JhengHei"/>
              <a:ea typeface="Microsoft JhengHei"/>
            </a:endParaRPr>
          </a:p>
          <a:p>
            <a:pPr marL="139700">
              <a:spcAft>
                <a:spcPts val="1100"/>
              </a:spcAft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python -c "import </a:t>
            </a:r>
            <a:r>
              <a:rPr lang="en-US" sz="1400" dirty="0" err="1">
                <a:solidFill>
                  <a:schemeClr val="bg2"/>
                </a:solidFill>
                <a:latin typeface="Microsoft JhengHei"/>
                <a:ea typeface="Microsoft JhengHei"/>
              </a:rPr>
              <a:t>ultralytics</a:t>
            </a:r>
            <a:r>
              <a:rPr lang="en-US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; print(</a:t>
            </a:r>
            <a:r>
              <a:rPr lang="en-US" sz="1400" dirty="0" err="1">
                <a:solidFill>
                  <a:schemeClr val="bg2"/>
                </a:solidFill>
                <a:latin typeface="Microsoft JhengHei"/>
                <a:ea typeface="Microsoft JhengHei"/>
              </a:rPr>
              <a:t>ultralytics</a:t>
            </a:r>
            <a:r>
              <a:rPr lang="en-US" sz="1400" dirty="0">
                <a:solidFill>
                  <a:schemeClr val="bg2"/>
                </a:solidFill>
                <a:latin typeface="Microsoft JhengHei"/>
                <a:ea typeface="Microsoft JhengHei"/>
              </a:rPr>
              <a:t>.__version_ _)"</a:t>
            </a:r>
            <a:endParaRPr sz="1400" dirty="0">
              <a:solidFill>
                <a:schemeClr val="bg2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417755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2D1D400-4E2E-4FBA-82D1-141F241C81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18D7D2-AC97-480D-8098-25E9CD49715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21779F-B14C-4310-B4E3-C45C7739DE0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安裝系統套件</a:t>
            </a:r>
            <a:r>
              <a:rPr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  <a:r>
              <a:rPr sz="270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虛擬環境</a:t>
            </a:r>
            <a:endParaRPr sz="2700" b="1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4BBCF9-5BC2-4883-919A-91FDE6EF0895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E718B6-9406-4C3C-A4D0-E51D8ADFF6A0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9EA291-FB0E-41A2-BC13-E4FFD5BE839F}"/>
              </a:ext>
            </a:extLst>
          </p:cNvPr>
          <p:cNvSpPr>
            <a:spLocks noGrp="1"/>
          </p:cNvSpPr>
          <p:nvPr/>
        </p:nvSpPr>
        <p:spPr>
          <a:xfrm>
            <a:off x="552450" y="1304925"/>
            <a:ext cx="1355008" cy="108431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使用</a:t>
            </a:r>
            <a:r>
              <a:rPr lang="en-US" altLang="zh-TW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Putty</a:t>
            </a:r>
          </a:p>
          <a:p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  <a:r>
              <a:rPr lang="en-US" altLang="zh-TW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pi</a:t>
            </a:r>
            <a:endParaRPr sz="1500" b="1" dirty="0">
              <a:solidFill>
                <a:srgbClr val="4D6F2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D45C5ED-D427-5E00-A89B-4EA2CA9F10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873"/>
          <a:stretch>
            <a:fillRect/>
          </a:stretch>
        </p:blipFill>
        <p:spPr>
          <a:xfrm>
            <a:off x="6607278" y="533400"/>
            <a:ext cx="4763729" cy="574806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5E55E69-21CE-5363-C21E-24524FE35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84" y="1886411"/>
            <a:ext cx="579170" cy="63251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C6C6407-D94F-A26E-AEBA-8C270261A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0" y="1228725"/>
            <a:ext cx="4481114" cy="402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46248-E6D1-672E-F776-C7ACAA46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9D1CFC8-72E9-8D86-9FF1-EB6EAF8782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CE46A2-2434-5B3E-76A5-D8511BF7F01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458158-9DFE-916C-6F7E-5B24C6165099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安裝系統套件</a:t>
            </a:r>
            <a:r>
              <a:rPr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  <a:r>
              <a:rPr sz="270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虛擬環境</a:t>
            </a:r>
            <a:endParaRPr sz="2700" b="1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CD9CA0-615D-73C1-CF8B-8104C59A13E4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1340C4-EB02-CCB9-E087-EF853F3DDF6E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3AC45F-1DAF-84AF-48FA-B8BE016BE29B}"/>
              </a:ext>
            </a:extLst>
          </p:cNvPr>
          <p:cNvSpPr>
            <a:spLocks noGrp="1"/>
          </p:cNvSpPr>
          <p:nvPr/>
        </p:nvSpPr>
        <p:spPr>
          <a:xfrm>
            <a:off x="552449" y="1304925"/>
            <a:ext cx="2171085" cy="108431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或是使用</a:t>
            </a:r>
            <a:r>
              <a:rPr lang="en-US" altLang="zh-TW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PowerShell</a:t>
            </a:r>
          </a:p>
          <a:p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  <a:r>
              <a:rPr lang="en-US" altLang="zh-TW" sz="1500" b="1" dirty="0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pi</a:t>
            </a:r>
            <a:endParaRPr sz="1500" b="1" dirty="0">
              <a:solidFill>
                <a:srgbClr val="4D6F2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CAA6C98-0AD6-091C-6753-351456572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430" y="601735"/>
            <a:ext cx="6454699" cy="565453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1266A65-376B-F9BD-C5B8-7D406E0B0934}"/>
              </a:ext>
            </a:extLst>
          </p:cNvPr>
          <p:cNvSpPr txBox="1"/>
          <p:nvPr/>
        </p:nvSpPr>
        <p:spPr>
          <a:xfrm>
            <a:off x="552449" y="2143819"/>
            <a:ext cx="3911396" cy="377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zh-TW" altLang="zh-TW" dirty="0"/>
              <a:t>電腦（Windows）發現連接的遠端金鑰與之前記錄在 known_hosts 檔案中的不一樣，為資安考量（防止中間人攻擊）主動攔截連線</a:t>
            </a:r>
            <a:r>
              <a:rPr lang="zh-TW" altLang="en-US" dirty="0"/>
              <a:t>，</a:t>
            </a:r>
            <a:r>
              <a:rPr lang="zh-TW" altLang="zh-TW" sz="1800" b="0" u="none" strike="noStrike" dirty="0">
                <a:effectLst/>
                <a:latin typeface="+mn-lt"/>
              </a:rPr>
              <a:t>需要</a:t>
            </a:r>
            <a:r>
              <a:rPr lang="zh-TW" altLang="zh-TW" sz="1800" b="1" u="none" strike="noStrike" dirty="0">
                <a:effectLst/>
                <a:latin typeface="+mn-lt"/>
              </a:rPr>
              <a:t>清除電腦中舊的暫存金鑰</a:t>
            </a:r>
            <a:r>
              <a:rPr lang="zh-TW" altLang="zh-TW" sz="1800" b="0" u="none" strike="noStrike" dirty="0">
                <a:effectLst/>
                <a:latin typeface="+mn-lt"/>
              </a:rPr>
              <a:t>即可。請依照以下步驟操作：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zh-TW" altLang="zh-TW" sz="1800" b="1" u="none" strike="noStrike" dirty="0">
                <a:effectLst/>
                <a:latin typeface="+mn-lt"/>
              </a:rPr>
              <a:t>🛠️ 解決方法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zh-TW" altLang="zh-TW" sz="1800" b="0" u="none" strike="noStrike" dirty="0">
                <a:effectLst/>
                <a:latin typeface="+mn-lt"/>
              </a:rPr>
              <a:t>請直接在您的 Windows PowerShell 視窗中，複製並執行以下指令：</a:t>
            </a:r>
          </a:p>
          <a:p>
            <a:pPr marL="0" marR="0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zh-TW" altLang="zh-TW" sz="1800" b="0" u="none" strike="noStrike" dirty="0">
                <a:effectLst/>
                <a:latin typeface="+mn-lt"/>
              </a:rPr>
              <a:t>ssh-keygen -R 192.168.1.110</a:t>
            </a:r>
            <a:endParaRPr lang="zh-TW" altLang="zh-TW" sz="1050" b="0" u="none" strike="noStrike" dirty="0"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26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23C51-4A89-067D-779F-479397214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7E227B1-CBD2-F0B9-7158-5368B874AC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F4CBD3-F502-885F-7869-A982BD27E91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70BBD7-1E17-26D7-37A5-58B48726DF2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安裝系統套件</a:t>
            </a:r>
            <a:r>
              <a:rPr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  <a:r>
              <a:rPr sz="270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虛擬環境</a:t>
            </a:r>
            <a:endParaRPr sz="2700" b="1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4F5C80-7BAB-35C7-2B01-5F3B9AC0A29B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CF1F10-BAB9-79BF-59E1-85466F11AA87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2392B6F-F9E6-3028-0718-388DE9C21EA1}"/>
              </a:ext>
            </a:extLst>
          </p:cNvPr>
          <p:cNvSpPr>
            <a:spLocks noGrp="1"/>
          </p:cNvSpPr>
          <p:nvPr/>
        </p:nvSpPr>
        <p:spPr>
          <a:xfrm>
            <a:off x="666749" y="1385506"/>
            <a:ext cx="6249169" cy="4815270"/>
          </a:xfrm>
          <a:prstGeom prst="roundRect">
            <a:avLst>
              <a:gd name="adj" fmla="val 1818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EA5419-BE35-8766-C489-B5654291553C}"/>
              </a:ext>
            </a:extLst>
          </p:cNvPr>
          <p:cNvSpPr>
            <a:spLocks noGrp="1"/>
          </p:cNvSpPr>
          <p:nvPr/>
        </p:nvSpPr>
        <p:spPr>
          <a:xfrm>
            <a:off x="838198" y="1385504"/>
            <a:ext cx="6132873" cy="481526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============================================================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Raspberry Pi 5 + YOLO26 + Picamera2 + NCNN </a:t>
            </a:r>
            <a:r>
              <a:rPr lang="zh-TW" alt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安裝</a:t>
            </a:r>
            <a:endParaRPr lang="en-US" altLang="zh-TW" sz="1350" dirty="0">
              <a:solidFill>
                <a:srgbClr val="E8EEF2"/>
              </a:solidFill>
              <a:latin typeface="Consolas"/>
              <a:ea typeface="Consolas"/>
              <a:cs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Raspberry Pi OS Trixie / Python 3.13 / ARM64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============================================================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1. </a:t>
            </a:r>
            <a:r>
              <a:rPr lang="zh-TW" alt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更新系統</a:t>
            </a:r>
            <a:endParaRPr lang="en-US" altLang="zh-TW" sz="1350" dirty="0">
              <a:solidFill>
                <a:srgbClr val="E8EEF2"/>
              </a:solidFill>
              <a:latin typeface="Consolas"/>
              <a:ea typeface="Consolas"/>
              <a:cs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apt update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apt full-upgrade –y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endParaRPr lang="en-US" sz="1350" dirty="0">
              <a:solidFill>
                <a:srgbClr val="E8EEF2"/>
              </a:solidFill>
              <a:latin typeface="Consolas"/>
              <a:ea typeface="Consolas"/>
              <a:cs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2. </a:t>
            </a:r>
            <a:r>
              <a:rPr lang="zh-TW" alt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安裝 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Raspberry Pi </a:t>
            </a: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Camera、Python、OpenCV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zh-TW" alt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與基本工具</a:t>
            </a:r>
            <a:endParaRPr lang="en-US" altLang="zh-TW" sz="1350" dirty="0">
              <a:solidFill>
                <a:srgbClr val="E8EEF2"/>
              </a:solidFill>
              <a:latin typeface="Consolas"/>
              <a:ea typeface="Consolas"/>
              <a:cs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apt install -y \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python3-picamera2 \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python3-venv \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python3-pip \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python3-opencv \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libcamera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-apps \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v4l-utils \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git \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unzip# 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3. </a:t>
            </a:r>
            <a:r>
              <a:rPr lang="zh-TW" alt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清理 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APT </a:t>
            </a:r>
            <a:r>
              <a:rPr lang="zh-TW" alt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暫存，節省 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SD </a:t>
            </a:r>
            <a:r>
              <a:rPr lang="zh-TW" alt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卡空間</a:t>
            </a:r>
            <a:endParaRPr lang="en-US" altLang="zh-TW" sz="1350" dirty="0">
              <a:solidFill>
                <a:srgbClr val="E8EEF2"/>
              </a:solidFill>
              <a:latin typeface="Consolas"/>
              <a:ea typeface="Consolas"/>
              <a:cs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apt clean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apt </a:t>
            </a: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autoremove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–y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# 4. </a:t>
            </a:r>
            <a:r>
              <a:rPr lang="zh-TW" alt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重新啟動 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Raspberry Pi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en-US" sz="1350" dirty="0" err="1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sudo</a:t>
            </a:r>
            <a:r>
              <a:rPr lang="en-US" sz="1350" dirty="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reboot</a:t>
            </a:r>
            <a:endParaRPr sz="1350" b="0" dirty="0">
              <a:solidFill>
                <a:srgbClr val="E8EEF2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6996D5-A499-2622-EC95-30F10A97C3D3}"/>
              </a:ext>
            </a:extLst>
          </p:cNvPr>
          <p:cNvSpPr>
            <a:spLocks noGrp="1"/>
          </p:cNvSpPr>
          <p:nvPr/>
        </p:nvSpPr>
        <p:spPr>
          <a:xfrm>
            <a:off x="7200285" y="1318830"/>
            <a:ext cx="3935361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sz="1600" dirty="0"/>
              <a:t>重新 SSH 登入 Raspberry Pi 5 後，再執行：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5E71909-02EC-7DC9-8680-222480F7FDDC}"/>
              </a:ext>
            </a:extLst>
          </p:cNvPr>
          <p:cNvSpPr>
            <a:spLocks noGrp="1"/>
          </p:cNvSpPr>
          <p:nvPr/>
        </p:nvSpPr>
        <p:spPr>
          <a:xfrm>
            <a:off x="6971071" y="1661729"/>
            <a:ext cx="4857135" cy="4539043"/>
          </a:xfrm>
          <a:prstGeom prst="roundRect">
            <a:avLst>
              <a:gd name="adj" fmla="val 2424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E7B6F4-8C9A-52C7-90CA-5F9F5F99A0F7}"/>
              </a:ext>
            </a:extLst>
          </p:cNvPr>
          <p:cNvSpPr>
            <a:spLocks noGrp="1"/>
          </p:cNvSpPr>
          <p:nvPr/>
        </p:nvSpPr>
        <p:spPr>
          <a:xfrm>
            <a:off x="7026224" y="1814894"/>
            <a:ext cx="4670476" cy="413341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# =============================================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# 5. 建立 YOLO26 專案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# =============================================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endParaRPr lang="zh-TW" altLang="zh-TW" sz="1350" dirty="0">
              <a:solidFill>
                <a:srgbClr val="E8EEF2"/>
              </a:solidFill>
              <a:latin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mkdir -p ~/yolo26_lab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cd ~/yolo26_lab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endParaRPr lang="zh-TW" altLang="zh-TW" sz="1350" dirty="0">
              <a:solidFill>
                <a:srgbClr val="E8EEF2"/>
              </a:solidFill>
              <a:latin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# 建立 Python 虛擬環境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# --system-site-packages 讓 venv 可使用系統的 Picamera2 / OpenCV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python3 -m venv --system-site-packages .venv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endParaRPr lang="zh-TW" altLang="zh-TW" sz="1350" dirty="0">
              <a:solidFill>
                <a:srgbClr val="E8EEF2"/>
              </a:solidFill>
              <a:latin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# 啟動虛擬環境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source .venv/bin/activate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endParaRPr lang="zh-TW" altLang="zh-TW" sz="1350" dirty="0">
              <a:solidFill>
                <a:srgbClr val="E8EEF2"/>
              </a:solidFill>
              <a:latin typeface="Consolas"/>
            </a:endParaRP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# 更新 pip</a:t>
            </a:r>
          </a:p>
          <a:p>
            <a:pPr>
              <a:defRPr sz="1350" b="0">
                <a:solidFill>
                  <a:srgbClr val="E8EEF2"/>
                </a:solidFill>
                <a:latin typeface="Consolas"/>
                <a:ea typeface="Consolas"/>
                <a:cs typeface="Consolas"/>
              </a:defRPr>
            </a:pPr>
            <a:r>
              <a:rPr lang="zh-TW" altLang="zh-TW" sz="1350" dirty="0">
                <a:solidFill>
                  <a:srgbClr val="E8EEF2"/>
                </a:solidFill>
                <a:latin typeface="Consolas"/>
              </a:rPr>
              <a:t>python -m pip install --upgrade pip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4B60655-B449-245E-84FC-767F1C5F895B}"/>
              </a:ext>
            </a:extLst>
          </p:cNvPr>
          <p:cNvSpPr txBox="1"/>
          <p:nvPr/>
        </p:nvSpPr>
        <p:spPr>
          <a:xfrm>
            <a:off x="5343831" y="624530"/>
            <a:ext cx="5169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Raspberry Pi 5／Python 3.13／YOLO26／NCNN</a:t>
            </a:r>
            <a:r>
              <a:rPr lang="en-US" altLang="zh-TW" dirty="0"/>
              <a:t> </a:t>
            </a:r>
            <a:r>
              <a:rPr lang="zh-TW" altLang="en-US" dirty="0"/>
              <a:t>版本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7CE3654-DF16-A922-1C69-D43C57A5176F}"/>
              </a:ext>
            </a:extLst>
          </p:cNvPr>
          <p:cNvSpPr txBox="1"/>
          <p:nvPr/>
        </p:nvSpPr>
        <p:spPr>
          <a:xfrm>
            <a:off x="581025" y="6262224"/>
            <a:ext cx="10460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rgbClr val="FF0000"/>
                </a:solidFill>
              </a:rPr>
              <a:t>PyTorch 官方目前有提供 Python 3.13 + Linux AArch64 的 </a:t>
            </a:r>
            <a:r>
              <a:rPr lang="zh-TW" altLang="zh-TW" sz="1600" b="1" dirty="0">
                <a:solidFill>
                  <a:srgbClr val="FF0000"/>
                </a:solidFill>
                <a:latin typeface="+mn-lt"/>
              </a:rPr>
              <a:t>torch 2.14.0+cpu</a:t>
            </a:r>
            <a:r>
              <a:rPr lang="zh-TW" altLang="zh-TW" sz="1600" b="1" dirty="0">
                <a:solidFill>
                  <a:srgbClr val="FF0000"/>
                </a:solidFill>
              </a:rPr>
              <a:t> wheel，可以直接避開 CUDA 版本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r>
              <a:rPr lang="en-US" altLang="zh-TW" sz="1600" b="1" dirty="0">
                <a:solidFill>
                  <a:srgbClr val="FF0000"/>
                </a:solidFill>
              </a:rPr>
              <a:t>(</a:t>
            </a:r>
            <a:r>
              <a:rPr lang="zh-TW" altLang="zh-TW" sz="1600" dirty="0">
                <a:solidFill>
                  <a:srgbClr val="FF0000"/>
                </a:solidFill>
              </a:rPr>
              <a:t>Raspberry Pi 5 的 Broadcom VideoCore GPU 並不需要</a:t>
            </a:r>
            <a:r>
              <a:rPr lang="en-US" altLang="zh-TW" sz="1600" dirty="0">
                <a:solidFill>
                  <a:srgbClr val="FF0000"/>
                </a:solidFill>
              </a:rPr>
              <a:t>)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912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CC318-5470-630B-879D-30B0FDE5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405DBC9-F2EA-A87C-A2AF-9B3A087311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214AC2-1C0A-8DCC-2BB5-5C90AB0982C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D24477-C50D-B9DE-4982-68BDB3DFE5E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安裝系統套件</a:t>
            </a:r>
            <a:r>
              <a:rPr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  <a:r>
              <a:rPr sz="270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虛擬環境</a:t>
            </a:r>
            <a:endParaRPr sz="2700" b="1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0FB56A-A80E-ABD8-64B8-3C7BC30D456A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3F2036-7FC6-5CF9-543C-208EF282289E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EE5250F-87A8-2F2E-B095-A5813C2E20EE}"/>
              </a:ext>
            </a:extLst>
          </p:cNvPr>
          <p:cNvSpPr>
            <a:spLocks noGrp="1"/>
          </p:cNvSpPr>
          <p:nvPr/>
        </p:nvSpPr>
        <p:spPr>
          <a:xfrm>
            <a:off x="666750" y="1385506"/>
            <a:ext cx="5734052" cy="4815266"/>
          </a:xfrm>
          <a:prstGeom prst="roundRect">
            <a:avLst>
              <a:gd name="adj" fmla="val 1818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 sz="135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86EE15-637B-862C-EFD4-06A9EB5A7A94}"/>
              </a:ext>
            </a:extLst>
          </p:cNvPr>
          <p:cNvSpPr>
            <a:spLocks noGrp="1"/>
          </p:cNvSpPr>
          <p:nvPr/>
        </p:nvSpPr>
        <p:spPr>
          <a:xfrm>
            <a:off x="838199" y="1385505"/>
            <a:ext cx="5562602" cy="408699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sz="1350" dirty="0">
                <a:solidFill>
                  <a:schemeClr val="bg2"/>
                </a:solidFill>
              </a:rPr>
              <a:t># ============================================================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# 6. 重要：先安裝 CPU-only PyTorch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# 避免 Raspberry Pi 5 下載 NVIDIA CUDA / cuDNN 套件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# ============================================================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python -m pip install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torch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torchvision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--index-url https://download.pytorch.org/whl/cpu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# ============================================================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# 7. 安裝 YOLO26 / Flask</a:t>
            </a:r>
            <a:r>
              <a:rPr lang="zh-TW" altLang="en-US" sz="1350" dirty="0">
                <a:solidFill>
                  <a:schemeClr val="bg2"/>
                </a:solidFill>
              </a:rPr>
              <a:t> </a:t>
            </a:r>
            <a:r>
              <a:rPr lang="en-US" altLang="zh-TW" sz="1350" dirty="0">
                <a:solidFill>
                  <a:schemeClr val="bg2"/>
                </a:solidFill>
              </a:rPr>
              <a:t>(</a:t>
            </a:r>
            <a:r>
              <a:rPr lang="zh-TW" altLang="en-US" sz="1350" dirty="0">
                <a:solidFill>
                  <a:schemeClr val="bg2"/>
                </a:solidFill>
              </a:rPr>
              <a:t> </a:t>
            </a:r>
            <a:r>
              <a:rPr lang="zh-TW" altLang="zh-TW" sz="1350" dirty="0">
                <a:solidFill>
                  <a:schemeClr val="bg2"/>
                </a:solidFill>
              </a:rPr>
              <a:t>Web UI</a:t>
            </a:r>
            <a:r>
              <a:rPr lang="zh-TW" altLang="en-US" sz="1350" dirty="0">
                <a:solidFill>
                  <a:schemeClr val="bg2"/>
                </a:solidFill>
              </a:rPr>
              <a:t> </a:t>
            </a:r>
            <a:r>
              <a:rPr lang="en-US" altLang="zh-TW" sz="1350" dirty="0">
                <a:solidFill>
                  <a:schemeClr val="bg2"/>
                </a:solidFill>
              </a:rPr>
              <a:t>)</a:t>
            </a:r>
            <a:r>
              <a:rPr lang="zh-TW" altLang="zh-TW" sz="1350" dirty="0">
                <a:solidFill>
                  <a:schemeClr val="bg2"/>
                </a:solidFill>
              </a:rPr>
              <a:t> / NCNN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# ============================================================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python -m pip install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ultralytics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flask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ncnn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6BA6F9D-7464-DD8F-E98E-053E04B89EB9}"/>
              </a:ext>
            </a:extLst>
          </p:cNvPr>
          <p:cNvSpPr>
            <a:spLocks noGrp="1"/>
          </p:cNvSpPr>
          <p:nvPr/>
        </p:nvSpPr>
        <p:spPr>
          <a:xfrm>
            <a:off x="6489291" y="1181100"/>
            <a:ext cx="5338916" cy="5019673"/>
          </a:xfrm>
          <a:prstGeom prst="roundRect">
            <a:avLst>
              <a:gd name="adj" fmla="val 2424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75550E-8410-5ADC-4E03-F918F3C747F7}"/>
              </a:ext>
            </a:extLst>
          </p:cNvPr>
          <p:cNvSpPr>
            <a:spLocks noGrp="1"/>
          </p:cNvSpPr>
          <p:nvPr/>
        </p:nvSpPr>
        <p:spPr>
          <a:xfrm>
            <a:off x="6572250" y="1285875"/>
            <a:ext cx="5124450" cy="47862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sz="1350" dirty="0">
                <a:solidFill>
                  <a:schemeClr val="bg2"/>
                </a:solidFill>
              </a:rPr>
              <a:t># 8. 驗證安裝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python - &lt;&lt;'PY'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import sys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import torch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import cv2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import ultralytics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import ncnn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from picamera2 import Picamera2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print("========================================")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 Raspberry Pi 5 YOLO26 Environment")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print("========================================")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print("Python      :", sys.version.split()[0])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print("PyTorch     :", torch.__version__)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print("CUDA        :", torch.cuda.is_available())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print("OpenCV      :", cv2.__version__)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print("Ultralytics :", ultralytics.__version__)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print("NCNN        : OK")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print("Picamera2   : OK")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print("========================================")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print("YOLO26 environment installation SUCCESS")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print("========================================")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F00080-B447-071C-7437-ADD2A73837A8}"/>
              </a:ext>
            </a:extLst>
          </p:cNvPr>
          <p:cNvSpPr>
            <a:spLocks noGrp="1"/>
          </p:cNvSpPr>
          <p:nvPr/>
        </p:nvSpPr>
        <p:spPr>
          <a:xfrm>
            <a:off x="664292" y="6200775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CSI Camera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需要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system site packages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才能存取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apt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安裝的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Picamera2。USB Webcam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只用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OpenCV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時也可建立一般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venv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9520C49-0CDE-3947-5F98-967FAA913027}"/>
              </a:ext>
            </a:extLst>
          </p:cNvPr>
          <p:cNvSpPr txBox="1"/>
          <p:nvPr/>
        </p:nvSpPr>
        <p:spPr>
          <a:xfrm>
            <a:off x="5113389" y="606928"/>
            <a:ext cx="5169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Raspberry Pi 5／Python 3.13／YOLO26／NCNN</a:t>
            </a:r>
            <a:r>
              <a:rPr lang="en-US" altLang="zh-TW" dirty="0"/>
              <a:t> </a:t>
            </a:r>
            <a:r>
              <a:rPr lang="zh-TW" altLang="en-US" dirty="0"/>
              <a:t>版本</a:t>
            </a:r>
          </a:p>
        </p:txBody>
      </p:sp>
    </p:spTree>
    <p:extLst>
      <p:ext uri="{BB962C8B-B14F-4D97-AF65-F5344CB8AC3E}">
        <p14:creationId xmlns:p14="http://schemas.microsoft.com/office/powerpoint/2010/main" val="2986944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7F0D3-5F4A-743B-7F6F-C3638715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ABAB197-E7BC-CDAD-615E-C1470C9E3F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FFDBFB-C31A-A748-8202-EBBCF6A8A8A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B6D2F-63E3-D7D3-4A28-3ECA50175E4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安裝系統套件</a:t>
            </a:r>
            <a:r>
              <a:rPr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lang="zh-TW" altLang="en-US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  <a:r>
              <a:rPr sz="270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虛擬環境</a:t>
            </a:r>
            <a:endParaRPr sz="2700" b="1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84E914-1C56-E374-1FAC-B5F0917133E6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B1193B-4AEB-BC43-7D2D-E3D1BD24E5C8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FC8289F-0CE8-6516-D25E-42BFE18388B6}"/>
              </a:ext>
            </a:extLst>
          </p:cNvPr>
          <p:cNvSpPr>
            <a:spLocks noGrp="1"/>
          </p:cNvSpPr>
          <p:nvPr/>
        </p:nvSpPr>
        <p:spPr>
          <a:xfrm>
            <a:off x="581023" y="1583188"/>
            <a:ext cx="5734052" cy="438150"/>
          </a:xfrm>
          <a:prstGeom prst="roundRect">
            <a:avLst>
              <a:gd name="adj" fmla="val 1818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 sz="135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8F16F4-2CC3-9C9F-BF3B-58EBB54AD242}"/>
              </a:ext>
            </a:extLst>
          </p:cNvPr>
          <p:cNvSpPr>
            <a:spLocks noGrp="1"/>
          </p:cNvSpPr>
          <p:nvPr/>
        </p:nvSpPr>
        <p:spPr>
          <a:xfrm>
            <a:off x="517116" y="1577536"/>
            <a:ext cx="5562602" cy="39413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dirty="0">
                <a:solidFill>
                  <a:schemeClr val="bg2"/>
                </a:solidFill>
              </a:rPr>
              <a:t>rpicam-hello --list-cameras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7AA8B1B-5D81-3F4B-9018-921E57981021}"/>
              </a:ext>
            </a:extLst>
          </p:cNvPr>
          <p:cNvSpPr>
            <a:spLocks noGrp="1"/>
          </p:cNvSpPr>
          <p:nvPr/>
        </p:nvSpPr>
        <p:spPr>
          <a:xfrm>
            <a:off x="6474542" y="1551960"/>
            <a:ext cx="5338916" cy="4648815"/>
          </a:xfrm>
          <a:prstGeom prst="roundRect">
            <a:avLst>
              <a:gd name="adj" fmla="val 2424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45DA8A-941E-D0D3-A563-80D6723A27AF}"/>
              </a:ext>
            </a:extLst>
          </p:cNvPr>
          <p:cNvSpPr>
            <a:spLocks noGrp="1"/>
          </p:cNvSpPr>
          <p:nvPr/>
        </p:nvSpPr>
        <p:spPr>
          <a:xfrm>
            <a:off x="6504960" y="1551960"/>
            <a:ext cx="5308497" cy="45661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sz="1200" dirty="0">
                <a:solidFill>
                  <a:schemeClr val="bg2"/>
                </a:solidFill>
              </a:rPr>
              <a:t>python - &lt;&lt;'PY'</a:t>
            </a:r>
          </a:p>
          <a:p>
            <a:r>
              <a:rPr lang="zh-TW" altLang="zh-TW" sz="1200" dirty="0">
                <a:solidFill>
                  <a:schemeClr val="bg2"/>
                </a:solidFill>
              </a:rPr>
              <a:t>from picamera2 import Picamera2</a:t>
            </a:r>
            <a:endParaRPr lang="en-US" altLang="zh-TW" sz="1200" dirty="0">
              <a:solidFill>
                <a:schemeClr val="bg2"/>
              </a:solidFill>
            </a:endParaRPr>
          </a:p>
          <a:p>
            <a:r>
              <a:rPr lang="zh-TW" altLang="zh-TW" sz="1200" dirty="0">
                <a:solidFill>
                  <a:schemeClr val="bg2"/>
                </a:solidFill>
              </a:rPr>
              <a:t>from libcamera import Transform</a:t>
            </a:r>
          </a:p>
          <a:p>
            <a:r>
              <a:rPr lang="zh-TW" altLang="zh-TW" sz="1200" dirty="0">
                <a:solidFill>
                  <a:schemeClr val="bg2"/>
                </a:solidFill>
              </a:rPr>
              <a:t>import time</a:t>
            </a:r>
          </a:p>
          <a:p>
            <a:endParaRPr lang="zh-TW" altLang="zh-TW" sz="1200" dirty="0">
              <a:solidFill>
                <a:schemeClr val="bg2"/>
              </a:solidFill>
            </a:endParaRPr>
          </a:p>
          <a:p>
            <a:r>
              <a:rPr lang="zh-TW" altLang="zh-TW" sz="1200" dirty="0">
                <a:solidFill>
                  <a:schemeClr val="bg2"/>
                </a:solidFill>
              </a:rPr>
              <a:t>picam2 = Picamera2()</a:t>
            </a:r>
          </a:p>
          <a:p>
            <a:endParaRPr lang="zh-TW" altLang="zh-TW" sz="1200" dirty="0">
              <a:solidFill>
                <a:schemeClr val="bg2"/>
              </a:solidFill>
            </a:endParaRPr>
          </a:p>
          <a:p>
            <a:r>
              <a:rPr lang="zh-TW" altLang="zh-TW" sz="1200" dirty="0">
                <a:solidFill>
                  <a:schemeClr val="bg2"/>
                </a:solidFill>
              </a:rPr>
              <a:t>config = picam2.create_still_configuration(</a:t>
            </a:r>
          </a:p>
          <a:p>
            <a:r>
              <a:rPr lang="zh-TW" altLang="zh-TW" sz="1200" dirty="0">
                <a:solidFill>
                  <a:schemeClr val="bg2"/>
                </a:solidFill>
              </a:rPr>
              <a:t>    main={"size": (640, 480)}</a:t>
            </a:r>
            <a:endParaRPr lang="en-US" altLang="zh-TW" sz="1200" dirty="0">
              <a:solidFill>
                <a:schemeClr val="bg2"/>
              </a:solidFill>
            </a:endParaRPr>
          </a:p>
          <a:p>
            <a:r>
              <a:rPr lang="zh-TW" altLang="en-US" sz="1200" dirty="0">
                <a:solidFill>
                  <a:schemeClr val="bg2"/>
                </a:solidFill>
              </a:rPr>
              <a:t>   </a:t>
            </a:r>
            <a:r>
              <a:rPr lang="zh-TW" altLang="zh-TW" sz="1200" dirty="0">
                <a:solidFill>
                  <a:schemeClr val="bg2"/>
                </a:solidFill>
              </a:rPr>
              <a:t> transform=Transform(hflip=True, vflip=True)</a:t>
            </a:r>
            <a:r>
              <a:rPr lang="zh-TW" altLang="en-US" sz="1200" dirty="0">
                <a:solidFill>
                  <a:schemeClr val="bg2"/>
                </a:solidFill>
              </a:rPr>
              <a:t> </a:t>
            </a:r>
            <a:r>
              <a:rPr lang="en-US" altLang="zh-TW" sz="1200" dirty="0">
                <a:solidFill>
                  <a:schemeClr val="bg2"/>
                </a:solidFill>
              </a:rPr>
              <a:t>//</a:t>
            </a:r>
            <a:r>
              <a:rPr lang="zh-TW" altLang="en-US" sz="1200" dirty="0">
                <a:solidFill>
                  <a:schemeClr val="bg2"/>
                </a:solidFill>
              </a:rPr>
              <a:t> 如果</a:t>
            </a:r>
            <a:r>
              <a:rPr lang="zh-TW" altLang="zh-TW" sz="1200" dirty="0">
                <a:solidFill>
                  <a:schemeClr val="bg2"/>
                </a:solidFill>
              </a:rPr>
              <a:t>影像需要做 </a:t>
            </a:r>
            <a:r>
              <a:rPr lang="zh-TW" altLang="zh-TW" sz="1200" b="1" dirty="0">
                <a:solidFill>
                  <a:schemeClr val="bg2"/>
                </a:solidFill>
              </a:rPr>
              <a:t>180° 旋轉</a:t>
            </a:r>
            <a:endParaRPr lang="zh-TW" altLang="zh-TW" sz="1200" dirty="0">
              <a:solidFill>
                <a:schemeClr val="bg2"/>
              </a:solidFill>
            </a:endParaRPr>
          </a:p>
          <a:p>
            <a:r>
              <a:rPr lang="zh-TW" altLang="zh-TW" sz="1200" dirty="0">
                <a:solidFill>
                  <a:schemeClr val="bg2"/>
                </a:solidFill>
              </a:rPr>
              <a:t>)</a:t>
            </a:r>
          </a:p>
          <a:p>
            <a:endParaRPr lang="zh-TW" altLang="zh-TW" sz="1200" dirty="0">
              <a:solidFill>
                <a:schemeClr val="bg2"/>
              </a:solidFill>
            </a:endParaRPr>
          </a:p>
          <a:p>
            <a:r>
              <a:rPr lang="zh-TW" altLang="zh-TW" sz="1200" dirty="0">
                <a:solidFill>
                  <a:schemeClr val="bg2"/>
                </a:solidFill>
              </a:rPr>
              <a:t>picam2.configure(config)</a:t>
            </a:r>
          </a:p>
          <a:p>
            <a:r>
              <a:rPr lang="zh-TW" altLang="zh-TW" sz="1200" dirty="0">
                <a:solidFill>
                  <a:schemeClr val="bg2"/>
                </a:solidFill>
              </a:rPr>
              <a:t>picam2.start()</a:t>
            </a:r>
          </a:p>
          <a:p>
            <a:endParaRPr lang="zh-TW" altLang="zh-TW" sz="1200" dirty="0">
              <a:solidFill>
                <a:schemeClr val="bg2"/>
              </a:solidFill>
            </a:endParaRPr>
          </a:p>
          <a:p>
            <a:r>
              <a:rPr lang="zh-TW" altLang="zh-TW" sz="1200" dirty="0">
                <a:solidFill>
                  <a:schemeClr val="bg2"/>
                </a:solidFill>
              </a:rPr>
              <a:t>time.sleep(2)</a:t>
            </a:r>
          </a:p>
          <a:p>
            <a:endParaRPr lang="zh-TW" altLang="zh-TW" sz="1200" dirty="0">
              <a:solidFill>
                <a:schemeClr val="bg2"/>
              </a:solidFill>
            </a:endParaRPr>
          </a:p>
          <a:p>
            <a:r>
              <a:rPr lang="zh-TW" altLang="zh-TW" sz="1200" dirty="0">
                <a:solidFill>
                  <a:schemeClr val="bg2"/>
                </a:solidFill>
              </a:rPr>
              <a:t>picam2.capture_file("camera_test.jpg")</a:t>
            </a:r>
          </a:p>
          <a:p>
            <a:r>
              <a:rPr lang="zh-TW" altLang="zh-TW" sz="1200" dirty="0">
                <a:solidFill>
                  <a:schemeClr val="bg2"/>
                </a:solidFill>
              </a:rPr>
              <a:t>picam2.stop()</a:t>
            </a:r>
          </a:p>
          <a:p>
            <a:endParaRPr lang="zh-TW" altLang="zh-TW" sz="1200" dirty="0">
              <a:solidFill>
                <a:schemeClr val="bg2"/>
              </a:solidFill>
            </a:endParaRPr>
          </a:p>
          <a:p>
            <a:r>
              <a:rPr lang="zh-TW" altLang="zh-TW" sz="1200" dirty="0">
                <a:solidFill>
                  <a:schemeClr val="bg2"/>
                </a:solidFill>
              </a:rPr>
              <a:t>print("Camera OK")</a:t>
            </a:r>
          </a:p>
          <a:p>
            <a:r>
              <a:rPr lang="zh-TW" altLang="zh-TW" sz="1200" dirty="0">
                <a:solidFill>
                  <a:schemeClr val="bg2"/>
                </a:solidFill>
              </a:rPr>
              <a:t>print("180-degree rotation: ON")</a:t>
            </a:r>
          </a:p>
          <a:p>
            <a:r>
              <a:rPr lang="zh-TW" altLang="zh-TW" sz="1200" dirty="0">
                <a:solidFill>
                  <a:schemeClr val="bg2"/>
                </a:solidFill>
              </a:rPr>
              <a:t>print("Image saved: camera_test.jpg")</a:t>
            </a:r>
          </a:p>
          <a:p>
            <a:r>
              <a:rPr lang="zh-TW" altLang="zh-TW" sz="1200" dirty="0">
                <a:solidFill>
                  <a:schemeClr val="bg2"/>
                </a:solidFill>
              </a:rPr>
              <a:t>PY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37627A-287D-6247-292A-BF1D51398E1A}"/>
              </a:ext>
            </a:extLst>
          </p:cNvPr>
          <p:cNvSpPr>
            <a:spLocks noGrp="1"/>
          </p:cNvSpPr>
          <p:nvPr/>
        </p:nvSpPr>
        <p:spPr>
          <a:xfrm>
            <a:off x="664292" y="6200775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CSI Camera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需要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system site packages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才能存取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apt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安裝的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Picamera2。USB Webcam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只用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OpenCV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時也可建立一般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00" b="0" dirty="0" err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venv</a:t>
            </a:r>
            <a:r>
              <a:rPr sz="1500" b="0" dirty="0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845273-1F7E-E040-C64E-151EE3D09767}"/>
              </a:ext>
            </a:extLst>
          </p:cNvPr>
          <p:cNvSpPr txBox="1"/>
          <p:nvPr/>
        </p:nvSpPr>
        <p:spPr>
          <a:xfrm>
            <a:off x="5113389" y="606928"/>
            <a:ext cx="5169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Raspberry Pi 5／Python 3.13／YOLO26／NCNN</a:t>
            </a:r>
            <a:r>
              <a:rPr lang="en-US" altLang="zh-TW" dirty="0"/>
              <a:t> </a:t>
            </a:r>
            <a:r>
              <a:rPr lang="zh-TW" altLang="en-US" dirty="0"/>
              <a:t>版本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A0D758B-24C4-6604-70A4-3F226D41C661}"/>
              </a:ext>
            </a:extLst>
          </p:cNvPr>
          <p:cNvSpPr txBox="1"/>
          <p:nvPr/>
        </p:nvSpPr>
        <p:spPr>
          <a:xfrm>
            <a:off x="495300" y="12735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進入</a:t>
            </a:r>
            <a:r>
              <a:rPr lang="zh-TW" altLang="zh-TW" b="1" dirty="0"/>
              <a:t>相機驗證</a:t>
            </a:r>
            <a:r>
              <a:rPr lang="zh-TW" altLang="zh-TW" dirty="0"/>
              <a:t>：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676D6F7-DB21-48DC-C46D-5A91317D74C9}"/>
              </a:ext>
            </a:extLst>
          </p:cNvPr>
          <p:cNvSpPr txBox="1"/>
          <p:nvPr/>
        </p:nvSpPr>
        <p:spPr>
          <a:xfrm>
            <a:off x="488236" y="20478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如果能列出 Raspberry Pi Camera</a:t>
            </a:r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0186AF44-A2F8-C279-C795-F96998D99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373735"/>
            <a:ext cx="4924118" cy="1076301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23E03B6C-CEE3-4EBF-FC94-EB7E5B1B6B31}"/>
              </a:ext>
            </a:extLst>
          </p:cNvPr>
          <p:cNvSpPr txBox="1"/>
          <p:nvPr/>
        </p:nvSpPr>
        <p:spPr>
          <a:xfrm>
            <a:off x="6555042" y="1214734"/>
            <a:ext cx="114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再執行：</a:t>
            </a:r>
            <a:endParaRPr lang="zh-TW" altLang="en-US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C4D95C82-1EF7-76A2-F566-5C32F3907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23" y="4296678"/>
            <a:ext cx="4942245" cy="1742525"/>
          </a:xfrm>
          <a:prstGeom prst="rect">
            <a:avLst/>
          </a:prstGeom>
        </p:spPr>
      </p:pic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9A68CE8D-2ADF-4CCE-8ABC-7C7AA91064C7}"/>
              </a:ext>
            </a:extLst>
          </p:cNvPr>
          <p:cNvSpPr/>
          <p:nvPr/>
        </p:nvSpPr>
        <p:spPr>
          <a:xfrm>
            <a:off x="5614219" y="2674374"/>
            <a:ext cx="700856" cy="521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D9B56637-4B0C-DDDF-512D-8995612605D5}"/>
              </a:ext>
            </a:extLst>
          </p:cNvPr>
          <p:cNvSpPr/>
          <p:nvPr/>
        </p:nvSpPr>
        <p:spPr>
          <a:xfrm flipH="1">
            <a:off x="5583801" y="4907385"/>
            <a:ext cx="700856" cy="5211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157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2FDBB11D-CD82-DE18-540D-28252FDCCD7D}"/>
              </a:ext>
            </a:extLst>
          </p:cNvPr>
          <p:cNvSpPr>
            <a:spLocks noGrp="1"/>
          </p:cNvSpPr>
          <p:nvPr/>
        </p:nvSpPr>
        <p:spPr>
          <a:xfrm>
            <a:off x="6057899" y="5308993"/>
            <a:ext cx="5095875" cy="369332"/>
          </a:xfrm>
          <a:prstGeom prst="roundRect">
            <a:avLst>
              <a:gd name="adj" fmla="val 2462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481F814-2FF0-9662-0447-AE1A9D6F3D26}"/>
              </a:ext>
            </a:extLst>
          </p:cNvPr>
          <p:cNvSpPr>
            <a:spLocks noGrp="1"/>
          </p:cNvSpPr>
          <p:nvPr/>
        </p:nvSpPr>
        <p:spPr>
          <a:xfrm>
            <a:off x="6095999" y="3318257"/>
            <a:ext cx="5095875" cy="1666698"/>
          </a:xfrm>
          <a:prstGeom prst="roundRect">
            <a:avLst>
              <a:gd name="adj" fmla="val 2462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7CEC68-DB00-4DC1-ADE4-F4C25682C5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45B028-7D70-4E15-BA43-E6C3BE08D9F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BCEB81-8A12-43F2-BD1D-8239A1D9C64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YOLO26 模型選擇與載入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E2DD16-E1A8-499F-B854-567E6286ED68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CF2B3E-BA62-402C-AF1B-A5584419A262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019A2F-FC80-43A1-BC83-658D2B9A3A5E}"/>
              </a:ext>
            </a:extLst>
          </p:cNvPr>
          <p:cNvSpPr>
            <a:spLocks noGrp="1"/>
          </p:cNvSpPr>
          <p:nvPr/>
        </p:nvSpPr>
        <p:spPr>
          <a:xfrm>
            <a:off x="781050" y="1393177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dirty="0" err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建議起點</a:t>
            </a:r>
            <a:endParaRPr sz="2025" b="1" dirty="0">
              <a:solidFill>
                <a:srgbClr val="4D6F2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57204B-8D46-48BD-B9B6-31CB598D386A}"/>
              </a:ext>
            </a:extLst>
          </p:cNvPr>
          <p:cNvSpPr>
            <a:spLocks noGrp="1"/>
          </p:cNvSpPr>
          <p:nvPr/>
        </p:nvSpPr>
        <p:spPr>
          <a:xfrm>
            <a:off x="781050" y="1643062"/>
            <a:ext cx="4095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1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dirty="0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yolo26n.pt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B0E089-B2E2-4FCD-B7B1-DB2A65E8E8DE}"/>
              </a:ext>
            </a:extLst>
          </p:cNvPr>
          <p:cNvSpPr>
            <a:spLocks noGrp="1"/>
          </p:cNvSpPr>
          <p:nvPr/>
        </p:nvSpPr>
        <p:spPr>
          <a:xfrm>
            <a:off x="647701" y="2206050"/>
            <a:ext cx="4857750" cy="2190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先用官方權重確認環境與流程</a:t>
            </a:r>
          </a:p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自訂 best.pt 用於交通號誌或校園場景</a:t>
            </a:r>
          </a:p>
          <a:p>
            <a:pPr marL="266700" indent="-127000">
              <a:spcAft>
                <a:spcPts val="1100"/>
              </a:spcAft>
              <a:buChar char="•"/>
              <a:def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分割需求才改用 yolo26n-seg.pt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E072C36-884C-4C06-B10A-D50A08908F42}"/>
              </a:ext>
            </a:extLst>
          </p:cNvPr>
          <p:cNvSpPr>
            <a:spLocks noGrp="1"/>
          </p:cNvSpPr>
          <p:nvPr/>
        </p:nvSpPr>
        <p:spPr>
          <a:xfrm>
            <a:off x="6096000" y="1695451"/>
            <a:ext cx="5095875" cy="1257300"/>
          </a:xfrm>
          <a:prstGeom prst="roundRect">
            <a:avLst>
              <a:gd name="adj" fmla="val 2462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303BDE-E1F4-4FCB-8B9A-98B714F3DF03}"/>
              </a:ext>
            </a:extLst>
          </p:cNvPr>
          <p:cNvSpPr>
            <a:spLocks noGrp="1"/>
          </p:cNvSpPr>
          <p:nvPr/>
        </p:nvSpPr>
        <p:spPr>
          <a:xfrm>
            <a:off x="6191250" y="1729265"/>
            <a:ext cx="4752975" cy="122348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sz="1350" dirty="0">
                <a:solidFill>
                  <a:schemeClr val="bg2"/>
                </a:solidFill>
              </a:rPr>
              <a:t>cd ~/yolo26_lab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source .venv/bin/activate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ls -lh camera_test.jpg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file camera_test.jpg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D95195-CBFF-459B-B7CB-C3BA608EE497}"/>
              </a:ext>
            </a:extLst>
          </p:cNvPr>
          <p:cNvSpPr>
            <a:spLocks noGrp="1"/>
          </p:cNvSpPr>
          <p:nvPr/>
        </p:nvSpPr>
        <p:spPr>
          <a:xfrm>
            <a:off x="647701" y="3485205"/>
            <a:ext cx="5200652" cy="59376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75" b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dirty="0" err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第一次執行會下載權重。Pi</a:t>
            </a:r>
            <a:r>
              <a:rPr sz="1575" b="1" dirty="0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575" b="1" dirty="0" err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無法連線時，先在</a:t>
            </a:r>
            <a:r>
              <a:rPr sz="1575" b="1" dirty="0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 Windows </a:t>
            </a:r>
            <a:r>
              <a:rPr sz="1575" b="1" dirty="0" err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下載，再以</a:t>
            </a:r>
            <a:r>
              <a:rPr sz="1575" b="1" dirty="0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 WinSCP </a:t>
            </a:r>
            <a:r>
              <a:rPr sz="1575" b="1" dirty="0" err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傳入</a:t>
            </a:r>
            <a:r>
              <a:rPr sz="1575" b="1" dirty="0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 models </a:t>
            </a:r>
            <a:r>
              <a:rPr sz="1575" b="1" dirty="0" err="1">
                <a:solidFill>
                  <a:srgbClr val="B64B36"/>
                </a:solidFill>
                <a:latin typeface="Microsoft JhengHei"/>
                <a:ea typeface="Microsoft JhengHei"/>
                <a:cs typeface="Microsoft JhengHei"/>
              </a:rPr>
              <a:t>目錄</a:t>
            </a:r>
            <a:endParaRPr sz="1575" b="1" dirty="0">
              <a:solidFill>
                <a:srgbClr val="B64B3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567D431-0697-1CA8-0B43-8C0CB5366351}"/>
              </a:ext>
            </a:extLst>
          </p:cNvPr>
          <p:cNvSpPr txBox="1"/>
          <p:nvPr/>
        </p:nvSpPr>
        <p:spPr>
          <a:xfrm>
            <a:off x="1619250" y="1047750"/>
            <a:ext cx="7087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下一步直接做 </a:t>
            </a:r>
            <a:r>
              <a:rPr lang="zh-TW" altLang="zh-TW" b="1" dirty="0"/>
              <a:t>YOLO26n → 單張照片推論 → NCNN 匯出 → NCNN 推論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68D0614-8B2A-1350-39C6-AB016A4FD5C8}"/>
              </a:ext>
            </a:extLst>
          </p:cNvPr>
          <p:cNvSpPr txBox="1"/>
          <p:nvPr/>
        </p:nvSpPr>
        <p:spPr>
          <a:xfrm>
            <a:off x="5981702" y="13832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b="1" dirty="0"/>
              <a:t>1. 先確認照片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EC2ABCA-A56C-1E62-2B9A-933E7DAECDB4}"/>
              </a:ext>
            </a:extLst>
          </p:cNvPr>
          <p:cNvSpPr txBox="1"/>
          <p:nvPr/>
        </p:nvSpPr>
        <p:spPr>
          <a:xfrm>
            <a:off x="5981702" y="2955964"/>
            <a:ext cx="3250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2. 用 YOLO26n 對剛才照片推論</a:t>
            </a:r>
            <a:endParaRPr lang="zh-TW" altLang="en-US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3AD14D2-ED78-578B-1A1E-14649C31AB73}"/>
              </a:ext>
            </a:extLst>
          </p:cNvPr>
          <p:cNvSpPr txBox="1"/>
          <p:nvPr/>
        </p:nvSpPr>
        <p:spPr>
          <a:xfrm>
            <a:off x="6177577" y="3363487"/>
            <a:ext cx="4947623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yolo predict \</a:t>
            </a:r>
          </a:p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    model=yolo26n.pt \</a:t>
            </a:r>
          </a:p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    source=camera_test.jpg \</a:t>
            </a:r>
          </a:p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    imgsz=640 \</a:t>
            </a:r>
          </a:p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    conf=0.25 \</a:t>
            </a:r>
          </a:p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    device=cpu \</a:t>
            </a:r>
          </a:p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    save=True</a:t>
            </a:r>
            <a:endParaRPr lang="zh-TW" altLang="zh-TW" sz="1350" dirty="0">
              <a:solidFill>
                <a:schemeClr val="bg2"/>
              </a:solidFill>
              <a:latin typeface="Courier New" panose="02070309020205020404" pitchFamily="49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A6348A7-8F0D-76B0-5174-B7AAF865C16A}"/>
              </a:ext>
            </a:extLst>
          </p:cNvPr>
          <p:cNvSpPr txBox="1"/>
          <p:nvPr/>
        </p:nvSpPr>
        <p:spPr>
          <a:xfrm>
            <a:off x="6019800" y="4996933"/>
            <a:ext cx="5172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完成後查看：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EF11A2E-BF23-580C-A97A-684A34FE5E5C}"/>
              </a:ext>
            </a:extLst>
          </p:cNvPr>
          <p:cNvSpPr txBox="1"/>
          <p:nvPr/>
        </p:nvSpPr>
        <p:spPr>
          <a:xfrm>
            <a:off x="6120428" y="5342656"/>
            <a:ext cx="517207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find runs/detect -type f</a:t>
            </a:r>
            <a:endParaRPr lang="zh-TW" altLang="zh-TW" sz="1350" dirty="0">
              <a:solidFill>
                <a:schemeClr val="bg2"/>
              </a:solidFill>
              <a:latin typeface="Courier New" panose="02070309020205020404" pitchFamily="49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040C157-82AC-68B1-A3CE-2208331C1973}"/>
              </a:ext>
            </a:extLst>
          </p:cNvPr>
          <p:cNvSpPr txBox="1"/>
          <p:nvPr/>
        </p:nvSpPr>
        <p:spPr>
          <a:xfrm>
            <a:off x="705232" y="4051102"/>
            <a:ext cx="51362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dirty="0"/>
              <a:t>如果想從 Windows 電腦把辨識結果抓回來看，在 </a:t>
            </a:r>
            <a:r>
              <a:rPr lang="zh-TW" altLang="zh-TW" sz="1400" b="1" dirty="0"/>
              <a:t>Windows PowerShell</a:t>
            </a:r>
            <a:r>
              <a:rPr lang="zh-TW" altLang="zh-TW" sz="1400" dirty="0"/>
              <a:t> 執行：scp rpi5@192.168.1.110:/home/rpi5/yolo26_lab/runs/detect/predict/camera_test.jpg .</a:t>
            </a:r>
            <a:endParaRPr lang="en-US" altLang="zh-TW" sz="1400" dirty="0"/>
          </a:p>
          <a:p>
            <a:r>
              <a:rPr lang="zh-TW" altLang="en-US" sz="1400" dirty="0"/>
              <a:t>或是：使用 </a:t>
            </a:r>
            <a:r>
              <a:rPr lang="en-US" altLang="zh-TW" sz="1400" dirty="0"/>
              <a:t>WinSCP</a:t>
            </a:r>
            <a:r>
              <a:rPr lang="zh-TW" altLang="en-US" sz="1400" dirty="0"/>
              <a:t> 由 </a:t>
            </a:r>
            <a:r>
              <a:rPr lang="en-US" altLang="zh-TW" sz="1400" dirty="0"/>
              <a:t>PI</a:t>
            </a:r>
            <a:r>
              <a:rPr lang="zh-TW" altLang="en-US" sz="1400" dirty="0"/>
              <a:t>端 傳輸到 </a:t>
            </a:r>
            <a:r>
              <a:rPr lang="en-US" altLang="zh-TW" sz="1400" dirty="0"/>
              <a:t>PC</a:t>
            </a:r>
            <a:r>
              <a:rPr lang="zh-TW" altLang="en-US" sz="1400" dirty="0"/>
              <a:t>端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B6D4711A-B6FB-8F12-D33E-5947833F3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14" y="5206305"/>
            <a:ext cx="5124827" cy="143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08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44E3DE1-E6C9-D09F-DEC7-B974EA7601F5}"/>
              </a:ext>
            </a:extLst>
          </p:cNvPr>
          <p:cNvSpPr>
            <a:spLocks noGrp="1"/>
          </p:cNvSpPr>
          <p:nvPr/>
        </p:nvSpPr>
        <p:spPr>
          <a:xfrm>
            <a:off x="605913" y="4614225"/>
            <a:ext cx="7000875" cy="1977075"/>
          </a:xfrm>
          <a:prstGeom prst="roundRect">
            <a:avLst>
              <a:gd name="adj" fmla="val 1684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543E8AB2-6313-A0ED-84D3-6E7BDEBB9CB8}"/>
              </a:ext>
            </a:extLst>
          </p:cNvPr>
          <p:cNvSpPr>
            <a:spLocks noGrp="1"/>
          </p:cNvSpPr>
          <p:nvPr/>
        </p:nvSpPr>
        <p:spPr>
          <a:xfrm>
            <a:off x="628649" y="3581709"/>
            <a:ext cx="7000875" cy="646331"/>
          </a:xfrm>
          <a:prstGeom prst="roundRect">
            <a:avLst>
              <a:gd name="adj" fmla="val 1684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034F35-0CB4-4302-BDB7-EA266003E5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2B5362-B595-4F7E-9826-31D28A3C444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DFB6B5-7DE6-481D-9765-0A73B287F9C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sz="2700" b="1" dirty="0">
                <a:solidFill>
                  <a:srgbClr val="17212B"/>
                </a:solidFill>
                <a:latin typeface="Microsoft JhengHei"/>
              </a:rPr>
              <a:t>YOLO26n 匯出成 NCNN</a:t>
            </a:r>
            <a:endParaRPr sz="2700" b="1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536F28-EB2C-4512-915F-C70F82A5B039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04370E-0562-4939-81DB-BC4D86C58029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243AA08-B950-45A0-A63B-2578AC89FA0E}"/>
              </a:ext>
            </a:extLst>
          </p:cNvPr>
          <p:cNvSpPr>
            <a:spLocks noGrp="1"/>
          </p:cNvSpPr>
          <p:nvPr/>
        </p:nvSpPr>
        <p:spPr>
          <a:xfrm>
            <a:off x="628650" y="1375898"/>
            <a:ext cx="7000875" cy="1814975"/>
          </a:xfrm>
          <a:prstGeom prst="roundRect">
            <a:avLst>
              <a:gd name="adj" fmla="val 1684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4D1881-4FBC-4160-9C43-06A7F5129080}"/>
              </a:ext>
            </a:extLst>
          </p:cNvPr>
          <p:cNvSpPr>
            <a:spLocks noGrp="1"/>
          </p:cNvSpPr>
          <p:nvPr/>
        </p:nvSpPr>
        <p:spPr>
          <a:xfrm>
            <a:off x="800100" y="1442276"/>
            <a:ext cx="6657975" cy="165488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sz="1350" dirty="0">
                <a:solidFill>
                  <a:schemeClr val="bg2"/>
                </a:solidFill>
              </a:rPr>
              <a:t>cd ~/yolo26_lab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python -m pip install pnnx==20260526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yolo export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model=yolo26n.pt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format=ncnn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imgsz=640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device=cpu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9D1087-4F06-42F4-86E1-9CC81167E750}"/>
              </a:ext>
            </a:extLst>
          </p:cNvPr>
          <p:cNvSpPr>
            <a:spLocks noGrp="1"/>
          </p:cNvSpPr>
          <p:nvPr/>
        </p:nvSpPr>
        <p:spPr>
          <a:xfrm>
            <a:off x="8048625" y="15811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5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zh-TW" b="1" dirty="0">
                <a:solidFill>
                  <a:srgbClr val="4D6F2E"/>
                </a:solidFill>
                <a:latin typeface="Microsoft JhengHei"/>
              </a:rPr>
              <a:t>用 NCNN 模型跑同一張照片</a:t>
            </a:r>
            <a:endParaRPr b="1" dirty="0">
              <a:solidFill>
                <a:srgbClr val="4D6F2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4314241-3CE9-4DF1-8C64-E5008033D962}"/>
              </a:ext>
            </a:extLst>
          </p:cNvPr>
          <p:cNvSpPr>
            <a:spLocks noGrp="1"/>
          </p:cNvSpPr>
          <p:nvPr/>
        </p:nvSpPr>
        <p:spPr>
          <a:xfrm>
            <a:off x="7905750" y="2019300"/>
            <a:ext cx="3571875" cy="1352550"/>
          </a:xfrm>
          <a:prstGeom prst="roundRect">
            <a:avLst>
              <a:gd name="adj" fmla="val 5634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532F89-40A7-4DCF-B121-DD12B59AEC32}"/>
              </a:ext>
            </a:extLst>
          </p:cNvPr>
          <p:cNvSpPr>
            <a:spLocks noGrp="1"/>
          </p:cNvSpPr>
          <p:nvPr/>
        </p:nvSpPr>
        <p:spPr>
          <a:xfrm>
            <a:off x="8048625" y="2118542"/>
            <a:ext cx="3228975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sz="1350" dirty="0">
                <a:solidFill>
                  <a:schemeClr val="bg2"/>
                </a:solidFill>
              </a:rPr>
              <a:t>yolo predict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model=yolo26n_ncnn_model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source=camera_test.jpg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imgsz=640 \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    conf=0.25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925AC7E-22FE-C3AC-49D3-869B1415A6BE}"/>
              </a:ext>
            </a:extLst>
          </p:cNvPr>
          <p:cNvSpPr txBox="1"/>
          <p:nvPr/>
        </p:nvSpPr>
        <p:spPr>
          <a:xfrm>
            <a:off x="579796" y="32043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完成後：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F804256-605E-0DC6-1B47-5E138A0BD91D}"/>
              </a:ext>
            </a:extLst>
          </p:cNvPr>
          <p:cNvSpPr txBox="1"/>
          <p:nvPr/>
        </p:nvSpPr>
        <p:spPr>
          <a:xfrm>
            <a:off x="666750" y="3650863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ls -lh</a:t>
            </a:r>
          </a:p>
          <a:p>
            <a:pPr rtl="0">
              <a:buNone/>
            </a:pPr>
            <a:r>
              <a:rPr lang="zh-TW" altLang="zh-TW" sz="1350" dirty="0">
                <a:solidFill>
                  <a:schemeClr val="bg2"/>
                </a:solidFill>
                <a:latin typeface="+mn-lt"/>
              </a:rPr>
              <a:t>ls -lh yolo26n_ncnn_model/</a:t>
            </a:r>
            <a:endParaRPr lang="zh-TW" altLang="zh-TW" sz="1350" dirty="0">
              <a:solidFill>
                <a:schemeClr val="bg2"/>
              </a:solidFill>
              <a:latin typeface="Courier New" panose="02070309020205020404" pitchFamily="49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225E872-628C-2874-1B8A-4D09CD8E19E8}"/>
              </a:ext>
            </a:extLst>
          </p:cNvPr>
          <p:cNvSpPr txBox="1"/>
          <p:nvPr/>
        </p:nvSpPr>
        <p:spPr>
          <a:xfrm>
            <a:off x="552450" y="42360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預期會出現：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B578FBF-D188-400D-1A85-36CB55CADB45}"/>
              </a:ext>
            </a:extLst>
          </p:cNvPr>
          <p:cNvSpPr txBox="1"/>
          <p:nvPr/>
        </p:nvSpPr>
        <p:spPr>
          <a:xfrm>
            <a:off x="641862" y="4614225"/>
            <a:ext cx="609600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yolo26_lab/</a:t>
            </a:r>
          </a:p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├── .venv/</a:t>
            </a:r>
          </a:p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├── camera_test.jpg</a:t>
            </a:r>
          </a:p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├── yolo26n.pt</a:t>
            </a:r>
          </a:p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├── yolo26n_ncnn_model/</a:t>
            </a:r>
          </a:p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│   ├── model.ncnn.param</a:t>
            </a:r>
          </a:p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│   ├── model.ncnn.bin</a:t>
            </a:r>
          </a:p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│   └── metadata.yaml</a:t>
            </a:r>
          </a:p>
          <a:p>
            <a:pPr rtl="0">
              <a:buNone/>
            </a:pPr>
            <a:r>
              <a:rPr lang="zh-TW" altLang="zh-TW" sz="1350" b="1" dirty="0">
                <a:solidFill>
                  <a:schemeClr val="bg2"/>
                </a:solidFill>
                <a:latin typeface="+mn-lt"/>
              </a:rPr>
              <a:t>└── runs/</a:t>
            </a:r>
            <a:endParaRPr lang="zh-TW" altLang="zh-TW" sz="1350" b="1" dirty="0">
              <a:solidFill>
                <a:schemeClr val="bg2"/>
              </a:solidFill>
              <a:latin typeface="Courier New" panose="02070309020205020404" pitchFamily="49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445E35C-1F25-8091-3C9D-4A5B48A8D328}"/>
              </a:ext>
            </a:extLst>
          </p:cNvPr>
          <p:cNvSpPr txBox="1"/>
          <p:nvPr/>
        </p:nvSpPr>
        <p:spPr>
          <a:xfrm>
            <a:off x="1743075" y="1003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Ultralytics 官方目前是以 PNNX 執行 PyTorch → NCNN 轉換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74DEE87-4484-0135-B02F-4EECFF67169E}"/>
              </a:ext>
            </a:extLst>
          </p:cNvPr>
          <p:cNvSpPr txBox="1"/>
          <p:nvPr/>
        </p:nvSpPr>
        <p:spPr>
          <a:xfrm>
            <a:off x="7839075" y="3644166"/>
            <a:ext cx="4031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en-US" b="1" dirty="0">
                <a:solidFill>
                  <a:srgbClr val="FF0000"/>
                </a:solidFill>
              </a:rPr>
              <a:t>注意：</a:t>
            </a:r>
            <a:endParaRPr lang="en-US" altLang="zh-TW" b="1" dirty="0">
              <a:solidFill>
                <a:srgbClr val="FF0000"/>
              </a:solidFill>
            </a:endParaRPr>
          </a:p>
          <a:p>
            <a:pPr algn="just"/>
            <a:r>
              <a:rPr lang="zh-TW" altLang="zh-TW" dirty="0"/>
              <a:t>不要改裝最新的 </a:t>
            </a:r>
            <a:r>
              <a:rPr lang="zh-TW" altLang="zh-TW" dirty="0">
                <a:latin typeface="+mn-lt"/>
              </a:rPr>
              <a:t>pnnx 20260704</a:t>
            </a:r>
            <a:r>
              <a:rPr lang="zh-TW" altLang="zh-TW" dirty="0"/>
              <a:t>。</a:t>
            </a:r>
            <a:endParaRPr lang="en-US" altLang="zh-TW" dirty="0"/>
          </a:p>
          <a:p>
            <a:pPr algn="just"/>
            <a:r>
              <a:rPr lang="zh-TW" altLang="zh-TW" dirty="0"/>
              <a:t>目前 Ultralytics 的 NCNN export 程式碼特別 pin 在 </a:t>
            </a:r>
            <a:r>
              <a:rPr lang="zh-TW" altLang="zh-TW" dirty="0">
                <a:latin typeface="+mn-lt"/>
              </a:rPr>
              <a:t>pnnx==20260526</a:t>
            </a:r>
            <a:r>
              <a:rPr lang="zh-TW" altLang="zh-TW" dirty="0"/>
              <a:t>，原始碼註解指出這是因為較新的 20260704 版本存在 NCNN inference segfault 問題。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4359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8DF5982-0389-4849-87DC-36263DF147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630790-E8DA-4C85-B2E4-CB98BB5DF05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B06F57-1637-4661-91A8-8CFAFF79420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CSI</a:t>
            </a:r>
            <a:r>
              <a:rPr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攝影機即時偵測</a:t>
            </a:r>
            <a:endParaRPr sz="2700" b="1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11EC99-D0E4-4024-B126-039B7DC1A67E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F59645-078A-411A-A416-3A16BE798181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7A018E0-DFC2-471E-BC74-4F524B9AFC57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858500" cy="2472795"/>
          </a:xfrm>
          <a:prstGeom prst="roundRect">
            <a:avLst>
              <a:gd name="adj" fmla="val 6897"/>
            </a:avLst>
          </a:prstGeom>
          <a:solidFill>
            <a:srgbClr val="11182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4BAFCE-B6FC-41A6-A94C-A1D1C5FC47F6}"/>
              </a:ext>
            </a:extLst>
          </p:cNvPr>
          <p:cNvSpPr>
            <a:spLocks noGrp="1"/>
          </p:cNvSpPr>
          <p:nvPr/>
        </p:nvSpPr>
        <p:spPr>
          <a:xfrm>
            <a:off x="762000" y="1512637"/>
            <a:ext cx="10515600" cy="2383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zh-TW" altLang="zh-TW" sz="1350" dirty="0">
                <a:solidFill>
                  <a:schemeClr val="bg2"/>
                </a:solidFill>
              </a:rPr>
              <a:t># ============================================================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# 確認 Raspberry Pi CSI Camera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# ============================================================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sudo systemctl stop autocar.service 2&gt;/dev/null || true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# 使用 Raspberry Pi Camera framework 檢查相機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rpicam-hello --list-cameras</a:t>
            </a:r>
          </a:p>
          <a:p>
            <a:endParaRPr lang="zh-TW" altLang="zh-TW" sz="1350" dirty="0">
              <a:solidFill>
                <a:schemeClr val="bg2"/>
              </a:solidFill>
            </a:endParaRPr>
          </a:p>
          <a:p>
            <a:r>
              <a:rPr lang="zh-TW" altLang="zh-TW" sz="1350" dirty="0">
                <a:solidFill>
                  <a:schemeClr val="bg2"/>
                </a:solidFill>
              </a:rPr>
              <a:t># 確認 libcamera 可以取得影像</a:t>
            </a:r>
          </a:p>
          <a:p>
            <a:r>
              <a:rPr lang="zh-TW" altLang="zh-TW" sz="1350" dirty="0">
                <a:solidFill>
                  <a:schemeClr val="bg2"/>
                </a:solidFill>
              </a:rPr>
              <a:t>rpicam-hello -t 5000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4605C24-B54C-D910-0B15-A0409C76F425}"/>
              </a:ext>
            </a:extLst>
          </p:cNvPr>
          <p:cNvSpPr txBox="1"/>
          <p:nvPr/>
        </p:nvSpPr>
        <p:spPr>
          <a:xfrm>
            <a:off x="1730478" y="10308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先確認 </a:t>
            </a:r>
            <a:r>
              <a:rPr lang="en-US" altLang="zh-TW" dirty="0"/>
              <a:t>CSI</a:t>
            </a:r>
            <a:r>
              <a:rPr lang="zh-TW" altLang="zh-TW" dirty="0"/>
              <a:t> Camera 裝置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70F037A-584E-7CA2-DF3B-1872065C3FFD}"/>
              </a:ext>
            </a:extLst>
          </p:cNvPr>
          <p:cNvSpPr txBox="1"/>
          <p:nvPr/>
        </p:nvSpPr>
        <p:spPr>
          <a:xfrm>
            <a:off x="762000" y="6003667"/>
            <a:ext cx="9018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如果 Raspberry Pi 5 </a:t>
            </a:r>
            <a:r>
              <a:rPr lang="zh-TW" altLang="zh-TW" b="1" dirty="0"/>
              <a:t>沒有接 HDMI 螢幕/桌面環境</a:t>
            </a:r>
            <a:r>
              <a:rPr lang="zh-TW" altLang="zh-TW" dirty="0"/>
              <a:t>，會遇到 </a:t>
            </a:r>
            <a:r>
              <a:rPr lang="zh-TW" altLang="zh-TW" dirty="0">
                <a:latin typeface="+mn-lt"/>
              </a:rPr>
              <a:t>cv2.imshow()</a:t>
            </a:r>
            <a:r>
              <a:rPr lang="zh-TW" altLang="zh-TW" dirty="0"/>
              <a:t> 的 DISPLAY/Qt 錯誤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1062ABE-DC68-C8CF-62A5-9B0C0402F2B8}"/>
              </a:ext>
            </a:extLst>
          </p:cNvPr>
          <p:cNvSpPr txBox="1"/>
          <p:nvPr/>
        </p:nvSpPr>
        <p:spPr>
          <a:xfrm>
            <a:off x="762000" y="40521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目前實機已經辨識為：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47D8EBE-20AB-478C-0F7F-E8918F52000C}"/>
              </a:ext>
            </a:extLst>
          </p:cNvPr>
          <p:cNvSpPr txBox="1"/>
          <p:nvPr/>
        </p:nvSpPr>
        <p:spPr>
          <a:xfrm>
            <a:off x="762000" y="4421439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350" dirty="0"/>
              <a:t>0 : ov5647 [2592x1944 10-bit GBRG]640x480    62.50 fps1296x972   46.34 fps1920x1080  32.81 fps2592x1944  15.63 fps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3F13A0E-C2D1-23E1-B520-58C3CAB91EB4}"/>
              </a:ext>
            </a:extLst>
          </p:cNvPr>
          <p:cNvSpPr txBox="1"/>
          <p:nvPr/>
        </p:nvSpPr>
        <p:spPr>
          <a:xfrm>
            <a:off x="762000" y="50218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觀察底層 V4L2/CSI/PiSP media pipeline</a:t>
            </a:r>
            <a:r>
              <a:rPr lang="zh-TW" altLang="en-US" dirty="0"/>
              <a:t>：</a:t>
            </a:r>
            <a:r>
              <a:rPr lang="en-US" altLang="zh-TW" dirty="0"/>
              <a:t>v4l2-ctl --list-devices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9202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874EC-89D4-C8E0-14D9-61C36F1A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6E2898-5342-C4A9-6AB5-829F17847F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C01C19-3CFE-3CC6-A4C5-83402BC805D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0642C9-94EC-306B-AE0C-1E4F02EC36E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CSI</a:t>
            </a:r>
            <a:r>
              <a:rPr sz="2700" b="1" dirty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攝影機即時偵測</a:t>
            </a:r>
            <a:endParaRPr sz="2700" b="1" dirty="0">
              <a:solidFill>
                <a:srgbClr val="17212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1AA999-2CCB-C237-B3A8-22730CD328B3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A523C6-C285-512F-72A8-1D7C498F535E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29308BE-D005-3CBE-BF5D-5F982F5B753B}"/>
              </a:ext>
            </a:extLst>
          </p:cNvPr>
          <p:cNvSpPr txBox="1"/>
          <p:nvPr/>
        </p:nvSpPr>
        <p:spPr>
          <a:xfrm>
            <a:off x="1743382" y="991286"/>
            <a:ext cx="9743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把目前環境整合成 </a:t>
            </a:r>
            <a:r>
              <a:rPr lang="en-US" altLang="zh-TW" b="1" dirty="0"/>
              <a:t>CSI</a:t>
            </a:r>
            <a:r>
              <a:rPr lang="zh-TW" altLang="zh-TW" b="1" dirty="0"/>
              <a:t> Camera</a:t>
            </a:r>
            <a:r>
              <a:rPr lang="zh-TW" altLang="en-US" b="1" dirty="0"/>
              <a:t> </a:t>
            </a:r>
            <a:r>
              <a:rPr lang="en-US" altLang="zh-TW" b="1" dirty="0"/>
              <a:t>(</a:t>
            </a:r>
            <a:r>
              <a:rPr lang="zh-TW" altLang="zh-TW" b="1" dirty="0"/>
              <a:t>OV5647</a:t>
            </a:r>
            <a:r>
              <a:rPr lang="en-US" altLang="zh-TW" b="1" dirty="0"/>
              <a:t>)</a:t>
            </a:r>
            <a:r>
              <a:rPr lang="zh-TW" altLang="en-US" b="1" dirty="0"/>
              <a:t> </a:t>
            </a:r>
            <a:r>
              <a:rPr lang="zh-TW" altLang="zh-TW" b="1" dirty="0"/>
              <a:t> → YOLO26 NCNN → Flask → Windows 瀏覽器即時監看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AE5379AF-1F4D-CB80-81EC-A317241E8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370" y="1418875"/>
            <a:ext cx="8132233" cy="5172425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DAF5300F-03BC-92D5-7B14-C8DA8B6A62AB}"/>
              </a:ext>
            </a:extLst>
          </p:cNvPr>
          <p:cNvSpPr txBox="1"/>
          <p:nvPr/>
        </p:nvSpPr>
        <p:spPr>
          <a:xfrm>
            <a:off x="442452" y="1614788"/>
            <a:ext cx="2467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WinSCP</a:t>
            </a:r>
          </a:p>
          <a:p>
            <a:pPr rtl="0"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app_csi.py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上傳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端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203C412-9971-55A5-9787-4D6F04DDC4FE}"/>
              </a:ext>
            </a:extLst>
          </p:cNvPr>
          <p:cNvSpPr txBox="1"/>
          <p:nvPr/>
        </p:nvSpPr>
        <p:spPr>
          <a:xfrm>
            <a:off x="442452" y="2645969"/>
            <a:ext cx="2467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app_csi.py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560A6EC-23EC-E620-5D0B-F2120CAB1532}"/>
              </a:ext>
            </a:extLst>
          </p:cNvPr>
          <p:cNvSpPr txBox="1"/>
          <p:nvPr/>
        </p:nvSpPr>
        <p:spPr>
          <a:xfrm>
            <a:off x="353006" y="3565701"/>
            <a:ext cx="2557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然後 Windows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</a:t>
            </a: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buNone/>
            </a:pPr>
            <a:r>
              <a:rPr lang="zh-TW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OV5647 YOLO26 即時監看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你的樹莓派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IP:5000)</a:t>
            </a:r>
            <a:endParaRPr lang="zh-TW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7600438-4869-80C5-46A9-79EA0F5E6FAB}"/>
              </a:ext>
            </a:extLst>
          </p:cNvPr>
          <p:cNvSpPr txBox="1"/>
          <p:nvPr/>
        </p:nvSpPr>
        <p:spPr>
          <a:xfrm>
            <a:off x="4022486" y="580031"/>
            <a:ext cx="7617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https://github.com/wangsungwen/PI5_AUTOCAR/blob/main/app_csi.py</a:t>
            </a:r>
          </a:p>
        </p:txBody>
      </p:sp>
    </p:spTree>
    <p:extLst>
      <p:ext uri="{BB962C8B-B14F-4D97-AF65-F5344CB8AC3E}">
        <p14:creationId xmlns:p14="http://schemas.microsoft.com/office/powerpoint/2010/main" val="2890542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CD669-BA95-54C4-8218-1E5EE872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07383B2B-3817-17AE-85BC-6378C224BE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376141-6FF8-23A8-F33E-750D06913CC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0899FF-6625-D8CF-BE86-A8E288A22DF6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影像時效與獨立安全機制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F45060-7A42-505E-39E2-0B274A56E33D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3836D2-39FF-8673-0B63-53D730616306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FD4E4CB-2740-69BF-D721-5C84BB33541F}"/>
              </a:ext>
            </a:extLst>
          </p:cNvPr>
          <p:cNvGraphicFramePr/>
          <p:nvPr/>
        </p:nvGraphicFramePr>
        <p:xfrm>
          <a:off x="609600" y="1581150"/>
          <a:ext cx="10972799" cy="3733800"/>
        </p:xfrm>
        <a:graphic>
          <a:graphicData uri="http://schemas.openxmlformats.org/drawingml/2006/table">
            <a:tbl>
              <a:tblPr/>
              <a:tblGrid>
                <a:gridCol w="3037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風險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Python 層處理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另需考慮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讀取失敗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例外與停止事件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底層馬達停車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推論結果過期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檢查 monotonic 時間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依車速決定時效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read／推論卡住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主迴圈無法再檢查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控制端獨立看門狗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沒有偵測到物件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只代表沒有輸出框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不等於道路暢通</a:t>
                      </a:r>
                      <a:endParaRPr sz="1950" b="0" dirty="0">
                        <a:solidFill>
                          <a:srgbClr val="122B40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55AD7A37-31AA-8648-14F0-EE1C08DD3A09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獨立緊急停止、避障與人工復歸，不能只靠 finally。</a:t>
            </a:r>
          </a:p>
        </p:txBody>
      </p:sp>
    </p:spTree>
    <p:extLst>
      <p:ext uri="{BB962C8B-B14F-4D97-AF65-F5344CB8AC3E}">
        <p14:creationId xmlns:p14="http://schemas.microsoft.com/office/powerpoint/2010/main" val="75993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6346B-D076-AA89-00C1-7AA2FAC7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B39A13D-3987-190A-FB16-A5AD65CFAC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22AD62-F0B2-4218-5370-15157CE3633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863431-E1A4-525A-5A78-C7DD4F44007B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6-1.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準備⾃⼰的資料集 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車道線、紅綠燈號、交通號誌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…)</a:t>
            </a:r>
            <a:endParaRPr lang="zh-TW" altLang="en-US" sz="2800" b="1" dirty="0">
              <a:solidFill>
                <a:srgbClr val="122B40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8065D9-ECF5-5530-9EE5-528A4CD8E7A6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E29D30-1CEE-F678-F297-21C0BC813C11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2505C5B-AF7E-F01F-8FE8-F803B4A54A72}"/>
              </a:ext>
            </a:extLst>
          </p:cNvPr>
          <p:cNvSpPr txBox="1"/>
          <p:nvPr/>
        </p:nvSpPr>
        <p:spPr>
          <a:xfrm>
            <a:off x="552450" y="1376967"/>
            <a:ext cx="11144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COCO 預訓練模型只能辨識既有的 80 類，例如⼈、汽⾞、公⾞、交通號誌等。若要辨識⾃製路標、停⽌線、特殊障礙物，就需要⾃⼰的資料集。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00EBA7B-0C4E-6D8B-EF34-02E7CC4A14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284"/>
          <a:stretch>
            <a:fillRect/>
          </a:stretch>
        </p:blipFill>
        <p:spPr>
          <a:xfrm>
            <a:off x="631931" y="2023298"/>
            <a:ext cx="4156379" cy="355884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FE44D6B-CFD2-753E-BE1D-A275BCC86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542" y="2023298"/>
            <a:ext cx="6538527" cy="2446232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28272D2D-D2DA-9EA5-8483-8F928C66C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542" y="4506208"/>
            <a:ext cx="6538527" cy="1219306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96363FCC-2B5E-3CD5-149A-6FA82214221C}"/>
              </a:ext>
            </a:extLst>
          </p:cNvPr>
          <p:cNvSpPr txBox="1"/>
          <p:nvPr/>
        </p:nvSpPr>
        <p:spPr>
          <a:xfrm>
            <a:off x="5021542" y="57621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這四個座標值都必須除以圖⽚寬⾼，正規化到 0〜1 。</a:t>
            </a:r>
          </a:p>
        </p:txBody>
      </p:sp>
    </p:spTree>
    <p:extLst>
      <p:ext uri="{BB962C8B-B14F-4D97-AF65-F5344CB8AC3E}">
        <p14:creationId xmlns:p14="http://schemas.microsoft.com/office/powerpoint/2010/main" val="1692356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3F501-9DFD-BCD8-05CB-32EC628E8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9FFCF78-FFDF-4C92-6AA9-61F565942A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69E055-4379-380E-91E6-F1F2518FD95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4DC7E9-9F3A-D986-82CB-2B6ABB99F0B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6-2.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預錄視覺辨識資料集 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車道線、紅綠燈號、交通號誌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…)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影片素材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C534D1-8354-8650-3909-23F30A7843B9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8E1681-DFFE-9912-62B4-0D9E203CCF1A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8EE632F-4CD6-2D3E-9287-3297A9070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983946"/>
            <a:ext cx="5670997" cy="45083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C5AA386-D362-4F96-8DE9-FD8C54E9E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567" y="1983946"/>
            <a:ext cx="5662151" cy="377222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4363825-9801-3EAF-4515-3703F069103F}"/>
              </a:ext>
            </a:extLst>
          </p:cNvPr>
          <p:cNvSpPr txBox="1"/>
          <p:nvPr/>
        </p:nvSpPr>
        <p:spPr>
          <a:xfrm>
            <a:off x="457200" y="12984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第一階段：確認 Raspberry Pi 5 I²C</a:t>
            </a:r>
            <a:endParaRPr lang="en-US" altLang="zh-TW" dirty="0"/>
          </a:p>
          <a:p>
            <a:r>
              <a:rPr lang="zh-TW" altLang="en-US" dirty="0"/>
              <a:t>啟用</a:t>
            </a:r>
            <a:r>
              <a:rPr lang="zh-TW" altLang="zh-TW" dirty="0"/>
              <a:t>：sudo raspi-config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4203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EC1DA-9122-62D0-7D0B-FE778991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9CC4C9C8-2E7F-E1DE-6650-CB82DA8DD9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F54DE1-99C2-C028-636A-60162616F13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256D6-A28E-360E-62F0-7B56A7CD16A4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6-2.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預錄視覺辨識資料集 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車道線、紅綠燈號、交通號誌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…)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影片素材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D63B10-A1C1-9384-5B25-F7E8A9DBED37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021F837-00F8-2F72-03E0-9173CE404B48}"/>
              </a:ext>
            </a:extLst>
          </p:cNvPr>
          <p:cNvSpPr txBox="1"/>
          <p:nvPr/>
        </p:nvSpPr>
        <p:spPr>
          <a:xfrm>
            <a:off x="457200" y="1298453"/>
            <a:ext cx="11239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第</a:t>
            </a:r>
            <a:r>
              <a:rPr lang="zh-TW" altLang="en-US" dirty="0"/>
              <a:t>二</a:t>
            </a:r>
            <a:r>
              <a:rPr lang="zh-TW" altLang="zh-TW" dirty="0"/>
              <a:t>階段：</a:t>
            </a:r>
            <a:r>
              <a:rPr lang="zh-TW" altLang="en-US" dirty="0"/>
              <a:t>將專案壓縮檔</a:t>
            </a:r>
            <a:r>
              <a:rPr lang="en-US" altLang="zh-TW" dirty="0"/>
              <a:t>(</a:t>
            </a:r>
            <a:r>
              <a:rPr lang="zh-TW" altLang="zh-TW" dirty="0"/>
              <a:t>RPI5_AutoCAR-YOLO-integrated.zip</a:t>
            </a:r>
            <a:r>
              <a:rPr lang="en-US" altLang="zh-TW" dirty="0"/>
              <a:t>)</a:t>
            </a:r>
            <a:r>
              <a:rPr lang="zh-TW" altLang="en-US" dirty="0"/>
              <a:t>上傳部署至樹莓派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FEA874-D171-63DE-B6E1-33618B4C3327}"/>
              </a:ext>
            </a:extLst>
          </p:cNvPr>
          <p:cNvSpPr txBox="1"/>
          <p:nvPr/>
        </p:nvSpPr>
        <p:spPr>
          <a:xfrm>
            <a:off x="457201" y="1827401"/>
            <a:ext cx="11462084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快速部署</a:t>
            </a:r>
          </a:p>
          <a:p>
            <a:pPr indent="0" algn="l"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操作流程：Windows PowerShell → Raspberry Pi → Windows 瀏覽器。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以下將 alice 換成你的 </a:t>
            </a: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Pi 登入帳號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，192.168.1.50 換成 </a:t>
            </a: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Pi 的 IP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。 不需要修改 hostname。</a:t>
            </a:r>
          </a:p>
          <a:p>
            <a:pPr indent="0" algn="l"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開始前請確認：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Pi 已啟用 SSH，並可從 Windows 連線。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Windows PowerShell 可使用 scp、ssh 指令。</a:t>
            </a:r>
          </a:p>
          <a:p>
            <a:pPr indent="0" algn="l">
              <a:spcBef>
                <a:spcPts val="1800"/>
              </a:spcBef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1. 在 Windows PowerShell 下載並上傳壓縮包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在你要存放壓縮包的資料夾開啟 PowerShell，執行：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Invoke-WebRequest -Uri "https://raw.githubusercontent.com/wangsungwen/PI5_AUTOCAR/main/RPI5_AutoCAR-YOLO-integrated.zip" -OutFile ".\RPI5_AutoCAR-YOLO-integrated.zip"</a:t>
            </a:r>
          </a:p>
          <a:p>
            <a:pPr indent="0" algn="l" latinLnBrk="0">
              <a:buNone/>
            </a:pP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scp .\RPI5_AutoCAR-YOLO-integrated.zip alice@192.168.1.50:~/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git clone 用來複製 Git 倉庫，不能下載 /blob/main/...zip 的單一檔案； 這裡使用原始檔案網址直接下載 ZIP。若目前資料夾已經有最新版壓縮包，可直接執行 scp。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輸入 Pi 帳號密碼。首次連線確認主機指紋無誤後，輸入 yes。</a:t>
            </a:r>
            <a:endParaRPr lang="zh-TW" altLang="zh-TW" sz="1200" b="0" i="0" dirty="0">
              <a:solidFill>
                <a:srgbClr val="F0F6FC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1387807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46C56-16B4-AE87-9BF5-2976237A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F8CC7876-4A46-AE26-B3B9-60D8999C65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6369EE-FAF8-5404-FC9E-69C4CF631FD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37E22B-47F8-8CCF-81D9-F66D2078694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6-2.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預錄視覺辨識資料集 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車道線、紅綠燈號、交通號誌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…)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影片素材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089D5D-730B-F8F9-F0C6-7D33E2CC9A7D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2E31DC-9138-ACBB-4E01-70523EB99740}"/>
              </a:ext>
            </a:extLst>
          </p:cNvPr>
          <p:cNvSpPr txBox="1"/>
          <p:nvPr/>
        </p:nvSpPr>
        <p:spPr>
          <a:xfrm>
            <a:off x="552450" y="1434636"/>
            <a:ext cx="110871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2. 從 PowerShell 登入 Pi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ssh alice@192.168.1.50</a:t>
            </a:r>
          </a:p>
          <a:p>
            <a:pPr marL="0" marR="0"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以下第 3～5 步的指令都在 </a:t>
            </a: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登入後的 Pi 終端機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執行。</a:t>
            </a:r>
          </a:p>
          <a:p>
            <a:pPr indent="0" algn="l">
              <a:spcBef>
                <a:spcPts val="1800"/>
              </a:spcBef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3. 解壓縮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sudo apt-get update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sudo apt-get install -y unzip</a:t>
            </a:r>
          </a:p>
          <a:p>
            <a:pPr indent="0" algn="l" latinLnBrk="0">
              <a:buNone/>
            </a:pP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mkdir -p ~/RPI5_AutoCAR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unzip -o ~/RPI5_AutoCAR-YOLO-integrated.zip -d ~/RPI5_AutoCAR</a:t>
            </a:r>
          </a:p>
          <a:p>
            <a:pPr indent="0" algn="l" latinLnBrk="0">
              <a:buNone/>
            </a:pP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cd ~/RPI5_AutoCAR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-o 會覆蓋解壓目錄內的同名檔案。</a:t>
            </a:r>
          </a:p>
          <a:p>
            <a:pPr indent="0" algn="l">
              <a:spcBef>
                <a:spcPts val="1800"/>
              </a:spcBef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4. 執行一鍵安裝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sudo bash scripts/install.sh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安裝器會自動使用目前登入帳號，安裝相依套件、建立服務、設定開機啟動並啟動 AutoCAR。 首次安裝需要下載 AI 套件，請等到完成。</a:t>
            </a:r>
          </a:p>
        </p:txBody>
      </p:sp>
    </p:spTree>
    <p:extLst>
      <p:ext uri="{BB962C8B-B14F-4D97-AF65-F5344CB8AC3E}">
        <p14:creationId xmlns:p14="http://schemas.microsoft.com/office/powerpoint/2010/main" val="2339309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8EE51-14C1-6E26-F685-8636E6AF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B9761D0-C931-B78F-7C7D-D5D3394AA1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4F0133-9E80-6E12-1EEC-4C0A6775A29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5A0464-23E3-7D10-EA47-69D6EE17C2F8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6-2.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預錄視覺辨識資料集 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車道線、紅綠燈號、交通號誌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…)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影片素材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EC12B8-3F96-A20A-691F-554DA896772D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DD4EB9-52AB-8B22-3C0C-28CEF75343AB}"/>
              </a:ext>
            </a:extLst>
          </p:cNvPr>
          <p:cNvSpPr txBox="1"/>
          <p:nvPr/>
        </p:nvSpPr>
        <p:spPr>
          <a:xfrm>
            <a:off x="552450" y="1434636"/>
            <a:ext cx="110871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5. 確認 systemd 服務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sudo systemctl status autocar --no-pager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正常應顯示 active (running)。若要手動重新載入並確保開機啟動：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sudo systemctl daemon-reload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sudo systemctl enable --now autocar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修改 /etc/autocar.env 後，執行：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sudo systemctl restart autocar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查看錯誤紀錄：</a:t>
            </a:r>
          </a:p>
          <a:p>
            <a:pPr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sudo journalctl -u autocar -n 100 --no-pager</a:t>
            </a:r>
          </a:p>
          <a:p>
            <a:pPr indent="0" algn="l">
              <a:spcBef>
                <a:spcPts val="1800"/>
              </a:spcBef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6. 在 Windows 瀏覽器開啟</a:t>
            </a:r>
          </a:p>
          <a:p>
            <a:pPr marL="0" marR="0" indent="0" algn="l" latinLnBrk="0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ea typeface="Monaspace Neon"/>
              </a:rPr>
              <a:t>http://192.168.1.50:8000</a:t>
            </a:r>
          </a:p>
          <a:p>
            <a:pPr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請使用自己的 Pi IP；若已修改 AUTOCAR_PORT，請使用設定的連接埠。</a:t>
            </a:r>
            <a:endParaRPr lang="zh-TW" altLang="zh-TW" sz="1200" b="0" i="0" dirty="0">
              <a:solidFill>
                <a:srgbClr val="F0F6FC"/>
              </a:solidFill>
              <a:effectLst/>
              <a:latin typeface="Mona Sans VF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4EEFBC0-8785-8793-0987-83DB4CDE4CB6}"/>
              </a:ext>
            </a:extLst>
          </p:cNvPr>
          <p:cNvSpPr txBox="1"/>
          <p:nvPr/>
        </p:nvSpPr>
        <p:spPr>
          <a:xfrm>
            <a:off x="552449" y="5287699"/>
            <a:ext cx="112224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zh-TW" sz="1800" b="0" i="0" dirty="0">
                <a:solidFill>
                  <a:srgbClr val="FF0000"/>
                </a:solidFill>
                <a:effectLst/>
                <a:latin typeface="+mn-lt"/>
              </a:rPr>
              <a:t>壓縮包不含模型，視覺辨識與自動駕駛所需模型須另外部署。 舊版升級若換了帳號，請檢查 /etc/autocar.env 的 AUTOCAR_RECORDINGS， 避免仍指向 /home/rpi5。移除或註解該設定，可使用新服務帳號家目錄下的 Videos/autocar； 修改後須重新啟動服務。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606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382C9-FB1F-D74C-B4BE-5C415704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DC6CBB7-1676-77C0-3373-A94703E9D4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322A5A-7FB3-9F9B-855C-91E0E18DD58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6F2E"/>
                </a:solidFill>
                <a:latin typeface="Microsoft JhengHei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495714-779C-57EE-7EDD-438FA356256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09347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6-2.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預錄視覺辨識資料集 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車道線、紅綠燈號、交通號誌</a:t>
            </a:r>
            <a:r>
              <a:rPr lang="en-US" altLang="zh-TW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…)</a:t>
            </a:r>
            <a:r>
              <a:rPr lang="zh-TW" altLang="en-US" sz="2800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 影片素材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62CD83-8E80-EADE-E424-48BC9E03ADD1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1066800" cy="47625"/>
          </a:xfrm>
          <a:prstGeom prst="rect">
            <a:avLst/>
          </a:prstGeom>
          <a:solidFill>
            <a:srgbClr val="79A342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39888E-DE81-1966-5A28-EF38C90309C6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57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A68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81E43D-85A1-5906-15C9-886D68B9E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82" y="1304925"/>
            <a:ext cx="3952527" cy="543385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6DFF70D-ACF2-3A54-78A8-01F134940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330" y="1304925"/>
            <a:ext cx="4157953" cy="5433859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FB4B10C1-6FDF-5FEC-F6D7-07FEA842B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604" y="1304925"/>
            <a:ext cx="3641008" cy="161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6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F95F5934-7F0F-412B-8C60-0E5014EDA41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資料收集需要涵蓋現場差異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CFCCA1-8B43-4250-B9D0-5D905FC0D4F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10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61647C-CB45-462D-9C5F-0FF8F84BF55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28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38288" y="1409700"/>
            <a:ext cx="4238625" cy="42386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9F8F963-73EF-4B41-8C8C-ACAF56794DFC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官方相機示例，用於討論對焦與影像品質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ED967D-91E8-4EDD-8ECE-41C39501B52D}"/>
              </a:ext>
            </a:extLst>
          </p:cNvPr>
          <p:cNvSpPr>
            <a:spLocks noGrp="1"/>
          </p:cNvSpPr>
          <p:nvPr/>
        </p:nvSpPr>
        <p:spPr>
          <a:xfrm>
            <a:off x="7162800" y="1524000"/>
            <a:ext cx="4429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模型要看過部署時的情境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F8C884-C92B-4F55-BB49-58B98BF62FA0}"/>
              </a:ext>
            </a:extLst>
          </p:cNvPr>
          <p:cNvSpPr>
            <a:spLocks noGrp="1"/>
          </p:cNvSpPr>
          <p:nvPr/>
        </p:nvSpPr>
        <p:spPr>
          <a:xfrm>
            <a:off x="7162800" y="26670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不同距離、角度與照明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ED68C4-B66E-4975-AFC9-BA3814D10E2F}"/>
              </a:ext>
            </a:extLst>
          </p:cNvPr>
          <p:cNvSpPr>
            <a:spLocks noGrp="1"/>
          </p:cNvSpPr>
          <p:nvPr/>
        </p:nvSpPr>
        <p:spPr>
          <a:xfrm>
            <a:off x="7162800" y="34099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加入遮擋與模糊案例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AFF96E-DA99-4114-9AA0-F5A609E97372}"/>
              </a:ext>
            </a:extLst>
          </p:cNvPr>
          <p:cNvSpPr>
            <a:spLocks noGrp="1"/>
          </p:cNvSpPr>
          <p:nvPr/>
        </p:nvSpPr>
        <p:spPr>
          <a:xfrm>
            <a:off x="7162800" y="41529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保留沒有目標的背景圖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4A8A90-314E-4179-957F-9C6AA73B62D0}"/>
              </a:ext>
            </a:extLst>
          </p:cNvPr>
          <p:cNvSpPr>
            <a:spLocks noGrp="1"/>
          </p:cNvSpPr>
          <p:nvPr/>
        </p:nvSpPr>
        <p:spPr>
          <a:xfrm>
            <a:off x="7162800" y="48958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依拍攝批次切分資料</a:t>
            </a:r>
          </a:p>
        </p:txBody>
      </p:sp>
    </p:spTree>
    <p:extLst>
      <p:ext uri="{BB962C8B-B14F-4D97-AF65-F5344CB8AC3E}">
        <p14:creationId xmlns:p14="http://schemas.microsoft.com/office/powerpoint/2010/main" val="1813306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31697B8-F1A0-41D1-A012-450EE4F3BCA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標註框與類別的一致性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417C8-CFCB-4510-9A57-2D339B254C0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10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8769CA-6C03-4C78-AE99-AC59BF550C9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29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34310"/>
            <a:ext cx="6096000" cy="37894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FBCEEE5-8688-4BF0-B9AC-E603BE229512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Ultralytics 官方 YOLO 標註示例，非本課程模型結果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E9F479-AD84-4BC0-9E25-A0534C2ABB42}"/>
              </a:ext>
            </a:extLst>
          </p:cNvPr>
          <p:cNvSpPr>
            <a:spLocks noGrp="1"/>
          </p:cNvSpPr>
          <p:nvPr/>
        </p:nvSpPr>
        <p:spPr>
          <a:xfrm>
            <a:off x="7162800" y="1524000"/>
            <a:ext cx="4429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每個目標都要有一致規範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142326-B164-4A03-BC30-01785601CDC2}"/>
              </a:ext>
            </a:extLst>
          </p:cNvPr>
          <p:cNvSpPr>
            <a:spLocks noGrp="1"/>
          </p:cNvSpPr>
          <p:nvPr/>
        </p:nvSpPr>
        <p:spPr>
          <a:xfrm>
            <a:off x="7162800" y="26670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框牌面或含支架先定義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A98438-3A49-4142-8D82-A2D5BA0E1BBB}"/>
              </a:ext>
            </a:extLst>
          </p:cNvPr>
          <p:cNvSpPr>
            <a:spLocks noGrp="1"/>
          </p:cNvSpPr>
          <p:nvPr/>
        </p:nvSpPr>
        <p:spPr>
          <a:xfrm>
            <a:off x="7162800" y="34099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每個框對應一個類別 ID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BC4910-806A-4E68-9C8A-072DB6F15399}"/>
              </a:ext>
            </a:extLst>
          </p:cNvPr>
          <p:cNvSpPr>
            <a:spLocks noGrp="1"/>
          </p:cNvSpPr>
          <p:nvPr/>
        </p:nvSpPr>
        <p:spPr>
          <a:xfrm>
            <a:off x="7162800" y="41529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有兩個物件就有兩行標註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458909-0533-4EF0-8A4A-E066A67B0711}"/>
              </a:ext>
            </a:extLst>
          </p:cNvPr>
          <p:cNvSpPr>
            <a:spLocks noGrp="1"/>
          </p:cNvSpPr>
          <p:nvPr/>
        </p:nvSpPr>
        <p:spPr>
          <a:xfrm>
            <a:off x="7162800" y="48958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負樣本經確認後可用空檔</a:t>
            </a:r>
          </a:p>
        </p:txBody>
      </p:sp>
    </p:spTree>
    <p:extLst>
      <p:ext uri="{BB962C8B-B14F-4D97-AF65-F5344CB8AC3E}">
        <p14:creationId xmlns:p14="http://schemas.microsoft.com/office/powerpoint/2010/main" val="997203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C40E3F4-BA9E-49B3-A758-C23E171F31F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YOLO 正規化座標換算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2341FD-DDE8-4301-B1C5-E9EC2CA1657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10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42E02-80D7-4C75-B1C6-7BF17A879B1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30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已知圖片 1000×800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像素數值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正規化結果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中心 x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(400+600) / 2 = 500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500 / 1000 = 0.5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中心 y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(200+600) / 2 = 400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400 / 800 = 0.5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寬度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600 − 400 = 200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 / 1000 = 0.2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高度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600 − 200 = 400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400 / 800 = 0.5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E963300-01AB-4D3A-ABEB-A3CABA912C32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class_id x_center y_center width height ＝ 0 0.5 0.5 0.2 0.5</a:t>
            </a:r>
          </a:p>
        </p:txBody>
      </p:sp>
    </p:spTree>
    <p:extLst>
      <p:ext uri="{BB962C8B-B14F-4D97-AF65-F5344CB8AC3E}">
        <p14:creationId xmlns:p14="http://schemas.microsoft.com/office/powerpoint/2010/main" val="254969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7E243B4-AC26-4831-AFF6-170F7247BE9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圖片與標註的配對目錄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AC245B-617F-467B-B788-68ACE48293A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11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63BDD8-D99B-4D54-B307-B05FF39CB26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31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780" y="1409700"/>
            <a:ext cx="5345640" cy="42386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26646A2-97EA-4907-A094-5F01F0E14930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Ultralytics 官方目錄示例，路徑請換成自己的 road_dataset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CA155D-F11D-4396-91D4-788C72F61E32}"/>
              </a:ext>
            </a:extLst>
          </p:cNvPr>
          <p:cNvSpPr>
            <a:spLocks noGrp="1"/>
          </p:cNvSpPr>
          <p:nvPr/>
        </p:nvSpPr>
        <p:spPr>
          <a:xfrm>
            <a:off x="7162800" y="1524000"/>
            <a:ext cx="4429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相同主檔名配對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3D4E1A-72EC-4B9D-88D0-E06F4DD44FEF}"/>
              </a:ext>
            </a:extLst>
          </p:cNvPr>
          <p:cNvSpPr>
            <a:spLocks noGrp="1"/>
          </p:cNvSpPr>
          <p:nvPr/>
        </p:nvSpPr>
        <p:spPr>
          <a:xfrm>
            <a:off x="7162800" y="26670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images/train/0001.jpg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8E7186-3955-4A75-BCB9-D9C50AFE520B}"/>
              </a:ext>
            </a:extLst>
          </p:cNvPr>
          <p:cNvSpPr>
            <a:spLocks noGrp="1"/>
          </p:cNvSpPr>
          <p:nvPr/>
        </p:nvSpPr>
        <p:spPr>
          <a:xfrm>
            <a:off x="7162800" y="34099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labels/train/0001.txt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A3E8BA-7225-4A2C-B157-1A79724583A4}"/>
              </a:ext>
            </a:extLst>
          </p:cNvPr>
          <p:cNvSpPr>
            <a:spLocks noGrp="1"/>
          </p:cNvSpPr>
          <p:nvPr/>
        </p:nvSpPr>
        <p:spPr>
          <a:xfrm>
            <a:off x="7162800" y="41529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train 與 val 分開存放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E6B743-33EE-4EC4-93A6-B04A84141AC0}"/>
              </a:ext>
            </a:extLst>
          </p:cNvPr>
          <p:cNvSpPr>
            <a:spLocks noGrp="1"/>
          </p:cNvSpPr>
          <p:nvPr/>
        </p:nvSpPr>
        <p:spPr>
          <a:xfrm>
            <a:off x="7162800" y="48958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缺少標註先人工確認</a:t>
            </a:r>
          </a:p>
        </p:txBody>
      </p:sp>
    </p:spTree>
    <p:extLst>
      <p:ext uri="{BB962C8B-B14F-4D97-AF65-F5344CB8AC3E}">
        <p14:creationId xmlns:p14="http://schemas.microsoft.com/office/powerpoint/2010/main" val="1032237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A3106CB-6085-440F-9D2C-7D5E233F691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四類道路資料集設定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AA0422-2ECE-4791-AA07-F142DCCE432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11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05E963-6499-48FE-AF1A-5C4AA23DC20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32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F6DB0A-FA6D-4322-B78C-D46639692B1C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path: C:/datasets/road_dataset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train: images/train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val: images/val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names: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0: stop_sign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1: left_sign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2: right_sign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3: obstacle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13885B-1F65-4F0C-A209-1B31720D951C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存成 dataset.yaml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559DF7-32C0-4BC0-BA87-EFDF88CF72F2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path 換成真實位置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B94E3F-66BD-49F2-B4A8-7F0AB0D346DB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縮排使用空白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672FE1-C69D-48E3-87B6-FB2956899A74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Linux 可用 /home/student/datasets/road_dataset。</a:t>
            </a:r>
          </a:p>
        </p:txBody>
      </p:sp>
    </p:spTree>
    <p:extLst>
      <p:ext uri="{BB962C8B-B14F-4D97-AF65-F5344CB8AC3E}">
        <p14:creationId xmlns:p14="http://schemas.microsoft.com/office/powerpoint/2010/main" val="850836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703ABFB-F79C-4E6A-BCB4-68D5A1AA567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COCO8 小資料集試跑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A3EB96-A144-4EEC-8746-C6CCBBAFBD9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12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970320-930E-4063-903B-D6D03D5A8F8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33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38288" y="1409700"/>
            <a:ext cx="4238625" cy="42386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24E8B6E-219A-48A3-9015-365B6B357A3C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Ultralytics 官方 COCO8 mosaic 訓練批次示例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9B5E93-6DDF-4589-896C-5642D446C109}"/>
              </a:ext>
            </a:extLst>
          </p:cNvPr>
          <p:cNvSpPr>
            <a:spLocks noGrp="1"/>
          </p:cNvSpPr>
          <p:nvPr/>
        </p:nvSpPr>
        <p:spPr>
          <a:xfrm>
            <a:off x="7162800" y="1524000"/>
            <a:ext cx="4429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確認整個訓練流程能完成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E57036-C490-497D-B72D-361FD8B9D98A}"/>
              </a:ext>
            </a:extLst>
          </p:cNvPr>
          <p:cNvSpPr>
            <a:spLocks noGrp="1"/>
          </p:cNvSpPr>
          <p:nvPr/>
        </p:nvSpPr>
        <p:spPr>
          <a:xfrm>
            <a:off x="7162800" y="26670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下載與資料讀取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DD3FC6-A71B-40AC-8D25-B8A7A3ECC809}"/>
              </a:ext>
            </a:extLst>
          </p:cNvPr>
          <p:cNvSpPr>
            <a:spLocks noGrp="1"/>
          </p:cNvSpPr>
          <p:nvPr/>
        </p:nvSpPr>
        <p:spPr>
          <a:xfrm>
            <a:off x="7162800" y="34099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前向計算與參數更新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4F5291-439B-41A0-89CC-5E8E2D58A0D0}"/>
              </a:ext>
            </a:extLst>
          </p:cNvPr>
          <p:cNvSpPr>
            <a:spLocks noGrp="1"/>
          </p:cNvSpPr>
          <p:nvPr/>
        </p:nvSpPr>
        <p:spPr>
          <a:xfrm>
            <a:off x="7162800" y="41529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驗證與權重儲存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6257D-DDEA-43CB-87F7-32C602250AE0}"/>
              </a:ext>
            </a:extLst>
          </p:cNvPr>
          <p:cNvSpPr>
            <a:spLocks noGrp="1"/>
          </p:cNvSpPr>
          <p:nvPr/>
        </p:nvSpPr>
        <p:spPr>
          <a:xfrm>
            <a:off x="7162800" y="48958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完成後再換自己的資料</a:t>
            </a:r>
          </a:p>
        </p:txBody>
      </p:sp>
    </p:spTree>
    <p:extLst>
      <p:ext uri="{BB962C8B-B14F-4D97-AF65-F5344CB8AC3E}">
        <p14:creationId xmlns:p14="http://schemas.microsoft.com/office/powerpoint/2010/main" val="822009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1B5682D-F5B5-4C62-9726-01AB9355CE1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交通燈定位與燈色分類是不同任務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DEDBB6-04CD-47F6-92A7-64971EC0916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12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0910B7-307C-44F9-8C2E-CDE84819BFE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34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路徑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標註或輸入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輸出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COCO 預訓練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traffic light 類別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交通燈的框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方案 A：三類偵測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red／yellow／green 框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框與目前燈色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方案 B：兩階段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交通燈框內裁切圖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分類器或 HSV 燈色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無法確定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遮擋、熄滅、過小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UNKNOWN，保守停止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80656C7-B38E-4F10-8FEE-742909FFF886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先選一種標註規範：框整個燈組，或只框亮燈，整份資料保持一致。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830197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728AA47-99EA-45C4-9B32-C14C1D4F997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小型紅綠燈會留下多少像素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488D94-5E1E-4C4B-B873-751C3C03C49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12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3DFE44-03A4-4A00-B53D-D4001193313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35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原圖：1920×1080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等比例縮放倍率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原本 12 像素的目標寬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imgsz=640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640／1920 ≈ 0.333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約 4 像素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imgsz=480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480／1920 = 0.25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約 3 像素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imgsz=320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320／1920 ≈ 0.167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約 2 像素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71CCCB5-1BD3-41C7-BAC0-EF7B1EAA72B3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示意算例：使用等比例縮放與補邊。請保留細小目標的辨識能力。</a:t>
            </a:r>
          </a:p>
        </p:txBody>
      </p:sp>
    </p:spTree>
    <p:extLst>
      <p:ext uri="{BB962C8B-B14F-4D97-AF65-F5344CB8AC3E}">
        <p14:creationId xmlns:p14="http://schemas.microsoft.com/office/powerpoint/2010/main" val="176333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702287B-5C4B-4582-9DD0-507FD12EFFF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燈色模型的資料設定與訓練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99A1A3-D17B-446D-83F1-E961D5EE244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12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7475CC-CACE-4A81-A8EA-0F39B091A17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36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F73AF5-4339-4D57-A1DC-915262E59692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traffic.yaml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path: /home/student/traffic_dataset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train: images/train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val: images/val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names: {0: red, 1: yellow, 2: green}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終端機執行，下一行是一個完整指令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train model=yolo26n.pt data=traffic.yaml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DDB1F-A835-475B-B533-67665EBA8751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此 YAML 與道路四類分開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A9B9B1-8322-4696-84EC-D3E83025F8F7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按拍攝批次分資料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07B847-53B1-44E4-A44C-7934C5F7F61A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獨立測試逆光與夜間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41C463-5F6F-40E9-8ECC-F1DCC2DF00A1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epochs、batch 與 imgsz 依前章設定。模型輸出名稱要重新確認。</a:t>
            </a:r>
          </a:p>
        </p:txBody>
      </p:sp>
    </p:spTree>
    <p:extLst>
      <p:ext uri="{BB962C8B-B14F-4D97-AF65-F5344CB8AC3E}">
        <p14:creationId xmlns:p14="http://schemas.microsoft.com/office/powerpoint/2010/main" val="1622705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3726DB5-0EC5-433E-AA92-4A41DDD751F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遷移學習的核心設定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5B553B-6C1F-45C6-BF27-595EF9EE59E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12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8A746C-0E04-425F-AF52-E648A0F0B51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37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A877A3-1C7F-49A4-A857-94EED0826F57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model = YOLO("yolo26n.pt")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model.train(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data="dataset.yaml",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epochs=100, imgsz=640, batch=16,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workers=0, patience=30,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name="road_yolo26"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7C0A68-4595-416C-8794-00CDFD89E634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.pt 載入預訓練權重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C56A3F-3F5B-46F9-A454-C6E4A73C2963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100 是最多輪數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AAEEA6-104B-4060-940B-C16FE3C63EDE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四類由 YAML 定義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EA8ADF-C732-4313-B102-6DD7CC2F647E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Windows 完整程式保留 if __name__ == "__main__"。</a:t>
            </a:r>
          </a:p>
        </p:txBody>
      </p:sp>
    </p:spTree>
    <p:extLst>
      <p:ext uri="{BB962C8B-B14F-4D97-AF65-F5344CB8AC3E}">
        <p14:creationId xmlns:p14="http://schemas.microsoft.com/office/powerpoint/2010/main" val="737101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7D44449-87F0-498D-A105-10FAB83E2FC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訓練參數與輸出檔案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D5C30E-9238-4B82-8B8A-19B3AB7F600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12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44241B-5B73-4EB7-AAE4-C8C3E25DC5F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38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0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意義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操作判斷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batch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每批張數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OOM 先降為 8／4／2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patience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驗證長期未改善的容忍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可能提早停止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best.pt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驗證評分最佳權重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通常用於部署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last.pt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最後的檢查點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中斷後可嘗試 resume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B624B59-4F3E-48BC-9D07-98DD53AA049B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從隨機權重開始用 .yaml。一般小資料集先採 .pt 遷移學習。</a:t>
            </a:r>
          </a:p>
        </p:txBody>
      </p:sp>
    </p:spTree>
    <p:extLst>
      <p:ext uri="{BB962C8B-B14F-4D97-AF65-F5344CB8AC3E}">
        <p14:creationId xmlns:p14="http://schemas.microsoft.com/office/powerpoint/2010/main" val="1808312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E08D106-E813-43EA-B422-722FA1B9D9F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驗證與獨立案例測試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EC2A2C-264F-426E-867B-A8BEEECD82F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13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CC107-C15A-472C-B873-E6C439D63C5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39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31609B-B284-4E0A-A13E-54DBC27EB9C0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from ultralytics import YOLO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model = YOLO("best.pt")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metrics = model.val(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data="dataset.yaml", imgsz=640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model.predict("test.jpg", conf=0.35, save=True)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F13E3B-CA7E-4157-823B-D7418239D946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val 看整體指標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BC2272-41D1-4001-B3F5-F81AFCAA3321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predict 看錯誤案例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A0CF8F-03EC-4B10-8ABE-DC074EDBC684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正式 test 集另保留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24438F-918D-4996-85EF-590B7BBBBE00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先確認本頁 best.pt 指向本次訓練的實際檔案。</a:t>
            </a:r>
          </a:p>
        </p:txBody>
      </p:sp>
    </p:spTree>
    <p:extLst>
      <p:ext uri="{BB962C8B-B14F-4D97-AF65-F5344CB8AC3E}">
        <p14:creationId xmlns:p14="http://schemas.microsoft.com/office/powerpoint/2010/main" val="723837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694D6FF-1E5A-4E41-BB1C-474344BDFE2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Precision 與 Recall 算例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50D9A9-292A-4879-AE20-E9003F74B0B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13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A165DC-6F72-4E0B-943A-31A61B672A6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40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十個真實目標的例題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數量／公式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解讀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TP 找對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正確找到的物件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FP 誤報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把背景當成物件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FN 漏檢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真實存在但沒找到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Precision／Recall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8/(8+2) = 0.8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本例兩者相同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671F060-7A7A-480C-B143-D5DBB56FE1C5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這是固定門檻下的教學算例，不是本課程模型的實測成績。</a:t>
            </a:r>
          </a:p>
        </p:txBody>
      </p:sp>
    </p:spTree>
    <p:extLst>
      <p:ext uri="{BB962C8B-B14F-4D97-AF65-F5344CB8AC3E}">
        <p14:creationId xmlns:p14="http://schemas.microsoft.com/office/powerpoint/2010/main" val="279984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BAEE621-C3F6-4CAA-9BF8-E8E625492BC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conf IoU 與 mAP 的差別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8E4295-40BA-4CBC-8369-434BA1E8C96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13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9C9055-924B-4CAE-8804-F01927DF8AA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41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253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4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概念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判斷內容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常見誤解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conf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篩選偵測分數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高分不保證一定正確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IoU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框交集面積／聯集面積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不是信心值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mAP50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IoU 0.5 條件下平均 AP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不是分類正確率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mAP50–95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平均多個 IoU 條件的 AP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比單一條件更嚴格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1A18D99-0753-49DF-A089-30B13FAEEEBD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錯誤分析至少區分：類別混淆、漏檢、誤報。</a:t>
            </a:r>
          </a:p>
        </p:txBody>
      </p:sp>
    </p:spTree>
    <p:extLst>
      <p:ext uri="{BB962C8B-B14F-4D97-AF65-F5344CB8AC3E}">
        <p14:creationId xmlns:p14="http://schemas.microsoft.com/office/powerpoint/2010/main" val="281934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2B0D4E6-E05E-406C-8496-F7ACBE60361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電腦模型移交 Pi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C0FA33-E1BB-433A-8080-2E167CC37DE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14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912F5E-09D3-42BD-98A9-8EACC8DCE6A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42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003DE8-C547-4799-A9F1-69BA473B3B0D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scp best.pt student@192.168.1.50:~/yolo26-start/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以下在 Pi 終端機執行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cd ~/yolo26-start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source .venv/bin/activate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ls -lh best.pt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export model=best.pt format=ncnn imgsz=640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0FB042-3F9C-4A1D-B5C7-C39A16BEC80F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先在 PC 驗證模型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7CAAA8-3B98-4CF3-ABF0-9311EE0DE155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帳號和 IP 要替換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0ACCD1-4700-438A-AE0C-96F772BCF359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輸出為完整模型目錄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F0099E-C976-41B1-8B36-4260FAD0CB77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保留 best_ncnn_model 的所有檔案與中繼資料。</a:t>
            </a:r>
          </a:p>
        </p:txBody>
      </p:sp>
    </p:spTree>
    <p:extLst>
      <p:ext uri="{BB962C8B-B14F-4D97-AF65-F5344CB8AC3E}">
        <p14:creationId xmlns:p14="http://schemas.microsoft.com/office/powerpoint/2010/main" val="989564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BA1C6BD-05A9-4BFA-B22E-200CE45AAD5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NCNN 單張圖片驗證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6B3CE2-9CBB-4ABF-8EF5-B64F040449B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14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BE4A1D-603B-4C65-B070-7EFD43F8877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43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87E67D-7884-43A6-8754-9E5AB41E20AF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model = YOLO("best_ncnn_model", task="detect")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result = model.predict(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"test.jpg", imgsz=640, rect=False,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device="cpu", conf=0.35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)[0]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result.save(filename="ncnn_result.jpg")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print(result.names)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BDE80D-55A8-4967-A1E1-C006EC7353E8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匯出與輸入同尺寸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85B865-9C94-47F1-8238-ABEDCCE7A95B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先固定圖再接相機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DD3E39-641A-4831-8421-0E93B615E4AF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檢查四類名稱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0A50E0-6BE6-4F44-A966-E503D07B3EDE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640 匯出先搭配 640 推論。不能只換模型路徑而忽略尺寸。</a:t>
            </a:r>
          </a:p>
        </p:txBody>
      </p:sp>
    </p:spTree>
    <p:extLst>
      <p:ext uri="{BB962C8B-B14F-4D97-AF65-F5344CB8AC3E}">
        <p14:creationId xmlns:p14="http://schemas.microsoft.com/office/powerpoint/2010/main" val="200681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433DFEE-8897-4491-8190-FF21CE3A274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640 與 320 部署比較方法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AB470B-D833-4215-99F5-81B1084F562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14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2CBAAB-16CF-499D-B466-BC3F3C769F0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44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84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比較項目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640 版本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 版本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權重檔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best.pt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同權重另存 best320.pt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匯出 imgsz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640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推論 imgsz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640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評估內容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延遲與小物體品質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相同場景重新量測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4595C1F-E2C4-48E4-A640-2EB18066EED7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先暖機，再記錄平均與尾端延遲。模型變快仍要檢查漏檢。</a:t>
            </a:r>
          </a:p>
        </p:txBody>
      </p:sp>
    </p:spTree>
    <p:extLst>
      <p:ext uri="{BB962C8B-B14F-4D97-AF65-F5344CB8AC3E}">
        <p14:creationId xmlns:p14="http://schemas.microsoft.com/office/powerpoint/2010/main" val="1606153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F42DA87-03E2-48F7-9C84-593DE7FF0AA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NCNN ONNX 與 HEF 的部署分工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5BC7B0-134B-431A-B520-1AEB27BB15A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14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603C5A-2EAA-4BDF-B059-D6033C22CEC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45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產物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典型執行端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本課程操作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best.pt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PyTorch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訓練與基準驗證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NCNN 目錄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Pi ARM CPU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直接 format=ncnn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best.onnx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ONNX Runtime 等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另一條部署與比較路徑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HEF 與中繼資料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Hailo 加速器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專用編譯器與 HailoRT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E9BBF22-8C26-4956-AA96-DE01AA7097B3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本課程直接由 .pt 匯出 NCNN，不要求手動先轉 ONNX。</a:t>
            </a:r>
          </a:p>
        </p:txBody>
      </p:sp>
    </p:spTree>
    <p:extLst>
      <p:ext uri="{BB962C8B-B14F-4D97-AF65-F5344CB8AC3E}">
        <p14:creationId xmlns:p14="http://schemas.microsoft.com/office/powerpoint/2010/main" val="12077348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FFA08A5-82AC-4B36-9304-24E0477E94D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Pi 5 最佳化的實施順序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29AA85-4B6F-4B70-B22F-951EE8C901B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14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3BCDA6-8E12-44C4-B368-4DE26CEE120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46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優先順序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調整項目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需要觀察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硬體與系統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 位元、供電、散熱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降頻與相機掉幀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 模型與輸入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Nano、320／480／640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遠處目標漏檢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 執行格式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NCNN 與 ONNX 比較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端到端平均與 p95 延遲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 進階部署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INT8 與硬體加速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量化品質與支援限制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5801091-61E1-441D-BA83-C484D1B0E2A9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NCNN 可能回退一般偵測頭。以匯出警告與實際結果確認 NMS 路徑。</a:t>
            </a:r>
          </a:p>
        </p:txBody>
      </p:sp>
    </p:spTree>
    <p:extLst>
      <p:ext uri="{BB962C8B-B14F-4D97-AF65-F5344CB8AC3E}">
        <p14:creationId xmlns:p14="http://schemas.microsoft.com/office/powerpoint/2010/main" val="6246400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09B38E9-3EDE-445A-9617-EC9D888A5CF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Hailo 是選配的獨立部署路徑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2AF968-4F41-4F8E-9822-A3C16A1B816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14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49F560-0E9A-4860-8116-6ACDB2B1F7D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47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83930B-5302-482A-AD09-2795F7EE40DB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Linux x86_64，先安裝相符 DFC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from ultralytics import YOLO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model = YOLO("best.pt")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model.export(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format="hailo", name="hailo8l",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data="traffic.yaml", imgsz=640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F7479C-A03A-49E0-A6BD-17E15272B70A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編譯在工作站完成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B049B0-693D-48AD-BE47-732F99D2A310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校正影像需代表場景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E4EA8-C2BA-4043-A9B7-AF73334F47A3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Pi 安裝相符 HailoRT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47B370-0942-4974-BA0B-ABE380387A5D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YOLO26 Detect 已列入支援。不能據此推論 YOLO26-seg 等任務皆支援。</a:t>
            </a:r>
          </a:p>
        </p:txBody>
      </p:sp>
    </p:spTree>
    <p:extLst>
      <p:ext uri="{BB962C8B-B14F-4D97-AF65-F5344CB8AC3E}">
        <p14:creationId xmlns:p14="http://schemas.microsoft.com/office/powerpoint/2010/main" val="110707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18BF8FF-0AD1-4DC1-8FBD-425ED572621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解析度與格式的課堂實驗紀錄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BEFDA3-5CAA-41E8-A8F2-D1276139563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14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F06F8E-D1EF-4174-B821-C1DA6C0C6F6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48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實驗組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固定條件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每組記錄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NCNN，320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同一權重、同一段影片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平均延遲、p95、Recall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NCNN，480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對應尺寸重新匯出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平均延遲、p95、Recall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NCNN，640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同溫度與顯示設定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平均延遲、p95、Recall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ONNX／Hailo 選配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固定尺寸、記錄分支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品質差異與端到端延遲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9B4805F-B7D0-4CE0-BBDB-516F046C460D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每組先暖機，再量測至少 100 幀。表中列的是實驗計畫，不是實測結果。</a:t>
            </a:r>
          </a:p>
        </p:txBody>
      </p:sp>
    </p:spTree>
    <p:extLst>
      <p:ext uri="{BB962C8B-B14F-4D97-AF65-F5344CB8AC3E}">
        <p14:creationId xmlns:p14="http://schemas.microsoft.com/office/powerpoint/2010/main" val="3197161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CA9D783-E8D7-4A54-8129-70AE32BF7A4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偵測結果整理成事件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DDEDE0-CFA8-45F8-8586-4A3CE097F65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58087F-F065-499D-B8DE-4C01814229D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49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欄位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來源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用途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name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result.names[class_id]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判斷路標與障礙物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confidence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box.conf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候選篩選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box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box.xyxy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位置與區域判斷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area_ratio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框面積／畫面面積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解析度較一致的門檻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0AFF282-55EF-49CC-8EAA-599B0E23964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面積比例不是公尺距離。0.05／0.02 僅為教學示例。</a:t>
            </a:r>
          </a:p>
        </p:txBody>
      </p:sp>
    </p:spTree>
    <p:extLst>
      <p:ext uri="{BB962C8B-B14F-4D97-AF65-F5344CB8AC3E}">
        <p14:creationId xmlns:p14="http://schemas.microsoft.com/office/powerpoint/2010/main" val="12768640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10DDFE2-BF13-476D-AA22-649E762B020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事件判斷的優先順序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443E31-BAB9-43EE-859E-893076FFEAE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BCF52F-C3CA-4500-B2EB-B6FCD3A4893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50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3331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6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條件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輸出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行為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相機失效／資料過期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STOP_LATCHED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鎖定停止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停止標誌／障礙物達門檻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STOP_LATCHED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停止優先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同類轉向連續三幀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LEFT／RIGHT_EVENT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輸出轉向事件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左右衝突／證據不足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HOLD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不發出轉向事件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6B1C12-21EB-4813-9BD9-99E86DDB90F3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乾跑只印出事件。STOP 鎖定後不自動解除。</a:t>
            </a:r>
          </a:p>
        </p:txBody>
      </p:sp>
    </p:spTree>
    <p:extLst>
      <p:ext uri="{BB962C8B-B14F-4D97-AF65-F5344CB8AC3E}">
        <p14:creationId xmlns:p14="http://schemas.microsoft.com/office/powerpoint/2010/main" val="13177412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77C40A5-6826-443B-8B66-D5E6E1A6573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事件邏輯的可重現測試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436928-D480-472E-800B-FDB512B29FC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15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E7B2E8-9796-48F6-ACAF-FBEEDB6DE9C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51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627DF-9977-422A-814F-9D65A2569474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gate = EventGate()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assert gate.update(left, 0.0, 0.1) == "HOLD"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assert gate.update(left, 0.2, 0.3) == "HOLD"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assert gate.update(left, 0.4, 0.5) == "LEFT_EVENT"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資料已過期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assert EventGate().update([], 0, 1) == "STOP_LATCHED"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3FE7F7-08EA-42F6-A389-B7B012F6A301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測試不用相機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16FAE0-4820-44D5-BE01-DEBB8BFA6236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使用明確時間戳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BDF870-10E8-4827-A4C5-2AB152D653F5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再加左右衝突案例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338E79-04F5-402A-9BF0-3D2B7FCF63A4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完整 test_events.py 收錄於講者備註，執行後應通過 assert。</a:t>
            </a:r>
          </a:p>
        </p:txBody>
      </p:sp>
    </p:spTree>
    <p:extLst>
      <p:ext uri="{BB962C8B-B14F-4D97-AF65-F5344CB8AC3E}">
        <p14:creationId xmlns:p14="http://schemas.microsoft.com/office/powerpoint/2010/main" val="17953497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74C3ED6-84AE-43B2-9639-9FE8B53838E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dirty="0" err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影像時效與獨立安全機制</a:t>
            </a:r>
            <a:endParaRPr sz="3225" b="1" dirty="0">
              <a:solidFill>
                <a:srgbClr val="122B40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CD2278-DDBA-49E9-B273-550313065F2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9A8056-BE53-4E9A-B94B-1DE33949048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52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799" cy="3733800"/>
        </p:xfrm>
        <a:graphic>
          <a:graphicData uri="http://schemas.openxmlformats.org/drawingml/2006/table">
            <a:tbl>
              <a:tblPr/>
              <a:tblGrid>
                <a:gridCol w="3037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風險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Python 層處理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另需考慮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讀取失敗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例外與停止事件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底層馬達停車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推論結果過期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檢查 monotonic 時間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依車速決定時效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read／推論卡住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主迴圈無法再檢查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控制端獨立看門狗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沒有偵測到物件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只代表沒有輸出框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 dirty="0" err="1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不等於道路暢通</a:t>
                      </a:r>
                      <a:endParaRPr sz="1950" b="0" dirty="0">
                        <a:solidFill>
                          <a:srgbClr val="122B40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85A3708-C53F-4053-A479-D0421FAED385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獨立緊急停止、避障與人工復歸，不能只靠 finally。</a:t>
            </a:r>
          </a:p>
        </p:txBody>
      </p:sp>
    </p:spTree>
    <p:extLst>
      <p:ext uri="{BB962C8B-B14F-4D97-AF65-F5344CB8AC3E}">
        <p14:creationId xmlns:p14="http://schemas.microsoft.com/office/powerpoint/2010/main" val="2818860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BDB4D9E-E134-412B-930D-C7DFF39D9BF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dirty="0" err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智慧車的雙路感知與資料介面</a:t>
            </a:r>
            <a:endParaRPr sz="3225" b="1" dirty="0">
              <a:solidFill>
                <a:srgbClr val="122B40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330A35-5F72-4927-872E-1E663208909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C9ACFE-9608-4C32-9B11-BB86F9E5264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53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模組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接收資料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交付資料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影像擷取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USB／Picamera2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影像與時間戳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燈號辨識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同一幀或受控裁切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燈色、信心值、位置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車道辨識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同一幀道路 ROI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左右線、偏移量、有效性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決策融合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兩路結果與時效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停止或轉向建議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E671BC7-88D9-4C22-BF35-3A3089FCCD09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兩路可先依序執行。雙路架構不等於已實作多執行緒並行。</a:t>
            </a:r>
          </a:p>
        </p:txBody>
      </p:sp>
    </p:spTree>
    <p:extLst>
      <p:ext uri="{BB962C8B-B14F-4D97-AF65-F5344CB8AC3E}">
        <p14:creationId xmlns:p14="http://schemas.microsoft.com/office/powerpoint/2010/main" val="700350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B8636ED-1CE2-402C-BED8-C754C52EF66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dirty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OpenCV </a:t>
            </a:r>
            <a:r>
              <a:rPr sz="3225" b="1" dirty="0" err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車道基線的五個處理步驟</a:t>
            </a:r>
            <a:endParaRPr sz="3225" b="1" dirty="0">
              <a:solidFill>
                <a:srgbClr val="122B40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A95E9E-DCAC-48A5-AA69-154635DF213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9B8C1A-32AA-4372-90DA-459783E5360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54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步驟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OpenCV 函式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目的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灰階與 2 平滑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cvtColor／GaussianBlur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降低雜訊干擾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 邊緣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Canny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找亮度變化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 道路 ROI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fillPoly／bitwise_and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保留下方道路區域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 直線段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HoughLinesP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輸出線段端點</a:t>
                      </a:r>
                      <a:endParaRPr sz="1875" b="0" dirty="0">
                        <a:solidFill>
                          <a:srgbClr val="122B40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1600A0F-D40E-43A2-8BF0-0FCD90CE24BA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原始影像是輸入。五步處理後，還要分左右線、擬合與品質檢查。</a:t>
            </a:r>
          </a:p>
        </p:txBody>
      </p:sp>
    </p:spTree>
    <p:extLst>
      <p:ext uri="{BB962C8B-B14F-4D97-AF65-F5344CB8AC3E}">
        <p14:creationId xmlns:p14="http://schemas.microsoft.com/office/powerpoint/2010/main" val="4050086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4EEAF0F-5FBE-488C-AA4D-83F290BAED9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道路 ROI 與邊緣擷取的核心程式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D8194C-510D-4BC1-9507-B2F939BAB2C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C0F976-82C6-4DFB-A0AC-C8B7AD8AD23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55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A7F0BD-301A-42CA-8EB6-FBEB948B6307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h, w = frame.shape[:2]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gray = cv2.cvtColor(frame, cv2.COLOR_BGR2GRAY)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blur = cv2.GaussianBlur(gray, (5, 5), 0)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edges = cv2.Canny(blur, 60, 150)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mask = np.zeros_like(edges)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roi = np.array([[(0, h-1), (int(.4*w), int(.6*h)),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(int(.6*w), int(.6*h)), (w-1, h-1)]], np.int32)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cv2.fillPoly(mask, roi, 255)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road_edges = cv2.bitwise_and(edges, mask)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4C6651-7BAD-411F-8CF7-128A05123BD3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依相機角度調 ROI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43DE5-328C-4405-8A11-B36E2B36437C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門檻只是起始值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3F6657-9DB4-4AB9-9524-B0B8B757F5D6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遮罩尺寸與原圖相同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C809F1-1BF8-427B-8344-CC2483609BF0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ROI 外填 0。道路坡度、彎道與相機俯仰改變時需重新檢查。</a:t>
            </a:r>
          </a:p>
        </p:txBody>
      </p:sp>
    </p:spTree>
    <p:extLst>
      <p:ext uri="{BB962C8B-B14F-4D97-AF65-F5344CB8AC3E}">
        <p14:creationId xmlns:p14="http://schemas.microsoft.com/office/powerpoint/2010/main" val="444921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0D1F1F9-9582-4E2F-B8EC-4E5BC979FFA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Hough 找到的是線段，還需要道路語意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9E6A79-478E-4BE8-85AA-391AA4BAE89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C39329-0158-4F28-8084-22B645C1B7A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56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61146" y="1409700"/>
            <a:ext cx="3992908" cy="423862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9AB8F47-2CC6-4755-99CB-01B3F784140E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OpenCV 官方機率式霍夫直線示例，非本課程道路實測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5AC776-2F85-4D05-83B3-78802EE995DA}"/>
              </a:ext>
            </a:extLst>
          </p:cNvPr>
          <p:cNvSpPr>
            <a:spLocks noGrp="1"/>
          </p:cNvSpPr>
          <p:nvPr/>
        </p:nvSpPr>
        <p:spPr>
          <a:xfrm>
            <a:off x="7162800" y="1524000"/>
            <a:ext cx="4429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線段包含位置，未包含車道類別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F0C570-9D3D-4BE6-8E18-826154D01A9A}"/>
              </a:ext>
            </a:extLst>
          </p:cNvPr>
          <p:cNvSpPr>
            <a:spLocks noGrp="1"/>
          </p:cNvSpPr>
          <p:nvPr/>
        </p:nvSpPr>
        <p:spPr>
          <a:xfrm>
            <a:off x="7162800" y="26670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threshold 控制投票門檻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AFDD9C-C73A-46C6-9AC8-2071BA1DA9F9}"/>
              </a:ext>
            </a:extLst>
          </p:cNvPr>
          <p:cNvSpPr>
            <a:spLocks noGrp="1"/>
          </p:cNvSpPr>
          <p:nvPr/>
        </p:nvSpPr>
        <p:spPr>
          <a:xfrm>
            <a:off x="7162800" y="34099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minLineLength 排除短線段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A466A1-F4AC-4326-ADED-456D7D50175D}"/>
              </a:ext>
            </a:extLst>
          </p:cNvPr>
          <p:cNvSpPr>
            <a:spLocks noGrp="1"/>
          </p:cNvSpPr>
          <p:nvPr/>
        </p:nvSpPr>
        <p:spPr>
          <a:xfrm>
            <a:off x="7162800" y="41529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maxLineGap 允許有限斷裂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BBB8D1-7013-418E-A726-28A771D5A490}"/>
              </a:ext>
            </a:extLst>
          </p:cNvPr>
          <p:cNvSpPr>
            <a:spLocks noGrp="1"/>
          </p:cNvSpPr>
          <p:nvPr/>
        </p:nvSpPr>
        <p:spPr>
          <a:xfrm>
            <a:off x="7162800" y="48958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左右分組後才計算道路中心</a:t>
            </a:r>
          </a:p>
        </p:txBody>
      </p:sp>
    </p:spTree>
    <p:extLst>
      <p:ext uri="{BB962C8B-B14F-4D97-AF65-F5344CB8AC3E}">
        <p14:creationId xmlns:p14="http://schemas.microsoft.com/office/powerpoint/2010/main" val="3930701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9C1A2E0-BBD3-4D3D-AA8F-E2B62C65E1D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dirty="0" err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車道偏移量的符號與意義</a:t>
            </a:r>
            <a:endParaRPr sz="3225" b="1" dirty="0">
              <a:solidFill>
                <a:srgbClr val="122B40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800697-4933-4407-939B-5BC5A389CDC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462296-FAD7-43AF-B9EB-56AB3F434C3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57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量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計算方式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640 寬影像算例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左右邊界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同一列 y 的 xL、xR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xL=180，xR=500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車道中心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(xL + xR)／2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340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車體參考點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先用影像中心 w／2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正規化偏移 e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(車體點−車道中心)／(w／2)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−0.0625，車體偏左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763582F-8397-4438-86D2-1A7AFB68DDE7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本例 e&lt;0 建議向右修正。相機需置中並校正，像素偏移不能直接當公尺。</a:t>
            </a:r>
          </a:p>
        </p:txBody>
      </p:sp>
    </p:spTree>
    <p:extLst>
      <p:ext uri="{BB962C8B-B14F-4D97-AF65-F5344CB8AC3E}">
        <p14:creationId xmlns:p14="http://schemas.microsoft.com/office/powerpoint/2010/main" val="1617425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05AA37F-3FC5-46D3-A2FC-A39C7676ACF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車道程式的執行與失效檢查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6D51FF-E2FF-4323-962E-BAB116CDBCF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1CA1CC-2CCC-4958-8977-A31989B8C6D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58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706CE9-6806-4BF9-BAE0-B615FB236872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完整 lane_demo.py 收錄於本頁備註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 lane_demo.py road.jpg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成功時印出正規化偏移 e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並儲存 lane_result.jpg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雙線不足或幾何異常時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輸出 LANE_UNKNOWN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80091E-1571-43CD-8468-E7CBFEEA4F22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先用固定圖片驗證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047BF3-3E00-49BA-B6A1-6D5AE6EB8DA1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再逐幀呼叫 lane_offset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6F5D69-825F-4B90-BA10-333E11C6B849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失效不沿用舊偏移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233B1E-4127-4B32-9919-A8F0C5D449D5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教學基線只適用於可見的近似直線的雙側車道線，不保證彎道或遮擋場景。</a:t>
            </a:r>
          </a:p>
        </p:txBody>
      </p:sp>
    </p:spTree>
    <p:extLst>
      <p:ext uri="{BB962C8B-B14F-4D97-AF65-F5344CB8AC3E}">
        <p14:creationId xmlns:p14="http://schemas.microsoft.com/office/powerpoint/2010/main" val="4461158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15A1264-05A6-45E9-9D4A-921FE7E83C3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OpenCV 車道線與 AI 分割的取捨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341947-E51E-498A-A270-013EEE2A9ED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B11949-9DC1-4C9E-92FA-2A279C2B2F6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59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面向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OpenCV 幾何基線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自訓練分割模型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資料需求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調整門檻與幾何規則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需像素或多邊形標註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運算成本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也會使用 CPU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通常更高，需實測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彎道與陰影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直線假設容易失效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取決於資料與模型品質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教學順序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先建立可解釋基線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再比較品質與延遲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566B920-89B1-4B75-A071-9B1AAFE0664A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預訓練 -seg 權重不等於車道模型。NCNN／Hailo 的任務支援需各自確認。</a:t>
            </a:r>
          </a:p>
        </p:txBody>
      </p:sp>
    </p:spTree>
    <p:extLst>
      <p:ext uri="{BB962C8B-B14F-4D97-AF65-F5344CB8AC3E}">
        <p14:creationId xmlns:p14="http://schemas.microsoft.com/office/powerpoint/2010/main" val="3831561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5AA40B4-2C7D-4433-93A8-45AE644A28F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從物件遮罩延伸到車道標註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1AFF9D-5229-46D9-9524-F02FB9E7525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771C47-5592-461F-B0BA-17B5AFAEA46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60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670175"/>
            <a:ext cx="6096000" cy="17176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29DF8BB-F490-4570-AF2C-C3E6D980382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Ultralytics 官方實例分割示例，示範 mask 與 box 的差別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753D9A-DBAA-492C-B7B1-AF8182611AE8}"/>
              </a:ext>
            </a:extLst>
          </p:cNvPr>
          <p:cNvSpPr>
            <a:spLocks noGrp="1"/>
          </p:cNvSpPr>
          <p:nvPr/>
        </p:nvSpPr>
        <p:spPr>
          <a:xfrm>
            <a:off x="7162800" y="1524000"/>
            <a:ext cx="4429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分割需要定義哪些像素屬於目標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B5C765-9E45-4598-AD68-2D7B18527287}"/>
              </a:ext>
            </a:extLst>
          </p:cNvPr>
          <p:cNvSpPr>
            <a:spLocks noGrp="1"/>
          </p:cNvSpPr>
          <p:nvPr/>
        </p:nvSpPr>
        <p:spPr>
          <a:xfrm>
            <a:off x="7162800" y="26670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決定標線或可行駛區域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8B4172-76BA-44E0-A68C-FE13A53C0773}"/>
              </a:ext>
            </a:extLst>
          </p:cNvPr>
          <p:cNvSpPr>
            <a:spLocks noGrp="1"/>
          </p:cNvSpPr>
          <p:nvPr/>
        </p:nvSpPr>
        <p:spPr>
          <a:xfrm>
            <a:off x="7162800" y="34099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定義遮擋與斷線的標註規則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2BB6B5-F3CA-4152-A460-BE88F5F1D24C}"/>
              </a:ext>
            </a:extLst>
          </p:cNvPr>
          <p:cNvSpPr>
            <a:spLocks noGrp="1"/>
          </p:cNvSpPr>
          <p:nvPr/>
        </p:nvSpPr>
        <p:spPr>
          <a:xfrm>
            <a:off x="7162800" y="41529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使用自己的 lane.yaml 微調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AF8A34-4A85-4BCE-92DF-9E90C22E2DF2}"/>
              </a:ext>
            </a:extLst>
          </p:cNvPr>
          <p:cNvSpPr>
            <a:spLocks noGrp="1"/>
          </p:cNvSpPr>
          <p:nvPr/>
        </p:nvSpPr>
        <p:spPr>
          <a:xfrm>
            <a:off x="7162800" y="48958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評估 mask 品質與偏移穩定性</a:t>
            </a:r>
          </a:p>
        </p:txBody>
      </p:sp>
    </p:spTree>
    <p:extLst>
      <p:ext uri="{BB962C8B-B14F-4D97-AF65-F5344CB8AC3E}">
        <p14:creationId xmlns:p14="http://schemas.microsoft.com/office/powerpoint/2010/main" val="6673324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267F28-7836-47C9-8FC4-3306FE5AE79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燈號與車道融合的決策表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FAFA56-0B8D-422E-A18E-E44E3D5A111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7FB749-B80C-49E6-B731-87F2AF5D07B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61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條件（由上至下）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課堂輸出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處理理由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資料過期／障礙物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STOP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時效與避障優先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紅燈／黃燈／未知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STOP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教學採保守策略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綠燈但車道無效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STOP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缺少方向依據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綠燈且車道有效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STEER 或 CENTER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再依偏移 e 判斷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3D3D45C-A38B-43D6-B727-D00C45F40734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綠燈只滿足一項條件。停止鎖定、緊急停止與人工復歸仍由上層管理。</a:t>
            </a:r>
          </a:p>
        </p:txBody>
      </p:sp>
    </p:spTree>
    <p:extLst>
      <p:ext uri="{BB962C8B-B14F-4D97-AF65-F5344CB8AC3E}">
        <p14:creationId xmlns:p14="http://schemas.microsoft.com/office/powerpoint/2010/main" val="19133379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16780B2-FCA1-4276-BBF9-DB2DAF033FB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決策融合的純函式範例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FC0348-6463-49D5-A4CB-724101BFFAD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3F82A6-98E5-41E9-8A7B-E07F71D751A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62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80ED81-A113-4835-A851-6F7D352800A2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def decide(light, e, fresh=True, obstacle=False):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if not fresh or obstacle or e is None: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    return "STOP"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if light != "green":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    return "STOP"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if e &lt; -0.05: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    return "STEER_RIGHT"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if e &gt; 0.05: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    return "STEER_LEFT"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return "CENTER"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6AF8E9-CA18-4FC2-9017-199C8902D2BA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先停止判斷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40AAD9-AC56-46EF-B21D-2B1B26C9E184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再判斷轉向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E8C6A1-82B9-42AF-9A4B-18FB3CAD3767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0.05 是示例死區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A82088-94BC-41A4-AEF7-9CF96F378352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CENTER 表示方向接近中心，仍需上層速度策略與停止鎖定。</a:t>
            </a:r>
          </a:p>
        </p:txBody>
      </p:sp>
    </p:spTree>
    <p:extLst>
      <p:ext uri="{BB962C8B-B14F-4D97-AF65-F5344CB8AC3E}">
        <p14:creationId xmlns:p14="http://schemas.microsoft.com/office/powerpoint/2010/main" val="1482078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1D3D53B-BF96-4864-B930-93901F4FFB0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完整閉迴路與效能驗收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491502-1278-4534-8F36-1639D8177B1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15 章｜延伸實作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3DD129-36E9-4C57-8D73-ED3551D7DE7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63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1" cy="3733800"/>
        </p:xfrm>
        <a:graphic>
          <a:graphicData uri="http://schemas.openxmlformats.org/drawingml/2006/table">
            <a:tbl>
              <a:tblPr/>
              <a:tblGrid>
                <a:gridCol w="293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環節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必須記錄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驗收案例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感知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燈色、e、時間戳、有效性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陰影、無線、燈號衝突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決策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停止原因與事件變化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失效後維持停止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控制介面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MCU 回覆與獨立看門狗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通訊中斷、主程序卡住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效能實驗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平均／p95 延遲與 Recall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320／480／640 同片比較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CD26649-9D68-4E8A-A720-F7C61900997B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車輛運動改變下一幀影像，才形成閉迴路。此教材仍先以事件模擬驗收。</a:t>
            </a:r>
          </a:p>
        </p:txBody>
      </p:sp>
    </p:spTree>
    <p:extLst>
      <p:ext uri="{BB962C8B-B14F-4D97-AF65-F5344CB8AC3E}">
        <p14:creationId xmlns:p14="http://schemas.microsoft.com/office/powerpoint/2010/main" val="2449895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824EF95-A96F-4163-92EB-D12CD42D41A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無桌面模式的檢查方式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79430E-1699-493B-97B6-40DFAE1FF3B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16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8E49CE-E49B-4098-A73C-62B9A15E43B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64</a:t>
            </a: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297781"/>
            <a:ext cx="6096000" cy="246246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78AC2D5-E02D-4595-AD30-EEC12BE39A26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Raspberry Pi OS 官方桌面示意圖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9B6F25-C08C-477F-BAFB-46039AC79952}"/>
              </a:ext>
            </a:extLst>
          </p:cNvPr>
          <p:cNvSpPr>
            <a:spLocks noGrp="1"/>
          </p:cNvSpPr>
          <p:nvPr/>
        </p:nvSpPr>
        <p:spPr>
          <a:xfrm>
            <a:off x="7162800" y="1524000"/>
            <a:ext cx="44291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SSH 與本機桌面分開驗證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9A4054-BA6B-4404-A5B3-7E7679E28AFE}"/>
              </a:ext>
            </a:extLst>
          </p:cNvPr>
          <p:cNvSpPr>
            <a:spLocks noGrp="1"/>
          </p:cNvSpPr>
          <p:nvPr/>
        </p:nvSpPr>
        <p:spPr>
          <a:xfrm>
            <a:off x="7162800" y="26670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有桌面才使用 --show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FE5814-0F4A-44A9-BE91-FF4521582475}"/>
              </a:ext>
            </a:extLst>
          </p:cNvPr>
          <p:cNvSpPr>
            <a:spLocks noGrp="1"/>
          </p:cNvSpPr>
          <p:nvPr/>
        </p:nvSpPr>
        <p:spPr>
          <a:xfrm>
            <a:off x="7162800" y="34099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SSH 以有限幀數與存圖驗證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76F89E-1396-417D-AF18-847193DB92F8}"/>
              </a:ext>
            </a:extLst>
          </p:cNvPr>
          <p:cNvSpPr>
            <a:spLocks noGrp="1"/>
          </p:cNvSpPr>
          <p:nvPr/>
        </p:nvSpPr>
        <p:spPr>
          <a:xfrm>
            <a:off x="7162800" y="415290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檢查 cv2 套件來源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579D86-950D-4110-BDB1-3690023A3EE5}"/>
              </a:ext>
            </a:extLst>
          </p:cNvPr>
          <p:cNvSpPr>
            <a:spLocks noGrp="1"/>
          </p:cNvSpPr>
          <p:nvPr/>
        </p:nvSpPr>
        <p:spPr>
          <a:xfrm>
            <a:off x="7162800" y="4895850"/>
            <a:ext cx="44291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保留 Ctrl+C 與資源釋放</a:t>
            </a:r>
          </a:p>
        </p:txBody>
      </p:sp>
    </p:spTree>
    <p:extLst>
      <p:ext uri="{BB962C8B-B14F-4D97-AF65-F5344CB8AC3E}">
        <p14:creationId xmlns:p14="http://schemas.microsoft.com/office/powerpoint/2010/main" val="5647169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2EC6375-608D-45D4-B081-8E29080E0CF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常見錯誤的第一個檢查點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033CB9-17FF-462D-9470-B2096554A47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16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190F9B-14FC-43E5-8EDD-C7850D7241A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65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799" cy="3733800"/>
        </p:xfrm>
        <a:graphic>
          <a:graphicData uri="http://schemas.openxmlformats.org/drawingml/2006/table">
            <a:tbl>
              <a:tblPr/>
              <a:tblGrid>
                <a:gridCol w="3526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訊息／現象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先檢查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後續動作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找不到 yolo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虛擬環境與 PATH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直接執行 venv 入口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No module named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sys.executable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用同一 Python 安裝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CUDA OOM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batch 與其他 GPU 工作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先降 8／4／2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Picamera2 匯入失敗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apt 與 system-site-packages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新建相容環境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E34C72E-A4FE-4D33-804F-BC0551EA9024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不要用全套重裝、sudo pip 或吞掉例外取代定位問題。</a:t>
            </a:r>
          </a:p>
        </p:txBody>
      </p:sp>
    </p:spTree>
    <p:extLst>
      <p:ext uri="{BB962C8B-B14F-4D97-AF65-F5344CB8AC3E}">
        <p14:creationId xmlns:p14="http://schemas.microsoft.com/office/powerpoint/2010/main" val="14815021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239545F-79B3-4DD0-AAF2-5921F328DD4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結課實作驗收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6CC572-587D-4E7F-A84D-A1D391CEF0E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16 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4210D0-088F-4AA7-9CA3-8006BE46055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66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0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交付物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檢核方式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通過條件</a:t>
                      </a:r>
                    </a:p>
                  </a:txBody>
                  <a:tcPr marL="152400" marR="152400" marT="123825" marB="114300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環境與程式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重新開啟終端機執行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版本與路徑可追溯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資料集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預檢與抽查疊圖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類別一致且無洩漏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best.pt／NCNN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同圖與相機測試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名稱、尺寸與結果合理</a:t>
                      </a:r>
                    </a:p>
                  </a:txBody>
                  <a:tcPr marL="152400" marR="152400" marT="123825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事件乾跑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失效與衝突案例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不驅動馬達且停止優先</a:t>
                      </a:r>
                    </a:p>
                  </a:txBody>
                  <a:tcPr marL="152400" marR="152400" marT="123825" marB="11430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556E302-4F77-4294-A950-5BB73EAF4E83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成果報告同時呈現成功案例、失敗案例與下一步改善。</a:t>
            </a:r>
          </a:p>
        </p:txBody>
      </p:sp>
    </p:spTree>
    <p:extLst>
      <p:ext uri="{BB962C8B-B14F-4D97-AF65-F5344CB8AC3E}">
        <p14:creationId xmlns:p14="http://schemas.microsoft.com/office/powerpoint/2010/main" val="1882843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1735F2A-D45F-4C19-87DA-75335E178C8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實景資料採集：三個任務、三套標註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8E3CD9-FA72-433B-BDCD-DAD5D9AF98C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17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82CEDB-4139-4E57-8FD2-B9379413D47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67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任務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模型／標註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本次類別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yolo26n-seg.pt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多邊形分割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lane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紅綠燈號誌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yolo26n.pt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矩形偵測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red／yellow／green_light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另含原專案 stop_sign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四類道路物件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yolo26n.pt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矩形偵測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stop_sign、left_sign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right_sign、obstacle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6B295D2-962A-41BA-866B-D93CE230884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「四類道路」沿用原教案的道路物件；若指路型分類，需另訂類別。</a:t>
            </a:r>
          </a:p>
        </p:txBody>
      </p:sp>
    </p:spTree>
    <p:extLst>
      <p:ext uri="{BB962C8B-B14F-4D97-AF65-F5344CB8AC3E}">
        <p14:creationId xmlns:p14="http://schemas.microsoft.com/office/powerpoint/2010/main" val="16769604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22CCC68-C259-4C64-9EE1-FB595022968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先讀懂上傳專案的實際接線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695E37-B470-40E5-8202-6E8C65E16B5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17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D12D20-E5B8-4FD7-8E70-9CAAEE47DAE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68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位置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既有設定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操作意義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四輪驅動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PCA9685：I²C 1／0x40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A、C 左側；B、D 右側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PWM 通道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A=0、B=5、C=6、D=11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沿用 motor.py，勿改成通用 GPIO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 輪方向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BCM 25、24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Pi 5 使用 lgpio 後端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相機／雲台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CSI Camera／PCA 12、13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採集期間固定鏡頭角度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278EBFF-5E6C-4C80-A6CD-19D61CAC3486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新程式重用原 motor.py；原自駕服務與採集程式不可同時占用硬體。</a:t>
            </a:r>
          </a:p>
        </p:txBody>
      </p:sp>
    </p:spTree>
    <p:extLst>
      <p:ext uri="{BB962C8B-B14F-4D97-AF65-F5344CB8AC3E}">
        <p14:creationId xmlns:p14="http://schemas.microsoft.com/office/powerpoint/2010/main" val="7250010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929B1EC-3D5E-4CB8-8EC3-8004E6ADED5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Pi 5 採集環境與服務切換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30D668-02C7-40C8-8EA7-459CC0E1412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17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AF0250-78D8-429F-B530-A06E4E538E0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69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E8E1EB-C83C-49CC-95FE-66C66FB2F608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sudo systemctl stop autocar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sudo apt update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sudo apt install -y python3-venv python3-picamera2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python3-gpiozero python3-lgpio python3-smbus ffmpeg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python3 -m venv --system-site-packages .venv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source .venv/bin/activate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 collect_drive.py --group routeA_day01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76A370-8CAD-4720-B8AF-2EE57C1ECF73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先停原服務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045A72-A8CF-4067-9B48-4D866B2A7E72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預設模擬馬達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92051B-A512-4D05-AAF0-8D4963CB5209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CAM 仍需實機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C9EBD0-244F-4945-93EE-949129965742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在解壓後的專案根目錄執行；I²C 須已啟用。</a:t>
            </a:r>
          </a:p>
        </p:txBody>
      </p:sp>
    </p:spTree>
    <p:extLst>
      <p:ext uri="{BB962C8B-B14F-4D97-AF65-F5344CB8AC3E}">
        <p14:creationId xmlns:p14="http://schemas.microsoft.com/office/powerpoint/2010/main" val="5394464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0334852-F6A4-4333-9F15-79A21E483B9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資料採集控制鍵與行車規則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797683-CE03-43A7-816D-DBD9A058150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18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662A29-8273-4F1D-B237-69FAA6BF387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70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按鍵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動作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狀態變化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啟用／解除馬達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啟用後仍保持靜止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W／↑、A／←、D／→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前進、左彎、右彎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按鍵重複送出；放開約 0.30 秒停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S／↓、空白鍵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停車並解除啟用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再次行駛須先按 E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C、R、Q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CAM 開關、錄影開關、離開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相機操作先停車；Q 清理資源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FB8035C-1285-46A2-9BF8-CD735A7A4587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僅低速前進差速轉彎；本教材採集模式不提供倒車。</a:t>
            </a:r>
          </a:p>
        </p:txBody>
      </p:sp>
    </p:spTree>
    <p:extLst>
      <p:ext uri="{BB962C8B-B14F-4D97-AF65-F5344CB8AC3E}">
        <p14:creationId xmlns:p14="http://schemas.microsoft.com/office/powerpoint/2010/main" val="394539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A1690F1-1256-419C-82C4-F83A5EA20E4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手動行駛：沿用四輪差速介面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2A3DD3-A77E-4FD7-805A-73E0154831C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18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7C75E5-0A74-438C-AAF9-7C2EB5C89D9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71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C53945-3503-41D5-B9CA-5D121F5F710D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motor.set_enabled(True, start_manual=False)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speed = 0.25; maximum allowed = 0.35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motor.drive_tank(speed, speed)       # W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motor.drive_tank(speed * .35, speed) # A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motor.drive_tank(speed, speed * .35) # D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motor.drive_tank(0, 0)              # timeout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motor.set_enabled(False)           # SPACE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291522-7A94-480A-8AEA-82F1DA209BC7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先啟用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AA343C-5004-4215-872A-4E291B8A19A5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左右輪分開控制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F42142-4309-4649-B3D3-E2708F8228A6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零命令就是停車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407395-1F9A-4A7C-B47B-6D676B4B227F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完整程式：collect_drive.py；實車加入 --real --speed 0.25。</a:t>
            </a:r>
          </a:p>
        </p:txBody>
      </p:sp>
    </p:spTree>
    <p:extLst>
      <p:ext uri="{BB962C8B-B14F-4D97-AF65-F5344CB8AC3E}">
        <p14:creationId xmlns:p14="http://schemas.microsoft.com/office/powerpoint/2010/main" val="2608991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A57D013-9940-471B-92B4-11C068DF0B9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CAM 開啟與影片編碼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9DFDBE-97C2-48F2-89C3-CFAB57EEF15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18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5D8E55-1F77-41DC-9ECC-944FDE299E7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72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12D307-710F-42AA-8E79-E68B0E1005D7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camera = Picamera2()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camera.configure(camera.create_video_configuration(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main={"size": (1280, 720), "format": "YUV420"},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controls={"FrameRate": 30}))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camera.start()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encoder = H264Encoder(bitrate=8_000_000)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camera.start_encoder(encoder,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FfmpegOutput("capture.mp4"), name="main")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85D858-253B-45B3-AB48-E0D8E9B0BBA6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1280 × 720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43D53B-3CAA-48AC-A8DF-0001507087AA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請求 30 FPS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6A8FD-313F-456E-916C-005065E98013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MP4 封裝存檔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B189BE-6954-44E7-A73E-588EFE81BA85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此頁為 API 摘要；附件會自動產生唯一檔名，並設定鏡頭旋轉。</a:t>
            </a:r>
          </a:p>
        </p:txBody>
      </p:sp>
    </p:spTree>
    <p:extLst>
      <p:ext uri="{BB962C8B-B14F-4D97-AF65-F5344CB8AC3E}">
        <p14:creationId xmlns:p14="http://schemas.microsoft.com/office/powerpoint/2010/main" val="1199380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8E1988E-7A47-4B39-8803-78576F81885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停止錄影、CAM 關閉與資源回收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3A9475-F6D1-4F47-9074-3D67BE45BC8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18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F10638-E853-49D9-84D7-480B770FC15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73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61938A-0840-41C1-B443-D7DC00B75584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Keep the encoder object created at start.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camera.stop_encoder(encoder)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MP4 is finalized before closing the camera.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camera.stop()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camera.close()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Program exit cleanup: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try: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curses.wrapper(run, args, motor, camera)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finally: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motor.close()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  camera.off()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D94BD-3F69-436F-B7A9-FD931063FE9E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先封存影片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D38143-A3A9-491F-AFCE-CDDC6088C555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再關閉相機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2C4DA-7DC9-4415-BFB7-55BE8E12A01C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最後釋放硬體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66EE25-CD28-443B-9B3C-63EE519BEF28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停止特定編碼器要傳 encoder 物件，不能把 "main" 當作 encoder。</a:t>
            </a:r>
          </a:p>
        </p:txBody>
      </p:sp>
    </p:spTree>
    <p:extLst>
      <p:ext uri="{BB962C8B-B14F-4D97-AF65-F5344CB8AC3E}">
        <p14:creationId xmlns:p14="http://schemas.microsoft.com/office/powerpoint/2010/main" val="859000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D0E4F01-B15E-4F7C-BCA7-6FF3F258AA2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現場拍攝計畫與資料覆蓋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EA45E8-735A-46B8-A13D-75F7565F732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19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0C0D9B-5FCC-42CE-8CD0-32069047501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74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變因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需要收集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現場紀錄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道路與車道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直線、彎道、缺線、陰影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路段、方向、相機高度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號誌／路標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遠中近、各燈色、斜視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狀態、距離區間、遮擋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光線／背景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順光、逆光、室內外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日期、時段、天候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困難與負樣本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反光、無目標、相似圖案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保留原因、可否可靠標註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002A813-8B5C-46D2-A1BF-76CC5AA43018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以安全封閉場地低速採集；燈號狀態必須可由原始畫面判定。</a:t>
            </a:r>
          </a:p>
        </p:txBody>
      </p:sp>
    </p:spTree>
    <p:extLst>
      <p:ext uri="{BB962C8B-B14F-4D97-AF65-F5344CB8AC3E}">
        <p14:creationId xmlns:p14="http://schemas.microsoft.com/office/powerpoint/2010/main" val="3202685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F867B3F-C18E-4B1A-8D66-0E6F21B4FD2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一次完整的現場錄影操作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707BFF-1204-4A97-A14A-065C4577B97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19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65191D-C0E6-4FBB-8655-A86559D8BE3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75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088CF9-370E-4D5A-B3DD-4180274B24E4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 collect_drive.py --real --speed 0.25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--group routeA_day01 --out recordings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C: camera on; R: start recording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E: arm; hold W/A/D to move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SPACE: stop; R: finalize MP4; Q: quit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ffprobe -v error -select_streams v:0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-show_entries stream=width,height,avg_frame_rate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-show_entries format=duration capture.mp4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0C8193-7A5A-48C1-8D3A-F4B7430F6C8E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檢查輪向後落地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55E724-4643-447A-B7EA-FDF6973318DD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錄影時固定視角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8A7C9C-552B-401B-989E-E4447619B864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結束後播放檢查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28B557-BE9F-46D8-97CB-044EFF905B93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capture.mp4 請改成 recordings 中實際產生的檔案路徑。</a:t>
            </a:r>
          </a:p>
        </p:txBody>
      </p:sp>
    </p:spTree>
    <p:extLst>
      <p:ext uri="{BB962C8B-B14F-4D97-AF65-F5344CB8AC3E}">
        <p14:creationId xmlns:p14="http://schemas.microsoft.com/office/powerpoint/2010/main" val="9969109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337D1E-0FE0-40F3-916F-822EC5BFEC3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拍攝場次分組與資料切分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433F2B-E79C-45A2-A396-D3178D417DB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19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E03FA6-5A00-409C-9B6D-AC2C333D8F3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76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集合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用途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切分原則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train 約 70%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更新模型權重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涵蓋各類與多種光線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val 約 15%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選模型與推論門檻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與 train 不同拍攝場次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test 約 15%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最後一次獨立評估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保留新路段或新拍攝日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group_id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避免影片片段互相洩漏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同一路段連續拍攝保持同組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1754375-CB46-47D4-AE7C-83469D2E8958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比例是起點；先按場次分組，再抽幀，不能隨機打散相鄰影格。</a:t>
            </a:r>
          </a:p>
        </p:txBody>
      </p:sp>
    </p:spTree>
    <p:extLst>
      <p:ext uri="{BB962C8B-B14F-4D97-AF65-F5344CB8AC3E}">
        <p14:creationId xmlns:p14="http://schemas.microsoft.com/office/powerpoint/2010/main" val="12980505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249E625-F580-412F-AB24-AE0D81229C2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影片清單與每秒一張抽幀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9DBE27-03FA-477F-970E-0AB3424DE36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20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6EED4-A3D4-4C77-B739-AAB39B1CACE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77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DE218C-0BB6-4059-9FA6-B83C9A4A413C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clips.csv (paths relative to this CSV)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video,group_id,split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recordings/a.mp4,routeA_day01,train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recordings/b.mp4,routeB_day02,val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recordings/c.mp4,routeC_day03,test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 dataset_tool.py extract --plan clips.csv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--out frames_v1 --fps 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178459-868A-40D5-8FF6-57B7752F6A07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先修改 CSV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F28ED8-7DE9-4CD7-A20A-E46A697F5014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保留場次資訊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6FD413-2D35-40C3-A1D5-0B03ABE957DA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輸出不可覆寫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1D30F5-76D2-4D45-8CA0-68EFBD58AE02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frames_v1/images 放照片；manifest.json 保留照片與影片、集合的對應。</a:t>
            </a:r>
          </a:p>
        </p:txBody>
      </p:sp>
    </p:spTree>
    <p:extLst>
      <p:ext uri="{BB962C8B-B14F-4D97-AF65-F5344CB8AC3E}">
        <p14:creationId xmlns:p14="http://schemas.microsoft.com/office/powerpoint/2010/main" val="10570494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7B50B92-FD51-4986-908D-8C6CCA3A040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抽幀密度與人工篩選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E076CB-6AEB-4165-88C7-B8A4B823CB1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20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7F29B3-6D73-4B6A-8CFC-883EBFD0347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78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情況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起始設定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檢查方式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慢速車道巡航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每秒 1 張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相鄰畫面是否幾乎相同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短暫燈號或路標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對該片段增加抽幀率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各狀態是否真的出現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原始 .h264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另指定 --raw-fps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原始檔通常沒有完整時間資訊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無法標註影格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重建經審查的抽幀清單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勿當負樣本混入訓練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FF39E06-96D4-4CDF-AB0F-4B30B2533EAB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提高抽幀率增加標註成本；無法補回原影片未拍清楚的小物件。</a:t>
            </a:r>
          </a:p>
        </p:txBody>
      </p:sp>
    </p:spTree>
    <p:extLst>
      <p:ext uri="{BB962C8B-B14F-4D97-AF65-F5344CB8AC3E}">
        <p14:creationId xmlns:p14="http://schemas.microsoft.com/office/powerpoint/2010/main" val="8662480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556EC35-67E9-460F-A90B-87ED00A9DC1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CVAT 手動 LABEL：矩形偵測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EDCFAA-873B-4B0B-B955-3D95192991F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20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D064EF-072A-4D1F-AE67-3A9DB224FE7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79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步驟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實際操作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檢查重點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建立任務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匯入 images／設定類別順序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traffic 與 road 分開建立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畫框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選 Rectangle，緊貼可見目標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號誌採整個燈具外框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指定類別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按亮燈狀態或路標名稱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多燈並存逐一標註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儲存與匯出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Ultralytics YOLO Detection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保存 labels 與 data.yaml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B62696B-DC05-4D1B-8DAB-28D416634802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框選規則需全班一致；漏標物件會被訓練流程當成背景。</a:t>
            </a:r>
          </a:p>
        </p:txBody>
      </p:sp>
    </p:spTree>
    <p:extLst>
      <p:ext uri="{BB962C8B-B14F-4D97-AF65-F5344CB8AC3E}">
        <p14:creationId xmlns:p14="http://schemas.microsoft.com/office/powerpoint/2010/main" val="7967393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3680A2A-E437-4309-AED2-D48B6544A8E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CVAT 手動 LABEL：車道線分割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BB1945-C2EC-454F-AE6E-6F8DD82E688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20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821094-513D-4471-A046-C86B173B7B0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80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操作規則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避免的錯誤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工具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Polygon，多邊形沿可見邊界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折線 Polyline 不等於面積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範圍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標車道漆線的實際寬度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不要把整個可行駛區當 lane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斷續／遮擋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分開標各段可見區域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不要跨越遮擋補想像的線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匯出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Ultralytics YOLO Segmentation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確認每列至少 3 個頂點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4DD9674-E1FE-4504-8C6A-F3A4A177339A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本章 lane 代表「可見車道漆線」，不是車道中央線或可行駛路面。</a:t>
            </a:r>
          </a:p>
        </p:txBody>
      </p:sp>
    </p:spTree>
    <p:extLst>
      <p:ext uri="{BB962C8B-B14F-4D97-AF65-F5344CB8AC3E}">
        <p14:creationId xmlns:p14="http://schemas.microsoft.com/office/powerpoint/2010/main" val="20323271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B76BE3B-B948-4747-9660-9CD3D8941EC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類別與座標格式檢查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0F0F3B-6858-4062-ACC8-582125DC89E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20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22B0AC-EF78-4F13-A9DF-47914FADDCA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81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3A5C38-8586-4D8F-B018-0A6AEA195EE3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Detection: class cx cy width height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0 0.500 0.400 0.100 0.200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Segmentation: class x1 y1 x2 y2 ...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0 0.30 0.90 0.32 0.90 0.46 0.50 0.45 0.50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road names: 0 stop_sign, 1 left_sign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            2 right_sign, 3 obstacle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traffic: 0 red_light, 1 yellow_light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         2 green_light, 3 stop_sign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6631F2-E3C0-40E1-8578-1CDCC425939C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座標除以寬高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ACCB7F-175E-4D89-A0D7-ED355F96CCF0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ID 從零開始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4DBFFF-D82B-4FDA-89E9-FB93288CF580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空標註須審查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632BA9-353B-4127-A8EE-A7B8C841E158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各任務 ID 獨立；traffic 的 0 與 road 的 0 不是同一類。</a:t>
            </a:r>
          </a:p>
        </p:txBody>
      </p:sp>
    </p:spTree>
    <p:extLst>
      <p:ext uri="{BB962C8B-B14F-4D97-AF65-F5344CB8AC3E}">
        <p14:creationId xmlns:p14="http://schemas.microsoft.com/office/powerpoint/2010/main" val="5191750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687180B-B140-41DA-A3BD-0C6D731B68A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組合可訓練的資料集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A3F53B-CF37-4D42-8DD3-FE798687726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21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AE5CC7-1D27-4E60-880A-097F59805C6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82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C9F86D-F391-430D-9615-42D0F9EC293B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 -m pip install PyYAML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 dataset_tool.py build --task road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--frames frames_v1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--labels exports/road/labels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--export-yaml exports/road/data.yaml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--negatives road_negatives.txt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--out datasets/road_v1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Repeat with --task traffic and --task lane.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49D068-D59F-4577-ADBE-8AFEC89FB227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核對 names 順序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CF7F26-869B-4978-AB22-09C954AE8B4D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拒絕缺標／重複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2F238C-F71F-4E4E-AE62-4D6244CB7BCD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保留三個集合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9C1E2E-375D-4EA8-A5AD-8E3720F0FFA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沒有負樣本時省略 --negatives；每個任務使用自己的匯出與清單。</a:t>
            </a:r>
          </a:p>
        </p:txBody>
      </p:sp>
    </p:spTree>
    <p:extLst>
      <p:ext uri="{BB962C8B-B14F-4D97-AF65-F5344CB8AC3E}">
        <p14:creationId xmlns:p14="http://schemas.microsoft.com/office/powerpoint/2010/main" val="2993951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689136-E0C9-4921-9111-00BEAFDD5AF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Windows／Linux 遷移訓練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E6C847-56C5-4959-A247-0676F22CFD0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21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0F1F6B-F1CD-452F-A6C1-44415FC0C87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83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5AFDDB-A416-4B34-83F0-C9A2A17D8A78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 -m pip install -r requirements-training.txt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python train_task.py --task road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--data datasets/road_v1/dataset.yaml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--device 0 --epochs 100 --batch 8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--imgsz 640 --name road_v1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traffic: --task traffic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lane:    --task lane (uses yolo26n-seg.pt)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CPU:    --device cpu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533D0F-CEC4-4FE2-9CAF-A39251B7467D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Windows 用單行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1A96BD-996B-4222-AFA0-BC7DACC54539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GPU 用 device 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DA8302-DAFC-45CF-9664-B5EFFF6340EA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保留 main 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E3D954-A93D-4353-863B-80E298B993F1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實際輸出位置以程式列印為準；同名實驗可能自動加編號。</a:t>
            </a:r>
          </a:p>
        </p:txBody>
      </p:sp>
    </p:spTree>
    <p:extLst>
      <p:ext uri="{BB962C8B-B14F-4D97-AF65-F5344CB8AC3E}">
        <p14:creationId xmlns:p14="http://schemas.microsoft.com/office/powerpoint/2010/main" val="4773128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4BF8989-DF0B-4F5F-B66B-762EA7FF9AD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驗證、封存測試集與 NCNN 匯出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C51FB7-0BA5-40C5-9731-866D35F644F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第 21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FE8699-E52F-4DF1-9B5A-07C804A9CCD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84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28BBBB-120B-4E53-9E2D-E324C1AAC9F8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val model=BEST.pt data=DATA.yaml split=val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Choose thresholds on val; freeze settings first.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val model=BEST.pt data=DATA.yaml split=test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predict model=BEST.pt source=new_drive.mp4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On Pi: export and infer with the same input size.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export model=BEST.pt format=ncnn imgsz=416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predict model=BEST_ncnn_model \</a:t>
            </a:r>
          </a:p>
          <a:p>
            <a:pPr>
              <a:buNone/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source=test.jpg imgsz=416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6D4F87-EA7B-408D-BBA8-6B2165E8414E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 val 調參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4277E3-EFD0-4CDF-A5C1-F75921E53A69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再 test 評估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265047-CE92-45D1-8D4E-E4FE78E442CB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另測新影片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CE0D59-13B4-4E62-A8BF-B0A4A0007B4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BEST.pt／DATA.yaml 請替換；分割模型另檢查 mask 指標與遮罩品質。</a:t>
            </a:r>
          </a:p>
        </p:txBody>
      </p:sp>
    </p:spTree>
    <p:extLst>
      <p:ext uri="{BB962C8B-B14F-4D97-AF65-F5344CB8AC3E}">
        <p14:creationId xmlns:p14="http://schemas.microsoft.com/office/powerpoint/2010/main" val="17019831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950150A-43D2-465A-90E1-3AC7E6FE6BA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成果驗收與失敗回收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764B44-5EE3-437D-8F89-6382C04E416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第 21 章｜實景採集與訓練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CBB359-3895-4735-BA30-DF4B7F39C61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85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成果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必須保留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驗收方式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採集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MP4＋JSON＋clips.csv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可播放、場次可追溯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LABEL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匯出 ZIP＋負樣本清單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隨機逐張疊圖覆核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TRAIN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dataset.yaml＋best.pt＋設定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類別順序與資料版本一致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TEST／部署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獨立指標＋新影片＋延遲紀錄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漏紅燈、丟車道與超時測試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1708126-B324-44DF-883D-853F151759BD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先補失敗場景資料，再重訓；測試集不作為反覆調參素材。</a:t>
            </a:r>
          </a:p>
        </p:txBody>
      </p:sp>
    </p:spTree>
    <p:extLst>
      <p:ext uri="{BB962C8B-B14F-4D97-AF65-F5344CB8AC3E}">
        <p14:creationId xmlns:p14="http://schemas.microsoft.com/office/powerpoint/2010/main" val="11075106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1ED5A3F-21F3-4E87-B880-B042BDC4A54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補充：共用影像與共用模型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5225D3-F124-4EF8-84BC-65F06FB406E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5371DF-4D37-4F57-83CA-B123085AE4C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86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層次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可以共用的內容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必須明確區分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拍攝來源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同一影片、同一張照片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場次與 train／val／test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車道任務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同一張道路照片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lane 多邊形分割標註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物件任務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同一張道路照片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燈號與道路物件矩形框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模型訓練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共用資料來源與版本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一個模型或多個模型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644CDA0-1DA1-4514-86DF-6E8AFF8EB714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本案比較：三模型分開訓練、兩模型部分合併、單模型統一分割。</a:t>
            </a:r>
          </a:p>
        </p:txBody>
      </p:sp>
    </p:spTree>
    <p:extLst>
      <p:ext uri="{BB962C8B-B14F-4D97-AF65-F5344CB8AC3E}">
        <p14:creationId xmlns:p14="http://schemas.microsoft.com/office/powerpoint/2010/main" val="10795240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3365402-CCCE-4890-A9C0-778DDA11D59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三種模型配置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6B801A-EC24-4D5C-B1CA-BA20B805BDA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6A8A8C-6643-4E5D-AF77-C3EB905BC38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87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方案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訓練配置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主要代價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A：三模型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車道分割＋交通偵測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＋道路物件偵測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各任務可獨立調整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整體執行與維護較多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B：兩模型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車道分割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＋七類合併偵測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偵測任務共用特徵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需補齊合併標註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C：單模型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所有目標統一分割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輸出框、類別與遮罩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所有類別都需分割標註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需共同調整輸入與容量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2CF8912-EBA9-454E-A467-4A66F09DD1CC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B 是本案優先驗證的部署方案，準確度與速度仍需實測。</a:t>
            </a:r>
          </a:p>
        </p:txBody>
      </p:sp>
    </p:spTree>
    <p:extLst>
      <p:ext uri="{BB962C8B-B14F-4D97-AF65-F5344CB8AC3E}">
        <p14:creationId xmlns:p14="http://schemas.microsoft.com/office/powerpoint/2010/main" val="6370150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1D9E09-2791-4F97-A6C5-7D603B3B868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辨識效果與調整彈性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E17CE9-57BF-419C-90D5-CC01C864AAA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F9D860-5657-4D6F-8F43-9DB3D827EFA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88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比較面向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分開訓練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合併偵測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特徵學習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各任務專注自身目標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可共享道路背景特徵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遠距小型燈號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可獨立使用較高解析度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需共同保留足夠燈號像素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資料不平衡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各任務可獨立補資料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少量燈色可能被大量類別主導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修改與回歸測試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可單獨更新一個任務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更新後要檢查全部七類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EA9D10C-2A15-459B-B983-A6DC9B8C2CD7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以上為工程取捨，並非已量測結果。合併與分開皆不保證較準。</a:t>
            </a:r>
          </a:p>
        </p:txBody>
      </p:sp>
    </p:spTree>
    <p:extLst>
      <p:ext uri="{BB962C8B-B14F-4D97-AF65-F5344CB8AC3E}">
        <p14:creationId xmlns:p14="http://schemas.microsoft.com/office/powerpoint/2010/main" val="15606273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0A73A9F-28CE-436A-9485-D85BE211AB9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車道分割與物件偵測的差異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56C279-9A28-4BD6-8A85-06E8794C193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ACDDAF-42FE-4D14-9C28-0CD08A326FE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89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任務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需要的輸出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後續處理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可見漆線的形狀與遮罩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計算中心、彎曲與偏移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燈號與路標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矩形框、類別、信心值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燈號狀態與行車事件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全部統一分割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所有類別的多邊形標註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選用框或遮罩輸出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標註格式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偵測框與分割頂點不同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標準分割資料應保持一致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0E6E0B4-2B17-4CEB-8389-15D2C1298303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YOLO26 的雙偵測頭不代表「一個車道頭＋一個燈號頭」。</a:t>
            </a:r>
          </a:p>
        </p:txBody>
      </p:sp>
    </p:spTree>
    <p:extLst>
      <p:ext uri="{BB962C8B-B14F-4D97-AF65-F5344CB8AC3E}">
        <p14:creationId xmlns:p14="http://schemas.microsoft.com/office/powerpoint/2010/main" val="3308686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DAE8890-0D71-4953-8A77-19AEDC81391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七類合併偵測的類別設定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C206D3-406A-4102-82A6-F4A7C559093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F89CCA-57D4-48F7-B899-B753F2B80B2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90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248883-52BE-4D00-83FE-F0D4D49E7F64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# objects7.yaml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path: /absolute/path/to/objects7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train: images/train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val: images/val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test: images/test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names: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0: red_light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1: yellow_light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2: green_light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3: stop_sign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4: left_sign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5: right_sign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6: obstacle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0ABB0E-55B3-4022-8081-F09F5CB2CE8F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3 種燈色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5354F6-5381-4869-8D54-8EFEA04F5FA0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4 種道路物件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D53724-F70D-4074-B2F4-7B52465026A8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停止標誌去重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604F8C-D2D2-4175-9777-10FC9043F4E7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重新對應舊標註 ID，不能只修改 YAML 的名稱。</a:t>
            </a:r>
          </a:p>
        </p:txBody>
      </p:sp>
    </p:spTree>
    <p:extLst>
      <p:ext uri="{BB962C8B-B14F-4D97-AF65-F5344CB8AC3E}">
        <p14:creationId xmlns:p14="http://schemas.microsoft.com/office/powerpoint/2010/main" val="8796940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3AD2224-A273-4B45-818C-3C6873D11CE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合併標註：補標與去重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575980-BAB2-47E2-ACA4-12D1D90D79B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1B3C36-A78E-43F7-A7A9-3597E09A2C8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91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同張照片的內容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原本獨立任務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七類合併後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紅燈＋左轉標誌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交通標紅燈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道路標左轉標誌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同一份標註包含兩個框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兩套都有停止標誌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各自一份 stop_sign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保留同一物件的一個框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照片另有障礙物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舊交通標註可能未包含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依七類規則補標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無任何七類目標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先人工確認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才可作為負樣本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F2300BF-918A-437D-9474-2938458B792F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直接拼接資料夾可能留下漏標物件，影響模型的學習與召回率。</a:t>
            </a:r>
          </a:p>
        </p:txBody>
      </p:sp>
    </p:spTree>
    <p:extLst>
      <p:ext uri="{BB962C8B-B14F-4D97-AF65-F5344CB8AC3E}">
        <p14:creationId xmlns:p14="http://schemas.microsoft.com/office/powerpoint/2010/main" val="3916698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551953F-81B9-4780-ACE2-355C80BB83D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Pi 5 推論時間與排程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7D470C-0696-43D8-B9AF-0F4DE40FF24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5D68BE-C4C1-410A-9C33-245EB4D4F33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92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安排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同一影格循序執行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量測重點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三模型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相機＋車道＋交通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＋道路物件＋決策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完整控制迴圈耗時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兩模型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相機＋車道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＋七類偵測＋決策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減少重複執行是否有收益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不同更新頻率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車道與物件各自排程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結果時間戳與過期判定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提高號誌解析度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保留更多小物件像素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延遲、CPU、記憶體、溫度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ADB081E-E814-47A7-8301-F98866C06AB3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模型數減少不等於速度按比例增加。兩路並行也可能爭用 CPU。</a:t>
            </a:r>
          </a:p>
        </p:txBody>
      </p:sp>
    </p:spTree>
    <p:extLst>
      <p:ext uri="{BB962C8B-B14F-4D97-AF65-F5344CB8AC3E}">
        <p14:creationId xmlns:p14="http://schemas.microsoft.com/office/powerpoint/2010/main" val="756511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21E77BD-1D46-4978-8DA8-555DB14094B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A／B 實驗的公平比較條件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F85A31-61E2-4FAB-BB29-A0B565BE41E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857264-056B-4BFA-9E3B-EF28277636C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93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條件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固定的部分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另行記錄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資料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同場次切分與完整標註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各類數量、遠中近分布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模型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相同 n 規模與車道模型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預訓練權重、實際參數量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訓練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相同 seed 與初始設定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epochs、實際耗時、選模方式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部署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同一 Pi、NCNN、輸入尺寸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暖機、執行緒、散熱與排程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F35808C-7DE6-400F-B3E9-FC7BAD60F46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先做固定條件比較，再比較各方案調校後的部署結果。</a:t>
            </a:r>
          </a:p>
        </p:txBody>
      </p:sp>
    </p:spTree>
    <p:extLst>
      <p:ext uri="{BB962C8B-B14F-4D97-AF65-F5344CB8AC3E}">
        <p14:creationId xmlns:p14="http://schemas.microsoft.com/office/powerpoint/2010/main" val="14982048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F957B17-917D-4E35-A1A7-F1A8B656951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七類遷移訓練與獨立測試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E960CF-5049-441D-8C64-F0EB19433EB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90B595-5190-4550-BBF6-236927B36E4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A4BDC9"/>
                </a:solidFill>
                <a:latin typeface="Noto Sans CJK TC"/>
                <a:ea typeface="Noto Sans CJK TC"/>
                <a:cs typeface="Noto Sans CJK TC"/>
              </a:rPr>
              <a:t>94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AA0BFB-BDA4-4273-ABD6-06E40293B968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8334375" cy="373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detect train model=yolo26n.pt \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data=objects7.yaml imgsz=640 epochs=100 \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batch=8 device=0 workers=0 seed=42 fliplr=0 \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project=runs/compare name=merged7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detect val model=BEST.pt \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data=objects7.yaml split=val imgsz=640</a:t>
            </a:r>
          </a:p>
          <a:p>
            <a:endParaRPr sz="1800" b="0">
              <a:solidFill>
                <a:srgbClr val="D5F5ED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yolo detect val model=BEST.pt \</a:t>
            </a:r>
          </a:p>
          <a:p>
            <a:pPr>
              <a:def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D5F5ED"/>
                </a:solidFill>
                <a:latin typeface="DejaVu Sans Mono"/>
                <a:ea typeface="DejaVu Sans Mono"/>
                <a:cs typeface="DejaVu Sans Mono"/>
              </a:rPr>
              <a:t>  data=objects7.yaml split=test imgsz=640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D1D8E1-15BD-4D8F-82B2-0DDD41D6D841}"/>
              </a:ext>
            </a:extLst>
          </p:cNvPr>
          <p:cNvSpPr>
            <a:spLocks noGrp="1"/>
          </p:cNvSpPr>
          <p:nvPr/>
        </p:nvSpPr>
        <p:spPr>
          <a:xfrm>
            <a:off x="9324975" y="174307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先整理七類資料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B24361-73D8-4185-96A6-DD5C8E593E7A}"/>
              </a:ext>
            </a:extLst>
          </p:cNvPr>
          <p:cNvSpPr>
            <a:spLocks noGrp="1"/>
          </p:cNvSpPr>
          <p:nvPr/>
        </p:nvSpPr>
        <p:spPr>
          <a:xfrm>
            <a:off x="9324975" y="2876550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val 選定設定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9E8890-8E1E-4B94-AC9B-F8BE74AB90E4}"/>
              </a:ext>
            </a:extLst>
          </p:cNvPr>
          <p:cNvSpPr>
            <a:spLocks noGrp="1"/>
          </p:cNvSpPr>
          <p:nvPr/>
        </p:nvSpPr>
        <p:spPr>
          <a:xfrm>
            <a:off x="9324975" y="4010025"/>
            <a:ext cx="22764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F5FAFC"/>
                </a:solidFill>
                <a:latin typeface="Noto Sans CJK TC"/>
                <a:ea typeface="Noto Sans CJK TC"/>
                <a:cs typeface="Noto Sans CJK TC"/>
              </a:rPr>
              <a:t>test 報告成績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795A02-DBEF-47FA-8F5C-A6FDBB07E0D2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B8D8E1"/>
                </a:solidFill>
                <a:latin typeface="Noto Sans CJK TC"/>
                <a:ea typeface="Noto Sans CJK TC"/>
                <a:cs typeface="Noto Sans CJK TC"/>
              </a:rPr>
              <a:t>BEST.pt 換成實際權重路徑。PowerShell 用單行，CPU 改 device=cpu。</a:t>
            </a:r>
          </a:p>
        </p:txBody>
      </p:sp>
    </p:spTree>
    <p:extLst>
      <p:ext uri="{BB962C8B-B14F-4D97-AF65-F5344CB8AC3E}">
        <p14:creationId xmlns:p14="http://schemas.microsoft.com/office/powerpoint/2010/main" val="13914330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ABE723F-60FB-442B-BE95-261610FDB64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結果判讀與部署選擇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643142-319C-4461-9915-3C94BB84DB0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補充說明｜分開與合併訓練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2DC655-4A0C-42EC-B45D-C55F217D606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95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09600" y="1581150"/>
          <a:ext cx="10972800" cy="3733800"/>
        </p:xfrm>
        <a:graphic>
          <a:graphicData uri="http://schemas.openxmlformats.org/drawingml/2006/table">
            <a:tbl>
              <a:tblPr/>
              <a:tblGrid>
                <a:gridCol w="264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驗收項目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需要觀察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5FAFC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選擇依據</a:t>
                      </a:r>
                    </a:p>
                  </a:txBody>
                  <a:tcPr marL="152400" marR="152400" marT="85725" marB="85725" anchor="ctr">
                    <a:solidFill>
                      <a:srgbClr val="122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紅綠燈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各燈色 Recall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紅綠誤判、遠距漏檢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不能只看總體 mAP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道路物件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各類 AP、左右轉誤判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障礙物漏檢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確認合併後沒有重要退步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車道／整車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偏移誤差、丟線時間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STOP 事件延遲、P95 延遲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兼顧幾何品質與反應時間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部署決定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在 val 預定可接受門檻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以獨立 test 檢查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合併符合門檻且延遲下降</a:t>
                      </a:r>
                    </a:p>
                    <a:p>
                      <a:r>
                        <a:rPr sz="1875" b="0">
                          <a:solidFill>
                            <a:srgbClr val="122B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才優先採用兩模型</a:t>
                      </a:r>
                    </a:p>
                  </a:txBody>
                  <a:tcPr marL="152400" marR="152400" marT="85725" marB="85725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7D8B4C4-8B31-4753-ACC8-35CD8C8314D1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目前尚無本車實測數據。先建立三模型基準，再驗證部分合併方案。</a:t>
            </a:r>
          </a:p>
        </p:txBody>
      </p:sp>
    </p:spTree>
    <p:extLst>
      <p:ext uri="{BB962C8B-B14F-4D97-AF65-F5344CB8AC3E}">
        <p14:creationId xmlns:p14="http://schemas.microsoft.com/office/powerpoint/2010/main" val="7207898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C34681A-4529-4F08-9FC4-8B317F95704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課堂提問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ADCB52-F549-445F-9C14-09E66631E56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YOLO26 實作教學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34AED-B309-4610-BFDD-11734B870F5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96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24BD6D-1962-48AC-B6E6-0491F235590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你能說明這四個差別嗎？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8B01FC-5B0D-4A09-B070-5D8B1C1527B1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D9DD43-DE2F-4A20-9B55-7CB0A3ED15A5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99631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訓練與推論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B83472-8CDE-4AF4-96AB-B3CA85536D45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310FFE-6B8E-4572-AF2C-6558E36E4FBC}"/>
              </a:ext>
            </a:extLst>
          </p:cNvPr>
          <p:cNvSpPr>
            <a:spLocks noGrp="1"/>
          </p:cNvSpPr>
          <p:nvPr/>
        </p:nvSpPr>
        <p:spPr>
          <a:xfrm>
            <a:off x="1219200" y="3381375"/>
            <a:ext cx="99631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conf 與 IoU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7641AB-8966-4823-AC31-3DEDBCCC3468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C57BFB-DFAB-4BE4-A41B-924E45E6412C}"/>
              </a:ext>
            </a:extLst>
          </p:cNvPr>
          <p:cNvSpPr>
            <a:spLocks noGrp="1"/>
          </p:cNvSpPr>
          <p:nvPr/>
        </p:nvSpPr>
        <p:spPr>
          <a:xfrm>
            <a:off x="1219200" y="4191000"/>
            <a:ext cx="99631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像素 xyxy 與正規化 xywh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BDD00B-7B38-4E95-B2E0-D2195F0C98DD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C0A449-1007-477E-A208-6B395EEDA6AE}"/>
              </a:ext>
            </a:extLst>
          </p:cNvPr>
          <p:cNvSpPr>
            <a:spLocks noGrp="1"/>
          </p:cNvSpPr>
          <p:nvPr/>
        </p:nvSpPr>
        <p:spPr>
          <a:xfrm>
            <a:off x="1219200" y="5000625"/>
            <a:ext cx="99631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辨識事件與車輛控制</a:t>
            </a:r>
          </a:p>
        </p:txBody>
      </p:sp>
    </p:spTree>
    <p:extLst>
      <p:ext uri="{BB962C8B-B14F-4D97-AF65-F5344CB8AC3E}">
        <p14:creationId xmlns:p14="http://schemas.microsoft.com/office/powerpoint/2010/main" val="14310853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3B74BA0-6EB1-4FB9-AF84-29A4D460072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教材與官方參考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346008-70AD-4C21-AEBE-A630CAA1004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YOLO26 實作教學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045B89-86C5-42AF-8705-A3836215A3B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526676"/>
                </a:solidFill>
                <a:latin typeface="Noto Sans CJK TC"/>
                <a:ea typeface="Noto Sans CJK TC"/>
                <a:cs typeface="Noto Sans CJK TC"/>
              </a:rPr>
              <a:t>97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593786-FDDB-433B-A359-E9A0339E94FE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146A18-7BCD-44B0-B4EA-2305BCAD06B8}"/>
              </a:ext>
            </a:extLst>
          </p:cNvPr>
          <p:cNvSpPr>
            <a:spLocks noGrp="1"/>
          </p:cNvSpPr>
          <p:nvPr/>
        </p:nvSpPr>
        <p:spPr>
          <a:xfrm>
            <a:off x="1219200" y="1666875"/>
            <a:ext cx="103632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YOLO26 模型、Predict、Train 與 NCNN 文件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A4E826-67F5-4545-AFE1-6EE564754E82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72BB91-9E12-4E9B-A222-10973919501F}"/>
              </a:ext>
            </a:extLst>
          </p:cNvPr>
          <p:cNvSpPr>
            <a:spLocks noGrp="1"/>
          </p:cNvSpPr>
          <p:nvPr/>
        </p:nvSpPr>
        <p:spPr>
          <a:xfrm>
            <a:off x="1219200" y="2562225"/>
            <a:ext cx="103632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Raspberry Pi 5 與 Camera Module 3 官方照片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66222-7A07-493C-BF79-63A927E52E49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65F86C-BB41-4187-8F34-2938B9B7F3AF}"/>
              </a:ext>
            </a:extLst>
          </p:cNvPr>
          <p:cNvSpPr>
            <a:spLocks noGrp="1"/>
          </p:cNvSpPr>
          <p:nvPr/>
        </p:nvSpPr>
        <p:spPr>
          <a:xfrm>
            <a:off x="1219200" y="3457575"/>
            <a:ext cx="103632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Picamera2 官方手冊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72AF7B-F1F8-4998-852B-24EA7CF35070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463081-9315-4312-A18F-70B8AEBA2001}"/>
              </a:ext>
            </a:extLst>
          </p:cNvPr>
          <p:cNvSpPr>
            <a:spLocks noGrp="1"/>
          </p:cNvSpPr>
          <p:nvPr/>
        </p:nvSpPr>
        <p:spPr>
          <a:xfrm>
            <a:off x="1219200" y="4352925"/>
            <a:ext cx="103632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>
                <a:solidFill>
                  <a:srgbClr val="122B40"/>
                </a:solidFill>
                <a:latin typeface="Noto Sans CJK TC"/>
                <a:ea typeface="Noto Sans CJK TC"/>
                <a:cs typeface="Noto Sans CJK TC"/>
              </a:rPr>
              <a:t>本課程 16 章 Word 逐字稿與完整程式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7351AC-1EB6-4890-BD9C-D3CD7183AE0F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007C82"/>
                </a:solidFill>
                <a:latin typeface="Noto Sans CJK TC"/>
                <a:ea typeface="Noto Sans CJK TC"/>
                <a:cs typeface="Noto Sans CJK TC"/>
              </a:rPr>
              <a:t>完整來源與程式碼請開啟 PowerPoint 講者備註</a:t>
            </a:r>
          </a:p>
        </p:txBody>
      </p:sp>
    </p:spTree>
    <p:extLst>
      <p:ext uri="{BB962C8B-B14F-4D97-AF65-F5344CB8AC3E}">
        <p14:creationId xmlns:p14="http://schemas.microsoft.com/office/powerpoint/2010/main" val="1947831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D9028E7-A5CE-F95E-FBE0-2BF427966000}"/>
              </a:ext>
            </a:extLst>
          </p:cNvPr>
          <p:cNvSpPr txBox="1"/>
          <p:nvPr/>
        </p:nvSpPr>
        <p:spPr>
          <a:xfrm>
            <a:off x="1856510" y="1468957"/>
            <a:ext cx="9116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TW" dirty="0"/>
              <a:t>ffmpeg -f h264 -i input.h264 -vcodec copy output.mp4 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F991048-29F9-9EA9-E062-F1941ED06238}"/>
              </a:ext>
            </a:extLst>
          </p:cNvPr>
          <p:cNvSpPr txBox="1"/>
          <p:nvPr/>
        </p:nvSpPr>
        <p:spPr>
          <a:xfrm>
            <a:off x="1856510" y="18382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ffmpeg</a:t>
            </a:r>
            <a:r>
              <a:rPr lang="en-US" altLang="zh-TW" dirty="0"/>
              <a:t> -</a:t>
            </a:r>
            <a:r>
              <a:rPr lang="en-US" altLang="zh-TW" dirty="0" err="1"/>
              <a:t>i</a:t>
            </a:r>
            <a:r>
              <a:rPr lang="en-US" altLang="zh-TW" dirty="0"/>
              <a:t> input.h264 -</a:t>
            </a:r>
            <a:r>
              <a:rPr lang="en-US" altLang="zh-TW" dirty="0" err="1"/>
              <a:t>vcodec</a:t>
            </a:r>
            <a:r>
              <a:rPr lang="en-US" altLang="zh-TW" dirty="0"/>
              <a:t> libx264 -</a:t>
            </a:r>
            <a:r>
              <a:rPr lang="en-US" altLang="zh-TW" dirty="0" err="1"/>
              <a:t>acodec</a:t>
            </a:r>
            <a:r>
              <a:rPr lang="en-US" altLang="zh-TW" dirty="0"/>
              <a:t> </a:t>
            </a:r>
            <a:r>
              <a:rPr lang="en-US" altLang="zh-TW" dirty="0" err="1"/>
              <a:t>aac</a:t>
            </a:r>
            <a:r>
              <a:rPr lang="en-US" altLang="zh-TW" dirty="0"/>
              <a:t> output.mp4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945846-1522-EEF9-0914-6ED4B31535E2}"/>
              </a:ext>
            </a:extLst>
          </p:cNvPr>
          <p:cNvSpPr txBox="1"/>
          <p:nvPr/>
        </p:nvSpPr>
        <p:spPr>
          <a:xfrm>
            <a:off x="1856511" y="3874808"/>
            <a:ext cx="8091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ffmpeg</a:t>
            </a:r>
            <a:r>
              <a:rPr lang="en-US" altLang="zh-TW" dirty="0"/>
              <a:t> -</a:t>
            </a:r>
            <a:r>
              <a:rPr lang="en-US" altLang="zh-TW" dirty="0" err="1"/>
              <a:t>hide_banner</a:t>
            </a:r>
            <a:r>
              <a:rPr lang="en-US" altLang="zh-TW" dirty="0"/>
              <a:t> -n -</a:t>
            </a:r>
            <a:r>
              <a:rPr lang="en-US" altLang="zh-TW" dirty="0" err="1"/>
              <a:t>i</a:t>
            </a:r>
            <a:r>
              <a:rPr lang="en-US" altLang="zh-TW" dirty="0"/>
              <a:t> output2.mp4 -</a:t>
            </a:r>
            <a:r>
              <a:rPr lang="en-US" altLang="zh-TW" dirty="0" err="1"/>
              <a:t>vf</a:t>
            </a:r>
            <a:r>
              <a:rPr lang="en-US" altLang="zh-TW" dirty="0"/>
              <a:t> "fps=1/2" -</a:t>
            </a:r>
            <a:r>
              <a:rPr lang="en-US" altLang="zh-TW" dirty="0" err="1"/>
              <a:t>q:v</a:t>
            </a:r>
            <a:r>
              <a:rPr lang="en-US" altLang="zh-TW" dirty="0"/>
              <a:t> 2 “traffic_%06d.jpg"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4894B89-53CA-0E92-F45F-4EB7C2E05F16}"/>
              </a:ext>
            </a:extLst>
          </p:cNvPr>
          <p:cNvSpPr txBox="1"/>
          <p:nvPr/>
        </p:nvSpPr>
        <p:spPr>
          <a:xfrm>
            <a:off x="1861318" y="1043709"/>
            <a:ext cx="1564852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/>
              <a:t>H264</a:t>
            </a:r>
            <a:r>
              <a:rPr lang="zh-TW" altLang="en-US" dirty="0"/>
              <a:t>轉換</a:t>
            </a:r>
            <a:r>
              <a:rPr lang="en-US" altLang="zh-TW" dirty="0"/>
              <a:t>mp4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CB6AA18-336B-5A72-F1A1-95D63647D5A1}"/>
              </a:ext>
            </a:extLst>
          </p:cNvPr>
          <p:cNvSpPr txBox="1"/>
          <p:nvPr/>
        </p:nvSpPr>
        <p:spPr>
          <a:xfrm>
            <a:off x="1856510" y="3449560"/>
            <a:ext cx="156966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/>
              <a:t>影片轉換圖片</a:t>
            </a:r>
          </a:p>
        </p:txBody>
      </p:sp>
    </p:spTree>
    <p:extLst>
      <p:ext uri="{BB962C8B-B14F-4D97-AF65-F5344CB8AC3E}">
        <p14:creationId xmlns:p14="http://schemas.microsoft.com/office/powerpoint/2010/main" val="7352629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0436BD4-6170-9D0A-C8B2-BFF538753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666" y="738909"/>
            <a:ext cx="8432260" cy="584199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34FF0BD-D1E6-1A0F-E2C7-F675E8E331DF}"/>
              </a:ext>
            </a:extLst>
          </p:cNvPr>
          <p:cNvSpPr txBox="1"/>
          <p:nvPr/>
        </p:nvSpPr>
        <p:spPr>
          <a:xfrm>
            <a:off x="3492666" y="2770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https://platform.ultralytics.com/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12DC90-BDA8-5ECE-623E-81FBF87FA65D}"/>
              </a:ext>
            </a:extLst>
          </p:cNvPr>
          <p:cNvSpPr txBox="1"/>
          <p:nvPr/>
        </p:nvSpPr>
        <p:spPr>
          <a:xfrm>
            <a:off x="374263" y="323259"/>
            <a:ext cx="2492990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/>
              <a:t>使用雲端數據集標記與</a:t>
            </a:r>
            <a:endParaRPr lang="en-US" altLang="zh-TW" dirty="0"/>
          </a:p>
          <a:p>
            <a:r>
              <a:rPr lang="zh-TW" altLang="en-US" dirty="0"/>
              <a:t>訓練工具</a:t>
            </a:r>
          </a:p>
        </p:txBody>
      </p:sp>
    </p:spTree>
    <p:extLst>
      <p:ext uri="{BB962C8B-B14F-4D97-AF65-F5344CB8AC3E}">
        <p14:creationId xmlns:p14="http://schemas.microsoft.com/office/powerpoint/2010/main" val="17761450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21246-217A-BCDF-B08F-00311DE57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D5723A0-4A3A-9B19-0B13-6669CC329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743"/>
            <a:ext cx="12192000" cy="600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1285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B3C11CA-99FF-853F-94F6-FE487E1D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92" y="0"/>
            <a:ext cx="5893594" cy="6858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E3A97D3-40F1-CF19-8ACD-A36589E31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815" y="0"/>
            <a:ext cx="5967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1830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E1EE035-AFF5-F3AD-4F5A-6B56D85ECB66}"/>
              </a:ext>
            </a:extLst>
          </p:cNvPr>
          <p:cNvSpPr txBox="1"/>
          <p:nvPr/>
        </p:nvSpPr>
        <p:spPr>
          <a:xfrm>
            <a:off x="618836" y="3094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zh-TW" b="0" i="0" dirty="0">
                <a:solidFill>
                  <a:schemeClr val="tx1"/>
                </a:solidFill>
                <a:effectLst/>
                <a:latin typeface="+mn-lt"/>
              </a:rPr>
              <a:t>執行方式（請在 PowerShell 中依序執行）：</a:t>
            </a:r>
            <a:endParaRPr lang="zh-TW" altLang="zh-TW" b="0" i="0" dirty="0">
              <a:solidFill>
                <a:srgbClr val="CCCCCC"/>
              </a:solidFill>
              <a:effectLst/>
              <a:latin typeface="Segoe WPC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0C35112-7289-064D-3E60-5BDD951A4561}"/>
              </a:ext>
            </a:extLst>
          </p:cNvPr>
          <p:cNvSpPr txBox="1"/>
          <p:nvPr/>
        </p:nvSpPr>
        <p:spPr>
          <a:xfrm>
            <a:off x="618835" y="940460"/>
            <a:ext cx="1098203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步驟 1：啟用虛擬環境並設定 API Key</a:t>
            </a:r>
          </a:p>
          <a:p>
            <a:pPr marL="0" marR="0" indent="0" algn="l">
              <a:buNone/>
            </a:pPr>
            <a:endParaRPr lang="zh-TW" altLang="zh-TW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# 1. 啟用專案的虛擬環境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.\.venv\Scripts\Activate.ps1</a:t>
            </a:r>
          </a:p>
          <a:p>
            <a:pPr marL="0" marR="0" indent="0" algn="l">
              <a:buNone/>
            </a:pPr>
            <a:endParaRPr lang="en-US" altLang="zh-TW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# 2. 設定 Ultralytics API Key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$env:ULTRALYTICS_API_KEY = "ul_1899a1e55b640b6a799da8c5908e68f9a10826da"</a:t>
            </a:r>
          </a:p>
          <a:p>
            <a:pPr marL="0" marR="0" indent="0" algn="l">
              <a:buNone/>
            </a:pPr>
            <a:endParaRPr lang="en-US" altLang="zh-TW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步驟 2：執行 YOLO 訓練指令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你可以選擇</a:t>
            </a:r>
            <a:r>
              <a:rPr lang="zh-TW" altLang="zh-TW" sz="1400" b="1" i="0" dirty="0">
                <a:solidFill>
                  <a:schemeClr val="tx1"/>
                </a:solidFill>
                <a:effectLst/>
                <a:latin typeface="+mn-lt"/>
              </a:rPr>
              <a:t>單行指令</a:t>
            </a: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（最不容易出錯）或是</a:t>
            </a:r>
            <a:r>
              <a:rPr lang="zh-TW" altLang="zh-TW" sz="1400" b="1" i="0" dirty="0">
                <a:solidFill>
                  <a:schemeClr val="tx1"/>
                </a:solidFill>
                <a:effectLst/>
                <a:latin typeface="+mn-lt"/>
              </a:rPr>
              <a:t>使用 PowerShell 正確的多行反引號語法</a:t>
            </a: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：</a:t>
            </a:r>
          </a:p>
          <a:p>
            <a:pPr marL="0" marR="0" indent="0" algn="l">
              <a:buNone/>
            </a:pPr>
            <a:endParaRPr lang="en-US" altLang="zh-TW" sz="14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寫法 A：單行指令（推薦，直接整行貼上）</a:t>
            </a:r>
            <a:endParaRPr lang="zh-TW" altLang="zh-TW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endParaRPr lang="zh-TW" altLang="zh-TW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yolo train model="ul://ultralytics/yolo26/yolo26n" data="ul://kingfisher-raccoon-2/datasets/trafficlight" task="detect" epochs=1000 batch=-1 imgsz=640 project="kingfisher-raccoon-2/traffic-light“</a:t>
            </a:r>
            <a:endParaRPr lang="en-US" altLang="zh-TW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zh-TW" sz="1400" b="1" dirty="0"/>
          </a:p>
          <a:p>
            <a:r>
              <a:rPr lang="zh-TW" altLang="zh-TW" b="1" dirty="0"/>
              <a:t>寫法 B：PowerShell 多行格式（換行使用反引號 `）</a:t>
            </a:r>
            <a:endParaRPr lang="zh-TW" altLang="zh-TW" dirty="0"/>
          </a:p>
          <a:p>
            <a:r>
              <a:rPr lang="zh-TW" altLang="zh-TW" sz="1400" dirty="0"/>
              <a:t>yolo train `</a:t>
            </a:r>
          </a:p>
          <a:p>
            <a:r>
              <a:rPr lang="zh-TW" altLang="zh-TW" sz="1400" dirty="0"/>
              <a:t>  model="ul://ultralytics/yolo26/yolo26n" `</a:t>
            </a:r>
          </a:p>
          <a:p>
            <a:r>
              <a:rPr lang="zh-TW" altLang="zh-TW" sz="1400" dirty="0"/>
              <a:t>  data="ul://kingfisher-raccoon-2/datasets/trafficlight" `</a:t>
            </a:r>
          </a:p>
          <a:p>
            <a:r>
              <a:rPr lang="zh-TW" altLang="zh-TW" sz="1400" dirty="0"/>
              <a:t>  task="detect" `</a:t>
            </a:r>
          </a:p>
          <a:p>
            <a:r>
              <a:rPr lang="zh-TW" altLang="zh-TW" sz="1400" dirty="0"/>
              <a:t>  epochs=1000 `</a:t>
            </a:r>
          </a:p>
          <a:p>
            <a:r>
              <a:rPr lang="zh-TW" altLang="zh-TW" sz="1400" dirty="0"/>
              <a:t>  batch=-1 `</a:t>
            </a:r>
          </a:p>
          <a:p>
            <a:r>
              <a:rPr lang="zh-TW" altLang="zh-TW" sz="1400" dirty="0"/>
              <a:t>  imgsz=640 `</a:t>
            </a:r>
          </a:p>
          <a:p>
            <a:r>
              <a:rPr lang="zh-TW" altLang="zh-TW" sz="1400" dirty="0"/>
              <a:t>  project="kingfisher-raccoon-2/traffic-light"</a:t>
            </a:r>
            <a:endParaRPr lang="zh-TW" altLang="zh-TW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C3A2E9-15D2-A858-4B38-C8D0E6EDFB1E}"/>
              </a:ext>
            </a:extLst>
          </p:cNvPr>
          <p:cNvSpPr txBox="1"/>
          <p:nvPr/>
        </p:nvSpPr>
        <p:spPr>
          <a:xfrm>
            <a:off x="5504872" y="4763417"/>
            <a:ext cx="6096000" cy="178510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小技巧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：若不想每次都切換環境或怕路徑問題，也可以直接調用虛擬環境中的 Python 模組：</a:t>
            </a:r>
            <a:endParaRPr lang="en-US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.\.venv\Scripts\python -m ultralytics train model="ul://ultralytics/yolo26/yolo26n" data="ul://kingfisher-raccoon-2/datasets/trafficlight" task="detect" epochs=1000 batch=-1 imgsz=640 project="kingfisher-raccoon-2/traffic-light"</a:t>
            </a:r>
            <a:endParaRPr lang="zh-TW" altLang="zh-TW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4827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ECAAC41-9FAF-D021-FC00-C5EC71E0B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83" y="272472"/>
            <a:ext cx="6472693" cy="607290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1C571F8-945A-5F4C-8C87-AAEFA7997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576" y="272472"/>
            <a:ext cx="5471677" cy="273583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791BE02-FBC8-C90F-714A-D59A4ACBD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509" y="3274292"/>
            <a:ext cx="4414981" cy="331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999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A96FCA0-1A4B-30D6-A42E-AD2E33ABE482}"/>
              </a:ext>
            </a:extLst>
          </p:cNvPr>
          <p:cNvSpPr txBox="1"/>
          <p:nvPr/>
        </p:nvSpPr>
        <p:spPr>
          <a:xfrm>
            <a:off x="729672" y="679440"/>
            <a:ext cx="109266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Ultralytics 8.4.173  Python-3.11.9 torch-2.14.1+cpu CPU (13th Gen Intel Core i7-13700)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YOLO26n summary (fused): 120 layers, 2,375,616 parameters, 0 gradients, 5.3 GFLOPs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Images  Instances   Box(P        R     mAP50    mAP50-95): 100%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all    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8            7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0.971        1      0.995       0.822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yellow_light   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1            1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0.952        1      0.995       0.796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green_light    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1            1 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0.96          1      0.995       0.796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stop_sign    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5            5    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1     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1      0.995       0.875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2CEB5FA-A844-A28C-1644-DB3FE0AF3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81" y="2710765"/>
            <a:ext cx="3976255" cy="397625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CCE3B8F-1CA2-CA43-5AEA-38B497137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670301"/>
            <a:ext cx="5489623" cy="411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724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9072DE9-AF6C-BE1C-1635-5A325EE7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06" y="594587"/>
            <a:ext cx="4346948" cy="566882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F2CCBA7-3B67-F24E-B4B4-122049660CA1}"/>
              </a:ext>
            </a:extLst>
          </p:cNvPr>
          <p:cNvSpPr txBox="1"/>
          <p:nvPr/>
        </p:nvSpPr>
        <p:spPr>
          <a:xfrm>
            <a:off x="5526748" y="689788"/>
            <a:ext cx="6096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TW" altLang="zh-TW" sz="1400" dirty="0">
                <a:effectLst/>
              </a:rPr>
              <a:t>將模型轉換為 </a:t>
            </a:r>
            <a:r>
              <a:rPr lang="zh-TW" altLang="zh-TW" sz="1400" b="1" dirty="0">
                <a:effectLst/>
              </a:rPr>
              <a:t>NCNN</a:t>
            </a:r>
            <a:r>
              <a:rPr lang="zh-TW" altLang="zh-TW" sz="1400" dirty="0">
                <a:effectLst/>
              </a:rPr>
              <a:t> 格式！</a:t>
            </a:r>
          </a:p>
          <a:p>
            <a:pPr marL="0" marR="0">
              <a:buNone/>
            </a:pPr>
            <a:r>
              <a:rPr lang="zh-TW" altLang="zh-TW" sz="1400" b="0" dirty="0">
                <a:effectLst/>
              </a:rPr>
              <a:t>匯出結果路徑</a:t>
            </a:r>
          </a:p>
          <a:p>
            <a:pPr marL="0" marR="0">
              <a:buNone/>
            </a:pPr>
            <a:r>
              <a:rPr lang="zh-TW" altLang="zh-TW" sz="1400" dirty="0">
                <a:effectLst/>
              </a:rPr>
              <a:t>模型資料夾已生成於： 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D:\ResearchCodes\RPI5_AutoCAR_RoadTrain\runs\detect\kingfisher-raccoon-2\traffic-light\train\weights\best_ncnn_model\</a:t>
            </a:r>
            <a:endParaRPr lang="zh-TW" altLang="zh-TW" sz="1400" dirty="0">
              <a:effectLst/>
            </a:endParaRPr>
          </a:p>
          <a:p>
            <a:pPr marL="0" marR="0">
              <a:buNone/>
            </a:pPr>
            <a:r>
              <a:rPr lang="zh-TW" altLang="zh-TW" sz="1400" dirty="0">
                <a:effectLst/>
              </a:rPr>
              <a:t>資料夾內包含：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1400" b="1" dirty="0">
                <a:solidFill>
                  <a:schemeClr val="tx1"/>
                </a:solidFill>
                <a:effectLst/>
                <a:latin typeface="+mn-lt"/>
              </a:rPr>
              <a:t>model.ncnn.param</a:t>
            </a:r>
            <a:r>
              <a:rPr lang="zh-TW" altLang="zh-TW" sz="1400" dirty="0">
                <a:effectLst/>
              </a:rPr>
              <a:t>：模型結構參數檔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1400" b="1" dirty="0">
                <a:solidFill>
                  <a:schemeClr val="tx1"/>
                </a:solidFill>
                <a:effectLst/>
                <a:latin typeface="+mn-lt"/>
              </a:rPr>
              <a:t>model.ncnn.bin</a:t>
            </a:r>
            <a:r>
              <a:rPr lang="zh-TW" altLang="zh-TW" sz="1400" dirty="0">
                <a:effectLst/>
              </a:rPr>
              <a:t>：模型權重二進位檔（約 9.6 MB）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1400" b="1" dirty="0">
                <a:solidFill>
                  <a:schemeClr val="tx1"/>
                </a:solidFill>
                <a:effectLst/>
                <a:latin typeface="+mn-lt"/>
              </a:rPr>
              <a:t>metadata.yaml</a:t>
            </a:r>
            <a:r>
              <a:rPr lang="zh-TW" altLang="zh-TW" sz="1400" dirty="0">
                <a:effectLst/>
              </a:rPr>
              <a:t>：包含類別名稱（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red_light</a:t>
            </a:r>
            <a:r>
              <a:rPr lang="zh-TW" altLang="zh-TW" sz="1400" dirty="0">
                <a:effectLst/>
              </a:rPr>
              <a:t>, 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yellow_light</a:t>
            </a:r>
            <a:r>
              <a:rPr lang="zh-TW" altLang="zh-TW" sz="1400" dirty="0">
                <a:effectLst/>
              </a:rPr>
              <a:t>, 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green_light</a:t>
            </a:r>
            <a:r>
              <a:rPr lang="zh-TW" altLang="zh-TW" sz="1400" dirty="0">
                <a:effectLst/>
              </a:rPr>
              <a:t>, 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stop_sign</a:t>
            </a:r>
            <a:r>
              <a:rPr lang="zh-TW" altLang="zh-TW" sz="1400" dirty="0">
                <a:effectLst/>
              </a:rPr>
              <a:t>）與推論尺寸（640x640）等中繼資料</a:t>
            </a:r>
          </a:p>
          <a:p>
            <a:pPr>
              <a:buNone/>
            </a:pPr>
            <a:br>
              <a:rPr lang="zh-TW" altLang="zh-TW" sz="1400" dirty="0"/>
            </a:br>
            <a:endParaRPr lang="zh-TW" altLang="zh-TW" sz="1400" dirty="0"/>
          </a:p>
          <a:p>
            <a:pPr marL="0" marR="0">
              <a:buNone/>
            </a:pPr>
            <a:r>
              <a:rPr lang="zh-TW" altLang="zh-TW" sz="1400" b="0" dirty="0">
                <a:effectLst/>
              </a:rPr>
              <a:t>未來手動轉換指令（備存參考）</a:t>
            </a:r>
          </a:p>
          <a:p>
            <a:pPr marL="0" marR="0">
              <a:buNone/>
            </a:pPr>
            <a:r>
              <a:rPr lang="zh-TW" altLang="zh-TW" sz="1400" dirty="0">
                <a:effectLst/>
              </a:rPr>
              <a:t>若之後需要再次自行轉換，可使用以下指令：</a:t>
            </a:r>
          </a:p>
          <a:p>
            <a:pPr marL="0" marR="0">
              <a:buNone/>
            </a:pPr>
            <a:r>
              <a:rPr lang="zh-TW" altLang="zh-TW" sz="1400" b="1" dirty="0">
                <a:effectLst/>
              </a:rPr>
              <a:t>方法 1：使用 Python（推薦，跨平台最穩定）</a:t>
            </a:r>
            <a:endParaRPr lang="zh-TW" altLang="zh-TW" sz="1400" dirty="0">
              <a:effectLst/>
            </a:endParaRPr>
          </a:p>
          <a:p>
            <a:pPr marL="0" marR="0">
              <a:buNone/>
            </a:pPr>
            <a:r>
              <a:rPr lang="zh-TW" altLang="zh-TW" sz="1400" dirty="0">
                <a:effectLst/>
                <a:latin typeface="+mn-lt"/>
              </a:rPr>
              <a:t>powershell</a:t>
            </a:r>
          </a:p>
          <a:p>
            <a:pPr marL="0" marR="0">
              <a:buNone/>
            </a:pP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.\.venv\Scripts\python -c "from ultralytics import YOLO; YOLO(r'D:\ResearchCodes\RPI5_AutoCAR_RoadTrain\runs\detect\kingfisher-raccoon-2\traffic-light\train\weights\best.pt').export(format='ncnn', imgsz=640)"</a:t>
            </a:r>
            <a:endParaRPr lang="zh-TW" altLang="zh-TW" sz="1400" dirty="0">
              <a:effectLst/>
              <a:latin typeface="+mn-lt"/>
            </a:endParaRPr>
          </a:p>
          <a:p>
            <a:pPr marL="0" marR="0">
              <a:buNone/>
            </a:pPr>
            <a:r>
              <a:rPr lang="zh-TW" altLang="zh-TW" sz="1400" b="1" dirty="0">
                <a:effectLst/>
              </a:rPr>
              <a:t>方法 2：使用 YOLO CLI</a:t>
            </a:r>
            <a:endParaRPr lang="zh-TW" altLang="zh-TW" sz="1400" dirty="0">
              <a:effectLst/>
            </a:endParaRPr>
          </a:p>
          <a:p>
            <a:pPr marL="0" marR="0">
              <a:buNone/>
            </a:pPr>
            <a:r>
              <a:rPr lang="zh-TW" altLang="zh-TW" sz="1400" dirty="0">
                <a:effectLst/>
                <a:latin typeface="+mn-lt"/>
              </a:rPr>
              <a:t>powershell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.\.venv\Scripts\yolo export model="D:\ResearchCodes\RPI5_AutoCAR_RoadTrain\runs\detect\kingfisher-raccoon-2\traffic-light\train\weights\best.pt" format=ncnn imgsz=640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65631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4A61991-9BF1-DBE4-19F4-F96CC60C8BF5}"/>
              </a:ext>
            </a:extLst>
          </p:cNvPr>
          <p:cNvSpPr txBox="1"/>
          <p:nvPr/>
        </p:nvSpPr>
        <p:spPr>
          <a:xfrm>
            <a:off x="979055" y="1859339"/>
            <a:ext cx="10474036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</a:pPr>
            <a:r>
              <a:rPr lang="zh-TW" altLang="zh-TW" b="0" dirty="0">
                <a:effectLst/>
              </a:rPr>
              <a:t>在樹莓派（RPI5）或本機進行推論測試</a:t>
            </a:r>
          </a:p>
          <a:p>
            <a:pPr marL="0" marR="0">
              <a:buNone/>
            </a:pPr>
            <a:r>
              <a:rPr lang="zh-TW" altLang="zh-TW" dirty="0">
                <a:effectLst/>
              </a:rPr>
              <a:t>使用 Ultralytics 載入 NCNN 模型：</a:t>
            </a:r>
          </a:p>
          <a:p>
            <a:pPr marL="0" marR="0">
              <a:buNone/>
            </a:pPr>
            <a:r>
              <a:rPr lang="zh-TW" altLang="zh-TW" dirty="0">
                <a:effectLst/>
                <a:latin typeface="+mn-lt"/>
              </a:rPr>
              <a:t>python</a:t>
            </a:r>
          </a:p>
          <a:p>
            <a:pPr marL="0" marR="0"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from ultralytics import YOLO</a:t>
            </a:r>
          </a:p>
          <a:p>
            <a:pPr marL="0" marR="0"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# 載入匯出的 ncnn 資料夾</a:t>
            </a:r>
          </a:p>
          <a:p>
            <a:pPr marL="0" marR="0"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model = YOLO(r"D:\ResearchCodes\RPI5_AutoCAR_RoadTrain\runs\detect\kingfisher-raccoon-2\traffic-light\train\weights\best_ncnn_model")</a:t>
            </a:r>
          </a:p>
          <a:p>
            <a:pPr marL="0" marR="0"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# 進行預測</a:t>
            </a:r>
          </a:p>
          <a:p>
            <a:pPr marL="0" marR="0" indent="0" algn="l"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results = model.predict(source=0, show=True)  # source=0 為 WebCam，亦可傳入圖片/影片路徑</a:t>
            </a:r>
          </a:p>
          <a:p>
            <a:pPr>
              <a:buNone/>
            </a:pPr>
            <a:b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84438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34681AE-D812-6BCA-251B-C413FE6BB782}"/>
              </a:ext>
            </a:extLst>
          </p:cNvPr>
          <p:cNvSpPr txBox="1"/>
          <p:nvPr/>
        </p:nvSpPr>
        <p:spPr>
          <a:xfrm>
            <a:off x="480291" y="410858"/>
            <a:ext cx="1123141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要將剛轉好的 NCNN 模型部署到樹莓派 5 並在本專案中進行紅綠燈推論，請依照以下標準步驟進行：</a:t>
            </a:r>
          </a:p>
          <a:p>
            <a:pPr>
              <a:buNone/>
            </a:pPr>
            <a:br>
              <a:rPr lang="zh-TW" altLang="zh-TW" sz="1400" dirty="0"/>
            </a:br>
            <a:endParaRPr lang="zh-TW" altLang="zh-TW" sz="1400" dirty="0"/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步驟 1：將 NCNN 模型資料夾傳輸到樹莓派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在 Windows 的 PowerShell 終端機中，使用 scp 將剛剛產生的 best_ncnn_model 整個資料夾複製到樹莓派的使用者家目錄（請將 &lt;Pi-IP&gt; 與 rpi5 換成你的樹莓派 IP 與帳號）：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powershell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# 在 Windows PowerShell 執行（複製整個資料夾到 Pi 的暫存路徑）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scp -r "D:\ResearchCodes\RPI5_AutoCAR_RoadTrain\runs\detect\kingfisher-raccoon-2\traffic-light\train\weights\best_ncnn_model" rpi5@&lt;Pi-IP&gt;:~/traffic_best_ncnn_model</a:t>
            </a:r>
            <a:endParaRPr lang="en-US" altLang="zh-TW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endParaRPr lang="en-US" altLang="zh-TW" sz="1400" dirty="0"/>
          </a:p>
          <a:p>
            <a:r>
              <a:rPr lang="zh-TW" altLang="zh-TW" sz="1400" dirty="0"/>
              <a:t>步驟 2：在樹莓派端將模型移至專案模型目錄</a:t>
            </a:r>
          </a:p>
          <a:p>
            <a:r>
              <a:rPr lang="zh-TW" altLang="zh-TW" sz="1400" dirty="0"/>
              <a:t>登入樹莓派（ssh rpi5@&lt;Pi-IP&gt;），將模型資料夾移動至專案的正式模型目錄 /opt/autocar/models/，並確認檔案讀取權限：</a:t>
            </a:r>
          </a:p>
          <a:p>
            <a:r>
              <a:rPr lang="zh-TW" altLang="zh-TW" sz="1400" dirty="0"/>
              <a:t>bash</a:t>
            </a:r>
          </a:p>
          <a:p>
            <a:r>
              <a:rPr lang="zh-TW" altLang="zh-TW" sz="1400" dirty="0"/>
              <a:t># 1. 建立或確保目標目錄存在</a:t>
            </a:r>
          </a:p>
          <a:p>
            <a:r>
              <a:rPr lang="zh-TW" altLang="zh-TW" sz="1400" dirty="0"/>
              <a:t>sudo mkdir -p /opt/autocar/models</a:t>
            </a:r>
          </a:p>
          <a:p>
            <a:r>
              <a:rPr lang="zh-TW" altLang="zh-TW" sz="1400" dirty="0"/>
              <a:t># 2. 將模型資料夾移動並重新命名為 traffic_best_ncnn_model</a:t>
            </a:r>
          </a:p>
          <a:p>
            <a:r>
              <a:rPr lang="zh-TW" altLang="zh-TW" sz="1400" dirty="0"/>
              <a:t>sudo rm -rf /opt/autocar/models/traffic_best_ncnn_model</a:t>
            </a:r>
          </a:p>
          <a:p>
            <a:r>
              <a:rPr lang="zh-TW" altLang="zh-TW" sz="1400" dirty="0"/>
              <a:t>sudo mv ~/traffic_best_ncnn_model /opt/autocar/models/traffic_best_ncnn_model</a:t>
            </a:r>
          </a:p>
          <a:p>
            <a:r>
              <a:rPr lang="zh-TW" altLang="zh-TW" sz="1400" dirty="0"/>
              <a:t># 3. 賦予服務執行權限</a:t>
            </a:r>
          </a:p>
          <a:p>
            <a:r>
              <a:rPr lang="zh-TW" altLang="zh-TW" sz="1400" dirty="0"/>
              <a:t>sudo chown -R $USER:$USER /opt/autocar/models/traffic_best_ncnn_model</a:t>
            </a:r>
          </a:p>
          <a:p>
            <a:r>
              <a:rPr lang="zh-TW" altLang="zh-TW" sz="1400" dirty="0"/>
              <a:t>sudo chmod -R 755 /opt/autocar/models/traffic_best_ncnn_model</a:t>
            </a:r>
          </a:p>
          <a:p>
            <a:r>
              <a:rPr lang="zh-TW" altLang="zh-TW" sz="1400" dirty="0"/>
              <a:t># 4. 確認內容（應看到 model.ncnn.bin, model.ncnn.param, metadata.yaml）</a:t>
            </a:r>
          </a:p>
          <a:p>
            <a:r>
              <a:rPr lang="zh-TW" altLang="zh-TW" sz="1400" dirty="0"/>
              <a:t>ls -la /opt/autocar/models/traffic_best_ncnn_model</a:t>
            </a:r>
            <a:endParaRPr lang="zh-TW" altLang="zh-TW" sz="1400" b="0" i="0" dirty="0">
              <a:solidFill>
                <a:srgbClr val="CCCCCC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23942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D071D56-A33F-7340-D536-E37211BCA6FE}"/>
              </a:ext>
            </a:extLst>
          </p:cNvPr>
          <p:cNvSpPr txBox="1"/>
          <p:nvPr/>
        </p:nvSpPr>
        <p:spPr>
          <a:xfrm>
            <a:off x="683490" y="1012954"/>
            <a:ext cx="1100974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TW" altLang="zh-TW" sz="1400" b="0" dirty="0">
                <a:effectLst/>
              </a:rPr>
              <a:t>步驟 3：修改系統環境變數設定檔 </a:t>
            </a:r>
            <a:r>
              <a:rPr lang="zh-TW" altLang="zh-TW" sz="1400" b="0" dirty="0">
                <a:solidFill>
                  <a:schemeClr val="tx1"/>
                </a:solidFill>
                <a:effectLst/>
                <a:latin typeface="+mn-lt"/>
              </a:rPr>
              <a:t>/etc/autocar.env</a:t>
            </a:r>
            <a:endParaRPr lang="zh-TW" altLang="zh-TW" sz="1400" b="0" dirty="0">
              <a:effectLst/>
            </a:endParaRPr>
          </a:p>
          <a:p>
            <a:pPr marL="0" marR="0">
              <a:buNone/>
            </a:pPr>
            <a:r>
              <a:rPr lang="zh-TW" altLang="zh-TW" sz="1400" dirty="0">
                <a:effectLst/>
              </a:rPr>
              <a:t>專案中有兩個地方會用到紅綠燈模型，請依據你的使用情境修改 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/etc/autocar.env</a:t>
            </a:r>
            <a:r>
              <a:rPr lang="zh-TW" altLang="zh-TW" sz="1400" dirty="0">
                <a:effectLst/>
              </a:rPr>
              <a:t>：</a:t>
            </a:r>
          </a:p>
          <a:p>
            <a:pPr marL="0" marR="0">
              <a:buNone/>
            </a:pPr>
            <a:r>
              <a:rPr lang="zh-TW" altLang="zh-TW" sz="1400" dirty="0">
                <a:effectLst/>
                <a:latin typeface="+mn-lt"/>
              </a:rPr>
              <a:t>bash</a:t>
            </a:r>
          </a:p>
          <a:p>
            <a:pPr marL="0" marR="0">
              <a:buNone/>
            </a:pP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sudo nano /etc/autocar.env</a:t>
            </a:r>
            <a:endParaRPr lang="zh-TW" altLang="zh-TW" sz="1400" dirty="0">
              <a:effectLst/>
              <a:latin typeface="+mn-lt"/>
            </a:endParaRPr>
          </a:p>
          <a:p>
            <a:pPr marL="0" marR="0">
              <a:buNone/>
            </a:pPr>
            <a:endParaRPr lang="en-US" altLang="zh-TW" sz="1400" b="0" dirty="0">
              <a:effectLst/>
            </a:endParaRPr>
          </a:p>
          <a:p>
            <a:pPr marL="0" marR="0">
              <a:buNone/>
            </a:pPr>
            <a:r>
              <a:rPr lang="zh-TW" altLang="zh-TW" sz="1400" b="0" dirty="0">
                <a:effectLst/>
              </a:rPr>
              <a:t>情境 A：作為「即時畫面預覽／串流畫框模型」（Web UI 上的即時 AI 畫框顯示）</a:t>
            </a:r>
          </a:p>
          <a:p>
            <a:pPr marL="0" marR="0">
              <a:buNone/>
            </a:pPr>
            <a:r>
              <a:rPr lang="zh-TW" altLang="zh-TW" sz="1400" dirty="0">
                <a:effectLst/>
              </a:rPr>
              <a:t>修改以下兩行（</a:t>
            </a:r>
            <a:r>
              <a:rPr lang="zh-TW" altLang="zh-TW" sz="1400" b="1" dirty="0">
                <a:effectLst/>
              </a:rPr>
              <a:t>注意：NCNN 為固定尺寸，剛剛匯出為 640，此處必須設為 640</a:t>
            </a:r>
            <a:r>
              <a:rPr lang="zh-TW" altLang="zh-TW" sz="1400" dirty="0">
                <a:effectLst/>
              </a:rPr>
              <a:t>）：</a:t>
            </a:r>
          </a:p>
          <a:p>
            <a:pPr marL="0" marR="0">
              <a:buNone/>
            </a:pPr>
            <a:r>
              <a:rPr lang="zh-TW" altLang="zh-TW" sz="1400" dirty="0">
                <a:effectLst/>
                <a:latin typeface="+mn-lt"/>
              </a:rPr>
              <a:t>ini</a:t>
            </a:r>
          </a:p>
          <a:p>
            <a:pPr marL="0" marR="0">
              <a:buNone/>
            </a:pP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AUTOCAR_PREVIEW_MODEL=models/traffic_best_ncnn_model</a:t>
            </a:r>
            <a:endParaRPr lang="zh-TW" altLang="zh-TW" sz="1400" dirty="0">
              <a:effectLst/>
              <a:latin typeface="+mn-lt"/>
            </a:endParaRPr>
          </a:p>
          <a:p>
            <a:pPr marL="0" marR="0">
              <a:buNone/>
            </a:pP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AUTOCAR_PREVIEW_IMGSZ=640</a:t>
            </a:r>
            <a:endParaRPr lang="zh-TW" altLang="zh-TW" sz="1400" dirty="0">
              <a:effectLst/>
              <a:latin typeface="+mn-lt"/>
            </a:endParaRPr>
          </a:p>
          <a:p>
            <a:pPr marL="0" marR="0">
              <a:buNone/>
            </a:pP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AUTOCAR_PREVIEW_CONFIDENCE=0.40</a:t>
            </a:r>
            <a:endParaRPr lang="zh-TW" altLang="zh-TW" sz="1400" dirty="0">
              <a:effectLst/>
              <a:latin typeface="+mn-lt"/>
            </a:endParaRPr>
          </a:p>
          <a:p>
            <a:pPr marL="0" marR="0">
              <a:buNone/>
            </a:pPr>
            <a:endParaRPr lang="en-US" altLang="zh-TW" sz="1400" b="0" dirty="0">
              <a:effectLst/>
            </a:endParaRPr>
          </a:p>
          <a:p>
            <a:pPr marL="0" marR="0">
              <a:buNone/>
            </a:pPr>
            <a:r>
              <a:rPr lang="zh-TW" altLang="zh-TW" sz="1400" b="0" dirty="0">
                <a:effectLst/>
              </a:rPr>
              <a:t>情境 B：作為「自動駕駛號誌辨識與決策模型」（小車自駕巡航停車決策）</a:t>
            </a:r>
          </a:p>
          <a:p>
            <a:pPr marL="0" marR="0">
              <a:buNone/>
            </a:pPr>
            <a:r>
              <a:rPr lang="zh-TW" altLang="zh-TW" sz="1400" dirty="0">
                <a:effectLst/>
              </a:rPr>
              <a:t>修改以下幾行：</a:t>
            </a:r>
          </a:p>
          <a:p>
            <a:pPr marL="0" marR="0">
              <a:buNone/>
            </a:pPr>
            <a:r>
              <a:rPr lang="zh-TW" altLang="zh-TW" sz="1400" dirty="0">
                <a:effectLst/>
                <a:latin typeface="+mn-lt"/>
              </a:rPr>
              <a:t>ini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AUTOCAR_MODEL=models/traffic_best_ncnn_model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AUTOCAR_INFERENCE_IMGSZ=640    # 務必從原本的 416 改為 640，避免尺寸不符報錯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AUTOCAR_TRAFFIC_CONFIDENCE=0.45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AUTOCAR_TRAFFIC_REQUIRED=1</a:t>
            </a:r>
          </a:p>
          <a:p>
            <a:pPr>
              <a:buNone/>
            </a:pPr>
            <a:endParaRPr lang="en-US" altLang="zh-TW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TW" altLang="zh-TW" sz="1400" i="1" dirty="0"/>
              <a:t>(提示：若兩個功能都希望使用此紅綠燈模型，可同時設定以上兩組參數。)</a:t>
            </a:r>
            <a:endParaRPr lang="zh-TW" altLang="zh-TW" sz="1400" dirty="0"/>
          </a:p>
          <a:p>
            <a:r>
              <a:rPr lang="zh-TW" altLang="zh-TW" sz="1400" dirty="0"/>
              <a:t>儲存後按 Ctrl+O 存檔，Ctrl+X 離開。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643157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AF17BC5-26CE-A448-40FF-D947DEDCAB7A}"/>
              </a:ext>
            </a:extLst>
          </p:cNvPr>
          <p:cNvSpPr txBox="1"/>
          <p:nvPr/>
        </p:nvSpPr>
        <p:spPr>
          <a:xfrm>
            <a:off x="868218" y="582067"/>
            <a:ext cx="1064952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步驟 4：板端離線推論驗證（Smoke Test）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在樹莓派上使用專案的 Python 虛擬環境執行簡單的驗證腳本，確認 NCNN 能順利載入與推論：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bash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/opt/autocar-venv/bin/python - &lt;&lt; 'EOF'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import cv2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import numpy as np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import torch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from ultralytics import YOLO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# 載入 NCNN 模型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model_path = "/opt/autocar/models/traffic_best_ncnn_model"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print(f"正在載入模型: {model_path} ...")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model = YOLO(model_path, task="detect")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# 建立 640x640 假圖片測試推論流程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dummy_frame = np.zeros((640, 640, 3), dtype=np.uint8)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results = model.predict(dummy_frame, imgsz=640, verbose=False)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print("測試成功！模型輸出類別名稱：", model.names)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print("推論運算正常完成。")</a:t>
            </a:r>
          </a:p>
          <a:p>
            <a:pPr marL="0" marR="0" indent="0" algn="l">
              <a:buNone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EOF</a:t>
            </a:r>
            <a:endParaRPr lang="en-US" altLang="zh-TW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endParaRPr lang="en-US" altLang="zh-TW" sz="1400" dirty="0"/>
          </a:p>
          <a:p>
            <a:r>
              <a:rPr lang="zh-TW" altLang="zh-TW" sz="1400" dirty="0"/>
              <a:t>步驟 5：重啟服務並在瀏覽器測試</a:t>
            </a:r>
          </a:p>
          <a:p>
            <a:r>
              <a:rPr lang="zh-TW" altLang="zh-TW" sz="1400" dirty="0"/>
              <a:t>驗證通過後，重啟專案服務：</a:t>
            </a:r>
          </a:p>
          <a:p>
            <a:r>
              <a:rPr lang="zh-TW" altLang="zh-TW" sz="1400" dirty="0"/>
              <a:t>bash</a:t>
            </a:r>
          </a:p>
          <a:p>
            <a:r>
              <a:rPr lang="zh-TW" altLang="zh-TW" sz="1400" dirty="0"/>
              <a:t># 重新載入並重啟 AutoCAR 服務</a:t>
            </a:r>
          </a:p>
          <a:p>
            <a:r>
              <a:rPr lang="zh-TW" altLang="zh-TW" sz="1400" dirty="0"/>
              <a:t>sudo systemctl restart autocar.service</a:t>
            </a:r>
          </a:p>
          <a:p>
            <a:r>
              <a:rPr lang="zh-TW" altLang="zh-TW" sz="1400" dirty="0"/>
              <a:t># 查看即時 log，確認沒有報錯</a:t>
            </a:r>
          </a:p>
          <a:p>
            <a:r>
              <a:rPr lang="zh-TW" altLang="zh-TW" sz="1400" dirty="0"/>
              <a:t>sudo journalctl -u autocar.service -n 50 --no-pager -f</a:t>
            </a:r>
          </a:p>
        </p:txBody>
      </p:sp>
    </p:spTree>
    <p:extLst>
      <p:ext uri="{BB962C8B-B14F-4D97-AF65-F5344CB8AC3E}">
        <p14:creationId xmlns:p14="http://schemas.microsoft.com/office/powerpoint/2010/main" val="347817918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215F17A-5045-B842-30F2-BE20779BD545}"/>
              </a:ext>
            </a:extLst>
          </p:cNvPr>
          <p:cNvSpPr txBox="1"/>
          <p:nvPr/>
        </p:nvSpPr>
        <p:spPr>
          <a:xfrm>
            <a:off x="1016000" y="1994201"/>
            <a:ext cx="1068647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TW" altLang="zh-TW" sz="1400" b="0" dirty="0">
                <a:effectLst/>
              </a:rPr>
              <a:t>測試與驗證：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b="1" dirty="0">
                <a:effectLst/>
              </a:rPr>
              <a:t>網頁介面</a:t>
            </a:r>
            <a:r>
              <a:rPr lang="zh-TW" altLang="zh-TW" sz="1400" dirty="0">
                <a:effectLst/>
              </a:rPr>
              <a:t>：在 Windows 瀏覽器開啟 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http://&lt;Pi-IP&gt;:8000</a:t>
            </a:r>
            <a:r>
              <a:rPr lang="zh-TW" altLang="zh-TW" sz="1400" dirty="0">
                <a:effectLst/>
              </a:rPr>
              <a:t>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1400" b="1" dirty="0">
                <a:effectLst/>
              </a:rPr>
              <a:t>開啟推論串流</a:t>
            </a:r>
            <a:r>
              <a:rPr lang="zh-TW" altLang="zh-TW" sz="1400" dirty="0">
                <a:effectLst/>
              </a:rPr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1400" dirty="0">
                <a:effectLst/>
              </a:rPr>
              <a:t>點擊網頁上的 </a:t>
            </a:r>
            <a:r>
              <a:rPr lang="zh-TW" altLang="zh-TW" sz="1400" b="1" dirty="0">
                <a:effectLst/>
              </a:rPr>
              <a:t>「開啟推論 (Enable AI)」</a:t>
            </a:r>
            <a:r>
              <a:rPr lang="zh-TW" altLang="zh-TW" sz="1400" dirty="0">
                <a:effectLst/>
              </a:rPr>
              <a:t> 開關，影像串流即會切換為繪製紅綠燈偵測框（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red_light</a:t>
            </a:r>
            <a:r>
              <a:rPr lang="zh-TW" altLang="zh-TW" sz="1400" dirty="0">
                <a:effectLst/>
              </a:rPr>
              <a:t>、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green_light</a:t>
            </a:r>
            <a:r>
              <a:rPr lang="zh-TW" altLang="zh-TW" sz="1400" dirty="0">
                <a:effectLst/>
              </a:rPr>
              <a:t>、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yellow_light</a:t>
            </a:r>
            <a:r>
              <a:rPr lang="zh-TW" altLang="zh-TW" sz="1400" dirty="0">
                <a:effectLst/>
              </a:rPr>
              <a:t>、</a:t>
            </a:r>
            <a:r>
              <a:rPr lang="zh-TW" altLang="zh-TW" sz="1400" dirty="0">
                <a:solidFill>
                  <a:schemeClr val="tx1"/>
                </a:solidFill>
                <a:effectLst/>
                <a:latin typeface="+mn-lt"/>
              </a:rPr>
              <a:t>stop_sign</a:t>
            </a:r>
            <a:r>
              <a:rPr lang="zh-TW" altLang="zh-TW" sz="1400" dirty="0">
                <a:effectLst/>
              </a:rPr>
              <a:t>）的畫面。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TW" altLang="zh-TW" sz="1400" dirty="0">
                <a:effectLst/>
              </a:rPr>
              <a:t>亦可透過命令列 API 啟用：</a:t>
            </a:r>
          </a:p>
          <a:p>
            <a:pPr marL="0" marR="0" lvl="1" indent="-285750">
              <a:buFont typeface="+mj-lt"/>
              <a:buAutoNum type="arabicPeriod"/>
            </a:pPr>
            <a:r>
              <a:rPr lang="zh-TW" altLang="zh-TW" sz="1400" dirty="0">
                <a:effectLst/>
                <a:latin typeface="+mn-lt"/>
              </a:rPr>
              <a:t>bash</a:t>
            </a:r>
          </a:p>
          <a:p>
            <a:pPr marL="0" marR="0" lvl="1" indent="0" algn="l">
              <a:buFont typeface="+mj-lt"/>
              <a:buAutoNum type="arabicPeriod"/>
            </a:pPr>
            <a: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  <a:t>curl -X POST http://127.0.0.1:8000/api/detection/enable -H 'Content-Type: application/json' -d '{"enabled":true}'</a:t>
            </a:r>
          </a:p>
          <a:p>
            <a:pPr>
              <a:buNone/>
            </a:pPr>
            <a:br>
              <a:rPr lang="zh-TW" altLang="zh-TW" sz="14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5501108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6D19C68-96CB-09A5-9055-E6679E00A909}"/>
              </a:ext>
            </a:extLst>
          </p:cNvPr>
          <p:cNvSpPr txBox="1"/>
          <p:nvPr/>
        </p:nvSpPr>
        <p:spPr>
          <a:xfrm>
            <a:off x="383308" y="197346"/>
            <a:ext cx="1142538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TW" altLang="zh-TW" sz="900" dirty="0">
                <a:effectLst/>
              </a:rPr>
              <a:t>專案的「自動駕駛模式」預設需要</a:t>
            </a:r>
            <a:r>
              <a:rPr lang="zh-TW" altLang="zh-TW" sz="900" b="1" dirty="0">
                <a:effectLst/>
              </a:rPr>
              <a:t>同時具備兩個模型</a:t>
            </a:r>
            <a:r>
              <a:rPr lang="zh-TW" altLang="zh-TW" sz="900" dirty="0">
                <a:effectLst/>
              </a:rPr>
              <a:t>：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900" b="1" dirty="0">
                <a:effectLst/>
              </a:rPr>
              <a:t>交通號誌模型</a:t>
            </a:r>
            <a:r>
              <a:rPr lang="zh-TW" altLang="zh-TW" sz="900" dirty="0">
                <a:effectLst/>
              </a:rPr>
              <a:t>（</a:t>
            </a: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AUTOCAR_MODEL</a:t>
            </a:r>
            <a:r>
              <a:rPr lang="zh-TW" altLang="zh-TW" sz="900" dirty="0">
                <a:effectLst/>
              </a:rPr>
              <a:t>，即剛部署的紅綠燈模型）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900" b="1" dirty="0">
                <a:effectLst/>
              </a:rPr>
              <a:t>車道模型</a:t>
            </a:r>
            <a:r>
              <a:rPr lang="zh-TW" altLang="zh-TW" sz="900" dirty="0">
                <a:effectLst/>
              </a:rPr>
              <a:t>（</a:t>
            </a: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AUTOCAR_LANE_MODEL</a:t>
            </a:r>
            <a:r>
              <a:rPr lang="zh-TW" altLang="zh-TW" sz="900" dirty="0">
                <a:effectLst/>
              </a:rPr>
              <a:t>，預設尋找 </a:t>
            </a: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/opt/autocar/models/lane_best_ncnn_model</a:t>
            </a:r>
            <a:r>
              <a:rPr lang="zh-TW" altLang="zh-TW" sz="900" dirty="0">
                <a:effectLst/>
              </a:rPr>
              <a:t>）</a:t>
            </a:r>
          </a:p>
          <a:p>
            <a:pPr marL="0" marR="0">
              <a:buNone/>
            </a:pPr>
            <a:r>
              <a:rPr lang="zh-TW" altLang="zh-TW" sz="900" dirty="0">
                <a:effectLst/>
              </a:rPr>
              <a:t>目前板端尚未放置車道模型，且系統設定 </a:t>
            </a: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AUTOCAR_LANE_REQUIRED=1</a:t>
            </a:r>
            <a:r>
              <a:rPr lang="zh-TW" altLang="zh-TW" sz="900" dirty="0">
                <a:effectLst/>
              </a:rPr>
              <a:t>，因此自動駕駛啟動時自我檢查未通過。</a:t>
            </a:r>
          </a:p>
          <a:p>
            <a:pPr>
              <a:buNone/>
            </a:pPr>
            <a:br>
              <a:rPr lang="zh-TW" altLang="zh-TW" sz="900" dirty="0"/>
            </a:br>
            <a:endParaRPr lang="zh-TW" altLang="zh-TW" sz="900" dirty="0"/>
          </a:p>
          <a:p>
            <a:pPr marL="0" marR="0">
              <a:buNone/>
            </a:pPr>
            <a:r>
              <a:rPr lang="zh-TW" altLang="zh-TW" sz="900" b="0" dirty="0">
                <a:effectLst/>
              </a:rPr>
              <a:t>解決方案（二選一）</a:t>
            </a:r>
          </a:p>
          <a:p>
            <a:pPr marL="0" marR="0">
              <a:buNone/>
            </a:pPr>
            <a:r>
              <a:rPr lang="zh-TW" altLang="zh-TW" sz="900" b="0" dirty="0">
                <a:effectLst/>
              </a:rPr>
              <a:t>方案 A：改用純 OpenCV 循線（推薦先測號誌，不需額外部署模型）</a:t>
            </a:r>
          </a:p>
          <a:p>
            <a:pPr marL="0" marR="0">
              <a:buNone/>
            </a:pPr>
            <a:r>
              <a:rPr lang="zh-TW" altLang="zh-TW" sz="900" dirty="0">
                <a:effectLst/>
              </a:rPr>
              <a:t>若目前主要想測試</a:t>
            </a:r>
            <a:r>
              <a:rPr lang="zh-TW" altLang="zh-TW" sz="900" b="1" dirty="0">
                <a:effectLst/>
              </a:rPr>
              <a:t>紅綠燈號誌</a:t>
            </a:r>
            <a:r>
              <a:rPr lang="zh-TW" altLang="zh-TW" sz="900" dirty="0">
                <a:effectLst/>
              </a:rPr>
              <a:t>，可將車道後端改為內建的 OpenCV 傳統影像演算法：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900" dirty="0">
                <a:effectLst/>
              </a:rPr>
              <a:t>在樹莓派上編輯 </a:t>
            </a: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/etc/autocar.env</a:t>
            </a:r>
            <a:r>
              <a:rPr lang="zh-TW" altLang="zh-TW" sz="900" dirty="0">
                <a:effectLst/>
              </a:rPr>
              <a:t>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  <a:latin typeface="+mn-lt"/>
              </a:rPr>
              <a:t>bash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sudo nano /etc/autocar.env</a:t>
            </a:r>
            <a:endParaRPr lang="zh-TW" altLang="zh-TW" sz="900" dirty="0">
              <a:effectLst/>
              <a:latin typeface="+mn-lt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900" dirty="0">
                <a:effectLst/>
              </a:rPr>
              <a:t>將車道相關設定改為：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  <a:latin typeface="+mn-lt"/>
              </a:rPr>
              <a:t>ini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AUTOCAR_LANE_BACKEND=opencv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AUTOCAR_LANE_REQUIRED=0</a:t>
            </a:r>
            <a:endParaRPr lang="zh-TW" altLang="zh-TW" sz="900" dirty="0">
              <a:effectLst/>
              <a:latin typeface="+mn-lt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900" dirty="0">
                <a:effectLst/>
              </a:rPr>
              <a:t>儲存離開（</a:t>
            </a: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Ctrl+O</a:t>
            </a:r>
            <a:r>
              <a:rPr lang="zh-TW" altLang="zh-TW" sz="900" dirty="0">
                <a:effectLst/>
              </a:rPr>
              <a:t> 存檔，</a:t>
            </a: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Ctrl+X</a:t>
            </a:r>
            <a:r>
              <a:rPr lang="zh-TW" altLang="zh-TW" sz="900" dirty="0">
                <a:effectLst/>
              </a:rPr>
              <a:t> 離開）並重啟服務：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  <a:latin typeface="+mn-lt"/>
              </a:rPr>
              <a:t>bash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sudo systemctl restart autocar.service</a:t>
            </a:r>
            <a:endParaRPr lang="zh-TW" altLang="zh-TW" sz="900" dirty="0">
              <a:effectLst/>
              <a:latin typeface="+mn-lt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TW" altLang="zh-TW" sz="900" dirty="0">
                <a:effectLst/>
              </a:rPr>
              <a:t>重新整理網頁 </a:t>
            </a: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http://&lt;Pi-IP&gt;:8000</a:t>
            </a:r>
            <a:r>
              <a:rPr lang="zh-TW" altLang="zh-TW" sz="900" dirty="0">
                <a:effectLst/>
              </a:rPr>
              <a:t>，即可成功開啟自動駕駛開關！</a:t>
            </a:r>
          </a:p>
          <a:p>
            <a:pPr>
              <a:buNone/>
            </a:pPr>
            <a:br>
              <a:rPr lang="zh-TW" altLang="zh-TW" sz="900" dirty="0"/>
            </a:br>
            <a:endParaRPr lang="zh-TW" altLang="zh-TW" sz="900" dirty="0"/>
          </a:p>
          <a:p>
            <a:pPr marL="0" marR="0">
              <a:buNone/>
            </a:pPr>
            <a:r>
              <a:rPr lang="zh-TW" altLang="zh-TW" sz="900" b="0" dirty="0">
                <a:effectLst/>
              </a:rPr>
              <a:t>方案 B：部署專案現有的車道分割 AI 模型（YOLO26-seg NCNN）</a:t>
            </a:r>
          </a:p>
          <a:p>
            <a:pPr marL="0" marR="0">
              <a:buNone/>
            </a:pPr>
            <a:r>
              <a:rPr lang="zh-TW" altLang="zh-TW" sz="900" dirty="0">
                <a:effectLst/>
              </a:rPr>
              <a:t>本專案目錄下已有一份訓練並轉好的道路分割模型，路徑為：</a:t>
            </a:r>
            <a:br>
              <a:rPr lang="zh-TW" altLang="zh-TW" sz="900" dirty="0">
                <a:effectLst/>
              </a:rPr>
            </a:b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D:\ResearchCodes\RPI5_AutoCAR_RoadTrain\runs\segment\runs\road\baseline_v1-2\weights\best_ncnn_model</a:t>
            </a:r>
            <a:endParaRPr lang="zh-TW" altLang="zh-TW" sz="900" dirty="0">
              <a:effectLst/>
            </a:endParaRPr>
          </a:p>
          <a:p>
            <a:pPr marL="0" marR="0">
              <a:buNone/>
            </a:pPr>
            <a:r>
              <a:rPr lang="zh-TW" altLang="zh-TW" sz="900" dirty="0">
                <a:effectLst/>
              </a:rPr>
              <a:t>若要使用完整的深度學習車道維持：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b="1" dirty="0">
                <a:effectLst/>
              </a:rPr>
              <a:t>在 Windows PowerShell 上傳車道模型</a:t>
            </a:r>
            <a:r>
              <a:rPr lang="zh-TW" altLang="zh-TW" sz="900" dirty="0">
                <a:effectLst/>
              </a:rPr>
              <a:t>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  <a:latin typeface="+mn-lt"/>
              </a:rPr>
              <a:t>powershell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scp -r "D:\ResearchCodes\RPI5_AutoCAR_RoadTrain\runs\segment\runs\road\baseline_v1-2\weights\best_ncnn_model" rpi5@&lt;Pi-IP&gt;:~/lane_best_ncnn_model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b="1" dirty="0">
                <a:effectLst/>
              </a:rPr>
              <a:t>在樹莓派端移入專案目錄</a:t>
            </a:r>
            <a:r>
              <a:rPr lang="zh-TW" altLang="zh-TW" sz="900" dirty="0">
                <a:effectLst/>
              </a:rPr>
              <a:t>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  <a:latin typeface="+mn-lt"/>
              </a:rPr>
              <a:t>bash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sudo mv ~/lane_best_ncnn_model /opt/autocar/models/lane_best_ncnn_model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sudo chown -R $USER:$USER /opt/autocar/models/lane_best_ncnn_model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sudo chmod -R 755 /opt/autocar/models/lane_best_ncnn_model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b="1" dirty="0">
                <a:effectLst/>
              </a:rPr>
              <a:t>確認 </a:t>
            </a:r>
            <a:r>
              <a:rPr lang="zh-TW" altLang="zh-TW" sz="900" b="1" dirty="0">
                <a:solidFill>
                  <a:schemeClr val="tx1"/>
                </a:solidFill>
                <a:effectLst/>
                <a:latin typeface="+mn-lt"/>
              </a:rPr>
              <a:t>/etc/autocar.env</a:t>
            </a:r>
            <a:r>
              <a:rPr lang="zh-TW" altLang="zh-TW" sz="900" b="1" dirty="0">
                <a:effectLst/>
              </a:rPr>
              <a:t> 設定</a:t>
            </a:r>
            <a:r>
              <a:rPr lang="zh-TW" altLang="zh-TW" sz="900" dirty="0">
                <a:effectLst/>
              </a:rPr>
              <a:t>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  <a:latin typeface="+mn-lt"/>
              </a:rPr>
              <a:t>bash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sudo nano /etc/autocar.env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</a:rPr>
              <a:t>確保設定為：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  <a:latin typeface="+mn-lt"/>
              </a:rPr>
              <a:t>ini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AUTOCAR_LANE_MODEL=models/lane_best_ncnn_model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AUTOCAR_LANE_CLASS=road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AUTOCAR_LANE_BACKEND=auto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solidFill>
                  <a:schemeClr val="tx1"/>
                </a:solidFill>
                <a:effectLst/>
                <a:latin typeface="+mn-lt"/>
              </a:rPr>
              <a:t>AUTOCAR_LANE_REQUIRED=1</a:t>
            </a:r>
            <a:endParaRPr lang="zh-TW" altLang="zh-TW" sz="900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b="1" dirty="0">
                <a:effectLst/>
              </a:rPr>
              <a:t>重啟服務</a:t>
            </a:r>
            <a:r>
              <a:rPr lang="zh-TW" altLang="zh-TW" sz="900" dirty="0">
                <a:effectLst/>
              </a:rPr>
              <a:t>：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zh-TW" altLang="zh-TW" sz="900" dirty="0">
                <a:effectLst/>
                <a:latin typeface="+mn-lt"/>
              </a:rPr>
              <a:t>bash</a:t>
            </a:r>
          </a:p>
          <a:p>
            <a:pPr marL="0" marR="0" lvl="0" indent="0" algn="l">
              <a:buFont typeface="+mj-lt"/>
              <a:buAutoNum type="arabicPeriod"/>
            </a:pPr>
            <a:r>
              <a:rPr lang="zh-TW" altLang="zh-TW" sz="900" b="0" i="0" dirty="0">
                <a:solidFill>
                  <a:schemeClr val="tx1"/>
                </a:solidFill>
                <a:effectLst/>
                <a:latin typeface="+mn-lt"/>
              </a:rPr>
              <a:t>sudo systemctl restart autocar.service</a:t>
            </a:r>
            <a:endParaRPr lang="zh-TW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320665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380</TotalTime>
  <Words>18706</Words>
  <Application>Microsoft Office PowerPoint</Application>
  <DocSecurity>0</DocSecurity>
  <PresentationFormat>寬螢幕</PresentationFormat>
  <Paragraphs>2682</Paragraphs>
  <Slides>105</Slides>
  <Notes>91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105</vt:i4>
      </vt:variant>
    </vt:vector>
  </HeadingPairs>
  <TitlesOfParts>
    <vt:vector size="116" baseType="lpstr">
      <vt:lpstr>Mona Sans VF</vt:lpstr>
      <vt:lpstr>Noto Sans CJK TC</vt:lpstr>
      <vt:lpstr>Segoe WPC</vt:lpstr>
      <vt:lpstr>微軟正黑體</vt:lpstr>
      <vt:lpstr>微軟正黑體</vt:lpstr>
      <vt:lpstr>Arial</vt:lpstr>
      <vt:lpstr>Calibri</vt:lpstr>
      <vt:lpstr>Consolas</vt:lpstr>
      <vt:lpstr>Courier New</vt:lpstr>
      <vt:lpstr>DejaVu Sans Mono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王頌文</cp:lastModifiedBy>
  <cp:revision>54</cp:revision>
  <dcterms:created xsi:type="dcterms:W3CDTF">2026-09-27T21:35:28Z</dcterms:created>
  <dcterms:modified xsi:type="dcterms:W3CDTF">2026-10-13T09:34:49Z</dcterms:modified>
</cp:coreProperties>
</file>